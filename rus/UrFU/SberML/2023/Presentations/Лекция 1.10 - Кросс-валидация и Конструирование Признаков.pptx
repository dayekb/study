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639" r:id="rId3"/>
    <p:sldId id="264" r:id="rId4"/>
    <p:sldId id="671" r:id="rId5"/>
    <p:sldId id="737" r:id="rId6"/>
    <p:sldId id="739" r:id="rId7"/>
    <p:sldId id="738" r:id="rId8"/>
    <p:sldId id="740" r:id="rId9"/>
    <p:sldId id="741" r:id="rId10"/>
    <p:sldId id="647" r:id="rId11"/>
    <p:sldId id="673" r:id="rId12"/>
    <p:sldId id="742" r:id="rId13"/>
    <p:sldId id="650" r:id="rId14"/>
    <p:sldId id="651" r:id="rId15"/>
    <p:sldId id="694" r:id="rId16"/>
    <p:sldId id="654" r:id="rId17"/>
    <p:sldId id="743" r:id="rId18"/>
    <p:sldId id="744" r:id="rId19"/>
    <p:sldId id="691" r:id="rId20"/>
    <p:sldId id="692" r:id="rId21"/>
    <p:sldId id="676" r:id="rId22"/>
    <p:sldId id="677" r:id="rId23"/>
    <p:sldId id="678" r:id="rId24"/>
    <p:sldId id="752" r:id="rId25"/>
    <p:sldId id="753" r:id="rId26"/>
    <p:sldId id="697" r:id="rId27"/>
    <p:sldId id="745" r:id="rId28"/>
    <p:sldId id="746" r:id="rId29"/>
    <p:sldId id="747" r:id="rId30"/>
    <p:sldId id="680" r:id="rId31"/>
    <p:sldId id="754" r:id="rId32"/>
    <p:sldId id="755" r:id="rId33"/>
    <p:sldId id="756" r:id="rId34"/>
    <p:sldId id="757" r:id="rId35"/>
    <p:sldId id="748" r:id="rId36"/>
    <p:sldId id="749" r:id="rId37"/>
    <p:sldId id="750" r:id="rId38"/>
    <p:sldId id="751" r:id="rId39"/>
    <p:sldId id="695" r:id="rId40"/>
    <p:sldId id="618" r:id="rId41"/>
    <p:sldId id="261" r:id="rId4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Долганов Антон Юрьевич" initials="ДАЮ" lastIdx="2" clrIdx="0">
    <p:extLst>
      <p:ext uri="{19B8F6BF-5375-455C-9EA6-DF929625EA0E}">
        <p15:presenceInfo xmlns:p15="http://schemas.microsoft.com/office/powerpoint/2012/main" userId="S::Anton.Dolganov@urfu.me::a1ee27b5-7d37-4a59-b2eb-7b751a0c9b0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63636"/>
    <a:srgbClr val="272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93" autoAdjust="0"/>
    <p:restoredTop sz="95291" autoAdjust="0"/>
  </p:normalViewPr>
  <p:slideViewPr>
    <p:cSldViewPr>
      <p:cViewPr varScale="1">
        <p:scale>
          <a:sx n="112" d="100"/>
          <a:sy n="112" d="100"/>
        </p:scale>
        <p:origin x="282" y="78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905E3C-4BAB-4A96-A922-7BFAEF974B87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A539B-A58A-4F9A-84CC-CDDBAB2611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0886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65929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3431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4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665757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79928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6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67368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7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36212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8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751372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9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533667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10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97608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11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8194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71589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13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148340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14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794014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482482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16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665315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17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451512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18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142671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19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474099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20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410157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21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533431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118031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23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371056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24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12679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557690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26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374325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27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8368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28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846475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29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318526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30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694171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31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994991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7074609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33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576247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34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139505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5885210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36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0750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37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4650544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38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07799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39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5899072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40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0037326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41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08930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7095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8911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644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5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4606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915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165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806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544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532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5375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4D7FE9-E167-4C1A-9882-ED30199F1B66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6352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20.png"/><Relationship Id="rId9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15.pn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15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3" Type="http://schemas.openxmlformats.org/officeDocument/2006/relationships/image" Target="../media/image2.png"/><Relationship Id="rId7" Type="http://schemas.openxmlformats.org/officeDocument/2006/relationships/image" Target="../media/image65.png"/><Relationship Id="rId12" Type="http://schemas.openxmlformats.org/officeDocument/2006/relationships/image" Target="../media/image54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4.png"/><Relationship Id="rId11" Type="http://schemas.openxmlformats.org/officeDocument/2006/relationships/image" Target="../media/image53.emf"/><Relationship Id="rId5" Type="http://schemas.openxmlformats.org/officeDocument/2006/relationships/image" Target="../media/image63.png"/><Relationship Id="rId10" Type="http://schemas.openxmlformats.org/officeDocument/2006/relationships/image" Target="../media/image52.emf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5.gi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2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6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44" y="10732"/>
            <a:ext cx="3354014" cy="2125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A859E78-5F82-4E88-96C1-6B761C77A910}"/>
              </a:ext>
            </a:extLst>
          </p:cNvPr>
          <p:cNvSpPr txBox="1">
            <a:spLocks/>
          </p:cNvSpPr>
          <p:nvPr/>
        </p:nvSpPr>
        <p:spPr>
          <a:xfrm>
            <a:off x="0" y="1906536"/>
            <a:ext cx="12192000" cy="31066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Машинное Обучение</a:t>
            </a:r>
          </a:p>
          <a:p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Лекция 1.10</a:t>
            </a:r>
          </a:p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 которой мы уточним детали кросс-</a:t>
            </a:r>
            <a:r>
              <a:rPr lang="ru-RU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валидации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и обсудим как добавить признаков в модель</a:t>
            </a:r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5B114D4F-8D97-4878-A5F6-1201613995E0}"/>
              </a:ext>
            </a:extLst>
          </p:cNvPr>
          <p:cNvSpPr txBox="1">
            <a:spLocks/>
          </p:cNvSpPr>
          <p:nvPr/>
        </p:nvSpPr>
        <p:spPr>
          <a:xfrm>
            <a:off x="3359696" y="5013176"/>
            <a:ext cx="5021262" cy="8791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Долганов Антон Юрьевич</a:t>
            </a:r>
          </a:p>
        </p:txBody>
      </p:sp>
    </p:spTree>
    <p:extLst>
      <p:ext uri="{BB962C8B-B14F-4D97-AF65-F5344CB8AC3E}">
        <p14:creationId xmlns:p14="http://schemas.microsoft.com/office/powerpoint/2010/main" val="504286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42802B-4644-4E88-AA5E-0EA6F0887BE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Ранее в Машинном Обучении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104D002-3332-EB2E-5865-0E51FC5BBD98}"/>
              </a:ext>
            </a:extLst>
          </p:cNvPr>
          <p:cNvSpPr/>
          <p:nvPr/>
        </p:nvSpPr>
        <p:spPr>
          <a:xfrm>
            <a:off x="722423" y="1231542"/>
            <a:ext cx="1051316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ЕМ-кластеризация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Метод к-Средних 2.0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Не только </a:t>
            </a:r>
            <a:r>
              <a:rPr lang="ru-RU" sz="2400" dirty="0">
                <a:solidFill>
                  <a:srgbClr val="FF0000"/>
                </a:solidFill>
                <a:latin typeface="Montserrat" panose="020B0604020202020204" charset="-52"/>
                <a:ea typeface="Verdana" panose="020B0604030504040204" pitchFamily="34" charset="0"/>
              </a:rPr>
              <a:t>круги</a:t>
            </a:r>
            <a:r>
              <a:rPr lang="ru-RU" sz="24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, но и </a:t>
            </a:r>
            <a:r>
              <a:rPr lang="ru-RU" sz="2400" dirty="0">
                <a:solidFill>
                  <a:srgbClr val="FF0000"/>
                </a:solidFill>
                <a:latin typeface="Montserrat" panose="020B0604020202020204" charset="-52"/>
                <a:ea typeface="Verdana" panose="020B0604030504040204" pitchFamily="34" charset="0"/>
              </a:rPr>
              <a:t>эллипсы</a:t>
            </a:r>
          </a:p>
          <a:p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Иерархическая кластеризация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Связи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Дендрограмма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Clr>
                <a:schemeClr val="bg1"/>
              </a:buClr>
            </a:pPr>
            <a:r>
              <a:rPr lang="ru-RU" sz="24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DBSCAN</a:t>
            </a:r>
            <a:endParaRPr lang="ru-RU" sz="2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epsilon, min points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шум и не шум</a:t>
            </a:r>
            <a:endParaRPr lang="ru-RU" sz="2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Спектральная кластеризация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Какие-то графы 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Какие-то </a:t>
            </a:r>
            <a:r>
              <a:rPr lang="ru-RU" sz="2400" dirty="0">
                <a:solidFill>
                  <a:srgbClr val="FF0000"/>
                </a:solidFill>
                <a:latin typeface="Montserrat" panose="020B0604020202020204" charset="-52"/>
                <a:ea typeface="Verdana" panose="020B0604030504040204" pitchFamily="34" charset="0"/>
              </a:rPr>
              <a:t>матрицы близости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Туда-сюда </a:t>
            </a:r>
            <a:r>
              <a:rPr lang="ru-RU" sz="2400" dirty="0">
                <a:solidFill>
                  <a:srgbClr val="00B0F0"/>
                </a:solidFill>
                <a:latin typeface="Montserrat" panose="020B0604020202020204" charset="-52"/>
                <a:ea typeface="Verdana" panose="020B0604030504040204" pitchFamily="34" charset="0"/>
              </a:rPr>
              <a:t>собственные значения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Зачем-то внутри к-Средние</a:t>
            </a:r>
            <a:endParaRPr lang="ru-RU" sz="2400" dirty="0">
              <a:solidFill>
                <a:schemeClr val="bg1"/>
              </a:solidFill>
              <a:latin typeface="Montserrat" panose="020B0604020202020204" charset="-52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959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884919" y="1700808"/>
            <a:ext cx="76328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Кросс-</a:t>
            </a:r>
            <a:r>
              <a:rPr lang="ru-RU" sz="3200" spc="-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валидация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3200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Конструирование Признаков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42802B-4644-4E88-AA5E-0EA6F0887BE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Содержание</a:t>
            </a:r>
          </a:p>
        </p:txBody>
      </p:sp>
    </p:spTree>
    <p:extLst>
      <p:ext uri="{BB962C8B-B14F-4D97-AF65-F5344CB8AC3E}">
        <p14:creationId xmlns:p14="http://schemas.microsoft.com/office/powerpoint/2010/main" val="223102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884919" y="1700808"/>
            <a:ext cx="76328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Кросс-</a:t>
            </a:r>
            <a:r>
              <a:rPr lang="ru-RU" sz="3200" b="1" spc="-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валидация</a:t>
            </a:r>
            <a:endParaRPr lang="ru-RU" sz="3200" b="1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ru-RU" sz="3200" b="1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3200" spc="-1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Конструирование Признаков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42802B-4644-4E88-AA5E-0EA6F0887BE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Содержание</a:t>
            </a:r>
          </a:p>
        </p:txBody>
      </p:sp>
    </p:spTree>
    <p:extLst>
      <p:ext uri="{BB962C8B-B14F-4D97-AF65-F5344CB8AC3E}">
        <p14:creationId xmlns:p14="http://schemas.microsoft.com/office/powerpoint/2010/main" val="3032523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461575" y="6474197"/>
            <a:ext cx="730425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/>
              <a:t>5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Нижний колонтитул 6">
            <a:extLst>
              <a:ext uri="{FF2B5EF4-FFF2-40B4-BE49-F238E27FC236}">
                <a16:creationId xmlns:a16="http://schemas.microsoft.com/office/drawing/2014/main" id="{A09DE3A5-BB05-454E-ABD4-EBB70BB98EEB}"/>
              </a:ext>
            </a:extLst>
          </p:cNvPr>
          <p:cNvSpPr txBox="1">
            <a:spLocks/>
          </p:cNvSpPr>
          <p:nvPr/>
        </p:nvSpPr>
        <p:spPr>
          <a:xfrm>
            <a:off x="2639616" y="176904"/>
            <a:ext cx="7684786" cy="4849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Валидация</a:t>
            </a:r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129DE05D-8435-4E7D-A6C9-3E3CB48DA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212CE32F-ECB5-47EB-93D9-74F50F2B4DEA}"/>
              </a:ext>
            </a:extLst>
          </p:cNvPr>
          <p:cNvCxnSpPr>
            <a:cxnSpLocks/>
          </p:cNvCxnSpPr>
          <p:nvPr/>
        </p:nvCxnSpPr>
        <p:spPr>
          <a:xfrm>
            <a:off x="-8096" y="881290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49A2181-B0E5-4833-B3E1-CDA76C94A38F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75ABC54F-2B6A-44AD-BDFD-921BB835CF5C}"/>
              </a:ext>
            </a:extLst>
          </p:cNvPr>
          <p:cNvSpPr txBox="1">
            <a:spLocks/>
          </p:cNvSpPr>
          <p:nvPr/>
        </p:nvSpPr>
        <p:spPr>
          <a:xfrm>
            <a:off x="1919536" y="873070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ACB8C7-6B70-46CF-A65C-E44005D4DFAD}"/>
              </a:ext>
            </a:extLst>
          </p:cNvPr>
          <p:cNvSpPr txBox="1"/>
          <p:nvPr/>
        </p:nvSpPr>
        <p:spPr>
          <a:xfrm>
            <a:off x="562619" y="1898524"/>
            <a:ext cx="3973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Hold-Out split</a:t>
            </a:r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89DACC8-705B-4288-A666-5F3E981FA1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008" y="1061738"/>
            <a:ext cx="5486737" cy="1107625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80D6CF6-732E-4218-AB5A-A0E7FBBEFF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853826"/>
            <a:ext cx="3839112" cy="901653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EBE7CC4-533E-4ABC-BD0E-C0446543ED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0416" y="1925834"/>
            <a:ext cx="1914146" cy="67081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02A345-A451-49B9-B8ED-0898298E0AD2}"/>
              </a:ext>
            </a:extLst>
          </p:cNvPr>
          <p:cNvSpPr txBox="1"/>
          <p:nvPr/>
        </p:nvSpPr>
        <p:spPr>
          <a:xfrm>
            <a:off x="479376" y="1268760"/>
            <a:ext cx="62759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Отложенная Выборка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50C867-5625-4854-9933-23C1CAD71F5B}"/>
              </a:ext>
            </a:extLst>
          </p:cNvPr>
          <p:cNvSpPr txBox="1"/>
          <p:nvPr/>
        </p:nvSpPr>
        <p:spPr>
          <a:xfrm>
            <a:off x="263352" y="4221088"/>
            <a:ext cx="5904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n-Fold Cross-Validation split</a:t>
            </a:r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BAB90F-105E-4CF2-9E59-7E5F2CE03FF1}"/>
              </a:ext>
            </a:extLst>
          </p:cNvPr>
          <p:cNvSpPr txBox="1"/>
          <p:nvPr/>
        </p:nvSpPr>
        <p:spPr>
          <a:xfrm>
            <a:off x="263352" y="3501008"/>
            <a:ext cx="65864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n-Fold </a:t>
            </a: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Кросс-валидация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2C071414-71DF-446C-A9F9-0B9D70BD160E}"/>
              </a:ext>
            </a:extLst>
          </p:cNvPr>
          <p:cNvSpPr/>
          <p:nvPr/>
        </p:nvSpPr>
        <p:spPr>
          <a:xfrm>
            <a:off x="6168008" y="2780928"/>
            <a:ext cx="5486737" cy="612000"/>
          </a:xfrm>
          <a:prstGeom prst="rect">
            <a:avLst/>
          </a:prstGeom>
          <a:solidFill>
            <a:srgbClr val="00B050"/>
          </a:solidFill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Тренировочная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CD346461-3D26-4B08-8BA3-D89A65A5EFAF}"/>
              </a:ext>
            </a:extLst>
          </p:cNvPr>
          <p:cNvSpPr/>
          <p:nvPr/>
        </p:nvSpPr>
        <p:spPr>
          <a:xfrm>
            <a:off x="10469758" y="3576458"/>
            <a:ext cx="1184987" cy="574361"/>
          </a:xfrm>
          <a:prstGeom prst="rect">
            <a:avLst/>
          </a:prstGeom>
          <a:solidFill>
            <a:schemeClr val="accent6"/>
          </a:solidFill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Fold 4</a:t>
            </a:r>
            <a:endParaRPr lang="ru-RU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0C8BA67-392D-4D7B-BC22-35FAA0277479}"/>
              </a:ext>
            </a:extLst>
          </p:cNvPr>
          <p:cNvSpPr/>
          <p:nvPr/>
        </p:nvSpPr>
        <p:spPr>
          <a:xfrm>
            <a:off x="9021790" y="3576221"/>
            <a:ext cx="1184987" cy="574361"/>
          </a:xfrm>
          <a:prstGeom prst="rect">
            <a:avLst/>
          </a:prstGeom>
          <a:solidFill>
            <a:srgbClr val="92D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Fold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</a:t>
            </a:r>
            <a:endParaRPr lang="ru-RU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249525A-2381-46C8-8D20-F91C02314B5B}"/>
              </a:ext>
            </a:extLst>
          </p:cNvPr>
          <p:cNvSpPr/>
          <p:nvPr/>
        </p:nvSpPr>
        <p:spPr>
          <a:xfrm>
            <a:off x="7615976" y="3576222"/>
            <a:ext cx="1184987" cy="574361"/>
          </a:xfrm>
          <a:prstGeom prst="rect">
            <a:avLst/>
          </a:prstGeom>
          <a:solidFill>
            <a:srgbClr val="92D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Fold 2</a:t>
            </a:r>
            <a:endParaRPr lang="ru-RU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04E9D2C-E03D-4FED-AB29-F5B04569464D}"/>
              </a:ext>
            </a:extLst>
          </p:cNvPr>
          <p:cNvSpPr/>
          <p:nvPr/>
        </p:nvSpPr>
        <p:spPr>
          <a:xfrm>
            <a:off x="6168008" y="3569878"/>
            <a:ext cx="1184987" cy="574361"/>
          </a:xfrm>
          <a:prstGeom prst="rect">
            <a:avLst/>
          </a:prstGeom>
          <a:solidFill>
            <a:srgbClr val="92D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Fold 1</a:t>
            </a:r>
            <a:endParaRPr lang="ru-RU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8DD39E60-46C7-433D-8414-3F43FDC3BF4A}"/>
              </a:ext>
            </a:extLst>
          </p:cNvPr>
          <p:cNvSpPr/>
          <p:nvPr/>
        </p:nvSpPr>
        <p:spPr>
          <a:xfrm>
            <a:off x="10469758" y="4334112"/>
            <a:ext cx="1184987" cy="574361"/>
          </a:xfrm>
          <a:prstGeom prst="rect">
            <a:avLst/>
          </a:prstGeom>
          <a:solidFill>
            <a:srgbClr val="92D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Fold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4</a:t>
            </a:r>
            <a:endParaRPr lang="ru-RU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FC131CB-C41A-4825-8540-D4FA959E2EBC}"/>
              </a:ext>
            </a:extLst>
          </p:cNvPr>
          <p:cNvSpPr/>
          <p:nvPr/>
        </p:nvSpPr>
        <p:spPr>
          <a:xfrm>
            <a:off x="9021790" y="4333875"/>
            <a:ext cx="1184987" cy="574361"/>
          </a:xfrm>
          <a:prstGeom prst="rect">
            <a:avLst/>
          </a:prstGeom>
          <a:solidFill>
            <a:schemeClr val="accent6"/>
          </a:solidFill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Fold 3</a:t>
            </a:r>
            <a:endParaRPr lang="ru-RU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3B02E47-73BF-4537-967F-D2980D4AB2DD}"/>
              </a:ext>
            </a:extLst>
          </p:cNvPr>
          <p:cNvSpPr/>
          <p:nvPr/>
        </p:nvSpPr>
        <p:spPr>
          <a:xfrm>
            <a:off x="7615976" y="4333876"/>
            <a:ext cx="1184987" cy="574361"/>
          </a:xfrm>
          <a:prstGeom prst="rect">
            <a:avLst/>
          </a:prstGeom>
          <a:solidFill>
            <a:srgbClr val="92D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Fold 2</a:t>
            </a:r>
            <a:endParaRPr lang="ru-RU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2860A09A-E2A9-4465-9F7F-CA26654F57B0}"/>
              </a:ext>
            </a:extLst>
          </p:cNvPr>
          <p:cNvSpPr/>
          <p:nvPr/>
        </p:nvSpPr>
        <p:spPr>
          <a:xfrm>
            <a:off x="6168008" y="4327532"/>
            <a:ext cx="1184987" cy="574361"/>
          </a:xfrm>
          <a:prstGeom prst="rect">
            <a:avLst/>
          </a:prstGeom>
          <a:solidFill>
            <a:srgbClr val="92D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Fold 1</a:t>
            </a:r>
            <a:endParaRPr lang="ru-RU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FA96E359-3005-4D5C-8C3D-54F4E587FDF6}"/>
              </a:ext>
            </a:extLst>
          </p:cNvPr>
          <p:cNvSpPr/>
          <p:nvPr/>
        </p:nvSpPr>
        <p:spPr>
          <a:xfrm>
            <a:off x="10469758" y="5091764"/>
            <a:ext cx="1184987" cy="574361"/>
          </a:xfrm>
          <a:prstGeom prst="rect">
            <a:avLst/>
          </a:prstGeom>
          <a:solidFill>
            <a:srgbClr val="92D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Fold 4</a:t>
            </a:r>
            <a:endParaRPr lang="ru-RU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7A62156D-463F-4F85-B71F-9A014FAEDE0E}"/>
              </a:ext>
            </a:extLst>
          </p:cNvPr>
          <p:cNvSpPr/>
          <p:nvPr/>
        </p:nvSpPr>
        <p:spPr>
          <a:xfrm>
            <a:off x="9021790" y="5091527"/>
            <a:ext cx="1184987" cy="574361"/>
          </a:xfrm>
          <a:prstGeom prst="rect">
            <a:avLst/>
          </a:prstGeom>
          <a:solidFill>
            <a:srgbClr val="92D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Fold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</a:t>
            </a:r>
            <a:endParaRPr lang="ru-RU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9CC56CF-87B7-4345-B8C2-773B52D821F8}"/>
              </a:ext>
            </a:extLst>
          </p:cNvPr>
          <p:cNvSpPr/>
          <p:nvPr/>
        </p:nvSpPr>
        <p:spPr>
          <a:xfrm>
            <a:off x="7615976" y="5091528"/>
            <a:ext cx="1184987" cy="574361"/>
          </a:xfrm>
          <a:prstGeom prst="rect">
            <a:avLst/>
          </a:prstGeom>
          <a:solidFill>
            <a:schemeClr val="accent6"/>
          </a:solidFill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Fold 2</a:t>
            </a:r>
            <a:endParaRPr lang="ru-RU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0DD7EFE9-DEEF-4A16-AF81-4F20084FD8B5}"/>
              </a:ext>
            </a:extLst>
          </p:cNvPr>
          <p:cNvSpPr/>
          <p:nvPr/>
        </p:nvSpPr>
        <p:spPr>
          <a:xfrm>
            <a:off x="6168008" y="5085184"/>
            <a:ext cx="1184987" cy="574361"/>
          </a:xfrm>
          <a:prstGeom prst="rect">
            <a:avLst/>
          </a:prstGeom>
          <a:solidFill>
            <a:srgbClr val="92D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Fold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endParaRPr lang="ru-RU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C2A2AB4D-CDD1-4BC6-90A3-51E653BF705A}"/>
              </a:ext>
            </a:extLst>
          </p:cNvPr>
          <p:cNvSpPr/>
          <p:nvPr/>
        </p:nvSpPr>
        <p:spPr>
          <a:xfrm>
            <a:off x="10469758" y="5849414"/>
            <a:ext cx="1184987" cy="574361"/>
          </a:xfrm>
          <a:prstGeom prst="rect">
            <a:avLst/>
          </a:prstGeom>
          <a:solidFill>
            <a:srgbClr val="92D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Fold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4</a:t>
            </a:r>
            <a:endParaRPr lang="ru-RU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A74EE616-00BF-4AF9-9243-28AFA2DA9BF3}"/>
              </a:ext>
            </a:extLst>
          </p:cNvPr>
          <p:cNvSpPr/>
          <p:nvPr/>
        </p:nvSpPr>
        <p:spPr>
          <a:xfrm>
            <a:off x="9021790" y="5849177"/>
            <a:ext cx="1184987" cy="574361"/>
          </a:xfrm>
          <a:prstGeom prst="rect">
            <a:avLst/>
          </a:prstGeom>
          <a:solidFill>
            <a:srgbClr val="92D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Fold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</a:t>
            </a:r>
            <a:endParaRPr lang="ru-RU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9B10FE12-5C54-432F-8502-2142850315AD}"/>
              </a:ext>
            </a:extLst>
          </p:cNvPr>
          <p:cNvSpPr/>
          <p:nvPr/>
        </p:nvSpPr>
        <p:spPr>
          <a:xfrm>
            <a:off x="7615976" y="5849178"/>
            <a:ext cx="1184987" cy="574361"/>
          </a:xfrm>
          <a:prstGeom prst="rect">
            <a:avLst/>
          </a:prstGeom>
          <a:solidFill>
            <a:srgbClr val="92D050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Fold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endParaRPr lang="ru-RU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8EA71F87-7644-49E5-8916-A824AD068770}"/>
              </a:ext>
            </a:extLst>
          </p:cNvPr>
          <p:cNvSpPr/>
          <p:nvPr/>
        </p:nvSpPr>
        <p:spPr>
          <a:xfrm>
            <a:off x="6168008" y="5849179"/>
            <a:ext cx="1184987" cy="574361"/>
          </a:xfrm>
          <a:prstGeom prst="rect">
            <a:avLst/>
          </a:prstGeom>
          <a:solidFill>
            <a:schemeClr val="accent6"/>
          </a:solidFill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Fold 1</a:t>
            </a:r>
            <a:endParaRPr lang="ru-RU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181B6284-9B29-40F9-BCAE-5B68C752F848}"/>
              </a:ext>
            </a:extLst>
          </p:cNvPr>
          <p:cNvSpPr/>
          <p:nvPr/>
        </p:nvSpPr>
        <p:spPr>
          <a:xfrm>
            <a:off x="263352" y="5157192"/>
            <a:ext cx="633670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Для надежности можно объединить</a:t>
            </a:r>
          </a:p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(и повторить много раз)</a:t>
            </a:r>
          </a:p>
        </p:txBody>
      </p:sp>
    </p:spTree>
    <p:extLst>
      <p:ext uri="{BB962C8B-B14F-4D97-AF65-F5344CB8AC3E}">
        <p14:creationId xmlns:p14="http://schemas.microsoft.com/office/powerpoint/2010/main" val="4285679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29741" y="6475125"/>
            <a:ext cx="962260" cy="411230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6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1069" y="-243408"/>
            <a:ext cx="1900907" cy="1204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670992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4616" y="138599"/>
            <a:ext cx="3164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2423592" y="176904"/>
            <a:ext cx="7900810" cy="520826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Разные типы кросс-</a:t>
            </a:r>
            <a:r>
              <a:rPr lang="ru-RU" sz="32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валидации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71AF08-2E43-7551-0522-09ECCEBB93A9}"/>
              </a:ext>
            </a:extLst>
          </p:cNvPr>
          <p:cNvSpPr txBox="1"/>
          <p:nvPr/>
        </p:nvSpPr>
        <p:spPr>
          <a:xfrm>
            <a:off x="155340" y="774509"/>
            <a:ext cx="11881320" cy="615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 Здравствуйте, мне бы модель </a:t>
            </a:r>
            <a:r>
              <a:rPr lang="ru-RU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отвалидировать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чем поможете?</a:t>
            </a:r>
          </a:p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 Начните с классического </a:t>
            </a:r>
            <a:r>
              <a:rPr lang="tr-TR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Train-Test Split </a:t>
            </a:r>
            <a:endParaRPr lang="ru-RU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tr-TR" sz="3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tr-TR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 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 можно, чтоб оценка была несмещенная? </a:t>
            </a:r>
          </a:p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 Могу посоветовать </a:t>
            </a:r>
            <a:r>
              <a:rPr lang="tr-TR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K-Fold Validation</a:t>
            </a:r>
            <a:r>
              <a:rPr lang="tr-TR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tr-TR" sz="3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tr-TR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 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 если у меня в данных есть временная ось? </a:t>
            </a:r>
          </a:p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 Тогда берите </a:t>
            </a:r>
            <a:r>
              <a:rPr lang="tr-TR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Time Series K-Fold Validation</a:t>
            </a:r>
            <a:endParaRPr lang="ru-RU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tr-TR" sz="3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tr-TR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 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Там еще есть группы, которые не должны пересекаться!</a:t>
            </a:r>
          </a:p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 Нестрашно, есть </a:t>
            </a:r>
            <a:r>
              <a:rPr lang="tr-TR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Grouped Time Series K-Fold Validation</a:t>
            </a:r>
            <a:endParaRPr lang="ru-RU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tr-TR" sz="3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tr-TR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 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Ой, про дисбаланс </a:t>
            </a:r>
            <a:r>
              <a:rPr lang="ru-RU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таргета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еще забыл!!!</a:t>
            </a:r>
          </a:p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 Ок, воткните </a:t>
            </a:r>
            <a:r>
              <a:rPr lang="tr-TR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Stratified Grouped Time Series K-Fold Validation</a:t>
            </a:r>
            <a:endParaRPr lang="ru-RU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tr-TR" sz="3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tr-TR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 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Вы не поняли! </a:t>
            </a:r>
            <a:r>
              <a:rPr lang="tr-TR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r>
              <a:rPr lang="ru-RU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ще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важно нормальное распределение фичей</a:t>
            </a:r>
          </a:p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 О, у нас как раз осталась последняя </a:t>
            </a:r>
            <a:r>
              <a:rPr lang="tr-TR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Bootstrap Stratified Grouped Time Series K-Fold Validation</a:t>
            </a:r>
            <a:endParaRPr lang="ru-RU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tr-TR" sz="3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tr-TR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 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Здорово! А это учитывает шум в данных? </a:t>
            </a:r>
          </a:p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 Нет, но вот </a:t>
            </a:r>
            <a:r>
              <a:rPr lang="tr-TR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Robust Bootstrap Stratified Grouped Time Series K-Fold Validation </a:t>
            </a:r>
            <a:r>
              <a:rPr lang="tr-TR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...</a:t>
            </a:r>
          </a:p>
          <a:p>
            <a:endParaRPr lang="tr-TR" sz="3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tr-TR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 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 устаревание объектов во времени учтет?</a:t>
            </a:r>
          </a:p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 </a:t>
            </a:r>
            <a:r>
              <a:rPr lang="tr-TR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Sample Weighted Through Time Robust Bootstrap Stratified Grouped Time Series K-Fold Validation</a:t>
            </a:r>
          </a:p>
          <a:p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tr-TR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 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Ой, сложно, я, пожалуй, просто </a:t>
            </a:r>
            <a:r>
              <a:rPr lang="tr-TR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Train-Test Split 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возьму.</a:t>
            </a:r>
          </a:p>
        </p:txBody>
      </p:sp>
    </p:spTree>
    <p:extLst>
      <p:ext uri="{BB962C8B-B14F-4D97-AF65-F5344CB8AC3E}">
        <p14:creationId xmlns:p14="http://schemas.microsoft.com/office/powerpoint/2010/main" val="1272771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29741" y="6475125"/>
            <a:ext cx="962260" cy="411230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7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1069" y="0"/>
            <a:ext cx="1900907" cy="1204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4616" y="138599"/>
            <a:ext cx="3164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2423592" y="176904"/>
            <a:ext cx="7900810" cy="520826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Разные типы кросс-</a:t>
            </a:r>
            <a:r>
              <a:rPr lang="ru-RU" sz="32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валидации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r="36299"/>
          <a:stretch/>
        </p:blipFill>
        <p:spPr>
          <a:xfrm>
            <a:off x="0" y="3933056"/>
            <a:ext cx="3600400" cy="2498617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r="35915"/>
          <a:stretch/>
        </p:blipFill>
        <p:spPr>
          <a:xfrm>
            <a:off x="4223792" y="980728"/>
            <a:ext cx="3600400" cy="2483634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r="36203"/>
          <a:stretch/>
        </p:blipFill>
        <p:spPr>
          <a:xfrm>
            <a:off x="4079776" y="3861048"/>
            <a:ext cx="3600400" cy="2494839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r="35975"/>
          <a:stretch/>
        </p:blipFill>
        <p:spPr>
          <a:xfrm>
            <a:off x="0" y="1052736"/>
            <a:ext cx="3600400" cy="2485991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r="35812"/>
          <a:stretch/>
        </p:blipFill>
        <p:spPr>
          <a:xfrm>
            <a:off x="8040216" y="2636912"/>
            <a:ext cx="4010744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764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29741" y="6475125"/>
            <a:ext cx="962260" cy="411230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8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099744" y="176904"/>
            <a:ext cx="7224658" cy="520826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Оценка Модели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1069" y="0"/>
            <a:ext cx="1900907" cy="1204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4616" y="138599"/>
            <a:ext cx="3164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111DECA-88D9-4C0F-A66C-DB0511C8DAC9}"/>
              </a:ext>
            </a:extLst>
          </p:cNvPr>
          <p:cNvSpPr/>
          <p:nvPr/>
        </p:nvSpPr>
        <p:spPr>
          <a:xfrm>
            <a:off x="488803" y="2401583"/>
            <a:ext cx="106537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scoring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_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clf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= 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{</a:t>
            </a:r>
            <a:r>
              <a:rPr lang="tr-TR" dirty="0">
                <a:solidFill>
                  <a:srgbClr val="CE9178"/>
                </a:solidFill>
                <a:latin typeface="Courier New" panose="02070309020205020404" pitchFamily="49" charset="0"/>
              </a:rPr>
              <a:t>'ACC'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: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tr-TR" dirty="0">
                <a:solidFill>
                  <a:srgbClr val="CE9178"/>
                </a:solidFill>
                <a:latin typeface="Courier New" panose="02070309020205020404" pitchFamily="49" charset="0"/>
              </a:rPr>
              <a:t>'accuracy'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tr-TR" dirty="0">
                <a:solidFill>
                  <a:srgbClr val="CE9178"/>
                </a:solidFill>
                <a:latin typeface="Courier New" panose="02070309020205020404" pitchFamily="49" charset="0"/>
              </a:rPr>
              <a:t>'F1'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: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tr-TR" dirty="0">
                <a:solidFill>
                  <a:srgbClr val="CE9178"/>
                </a:solidFill>
                <a:latin typeface="Courier New" panose="02070309020205020404" pitchFamily="49" charset="0"/>
              </a:rPr>
              <a:t>'f1’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 </a:t>
            </a:r>
            <a:r>
              <a:rPr lang="tr-TR" dirty="0">
                <a:solidFill>
                  <a:srgbClr val="CE9178"/>
                </a:solidFill>
                <a:latin typeface="Courier New" panose="02070309020205020404" pitchFamily="49" charset="0"/>
              </a:rPr>
              <a:t>'Precision'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: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tr-TR" dirty="0">
                <a:solidFill>
                  <a:srgbClr val="CE9178"/>
                </a:solidFill>
                <a:latin typeface="Courier New" panose="02070309020205020404" pitchFamily="49" charset="0"/>
              </a:rPr>
              <a:t>'precision'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endParaRPr lang="tr-TR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          </a:t>
            </a:r>
            <a:r>
              <a:rPr lang="tr-TR" dirty="0">
                <a:solidFill>
                  <a:srgbClr val="CE9178"/>
                </a:solidFill>
                <a:latin typeface="Courier New" panose="02070309020205020404" pitchFamily="49" charset="0"/>
              </a:rPr>
              <a:t>'Recall'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: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tr-TR" dirty="0">
                <a:solidFill>
                  <a:srgbClr val="CE9178"/>
                </a:solidFill>
                <a:latin typeface="Courier New" panose="02070309020205020404" pitchFamily="49" charset="0"/>
              </a:rPr>
              <a:t>'recall'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}</a:t>
            </a:r>
            <a:endParaRPr lang="tr-TR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          </a:t>
            </a:r>
          </a:p>
          <a:p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cv_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scores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_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clf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= cross_validate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model_clf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X_train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y_train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endParaRPr lang="tr-TR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                     scoring=scoring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_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clf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cv=StratifiedKFold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n_splits=</a:t>
            </a:r>
            <a:r>
              <a:rPr lang="en-US" dirty="0">
                <a:solidFill>
                  <a:srgbClr val="B5CEA8"/>
                </a:solidFill>
                <a:latin typeface="Courier New" panose="02070309020205020404" pitchFamily="49" charset="0"/>
              </a:rPr>
              <a:t>n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))</a:t>
            </a:r>
            <a:endParaRPr lang="tr-TR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endParaRPr lang="tr-TR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43F08AA-6E1E-40D2-A449-DA2A9311A8FE}"/>
              </a:ext>
            </a:extLst>
          </p:cNvPr>
          <p:cNvSpPr/>
          <p:nvPr/>
        </p:nvSpPr>
        <p:spPr>
          <a:xfrm>
            <a:off x="488803" y="4649415"/>
            <a:ext cx="991123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scoring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_reg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= 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{</a:t>
            </a:r>
            <a:r>
              <a:rPr lang="tr-TR" dirty="0">
                <a:solidFill>
                  <a:srgbClr val="CE9178"/>
                </a:solidFill>
                <a:latin typeface="Courier New" panose="02070309020205020404" pitchFamily="49" charset="0"/>
              </a:rPr>
              <a:t>'R2'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: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tr-TR" dirty="0">
                <a:solidFill>
                  <a:srgbClr val="CE9178"/>
                </a:solidFill>
                <a:latin typeface="Courier New" panose="02070309020205020404" pitchFamily="49" charset="0"/>
              </a:rPr>
              <a:t>'r2'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tr-TR" dirty="0">
                <a:solidFill>
                  <a:srgbClr val="CE9178"/>
                </a:solidFill>
                <a:latin typeface="Courier New" panose="02070309020205020404" pitchFamily="49" charset="0"/>
              </a:rPr>
              <a:t>'-MSE'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: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tr-TR" dirty="0">
                <a:solidFill>
                  <a:srgbClr val="CE9178"/>
                </a:solidFill>
                <a:latin typeface="Courier New" panose="02070309020205020404" pitchFamily="49" charset="0"/>
              </a:rPr>
              <a:t>'neg_mean_squared_error'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endParaRPr lang="tr-TR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          </a:t>
            </a:r>
            <a:r>
              <a:rPr lang="tr-TR" dirty="0">
                <a:solidFill>
                  <a:srgbClr val="CE9178"/>
                </a:solidFill>
                <a:latin typeface="Courier New" panose="02070309020205020404" pitchFamily="49" charset="0"/>
              </a:rPr>
              <a:t>'-MAE'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: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tr-TR" dirty="0">
                <a:solidFill>
                  <a:srgbClr val="CE9178"/>
                </a:solidFill>
                <a:latin typeface="Courier New" panose="02070309020205020404" pitchFamily="49" charset="0"/>
              </a:rPr>
              <a:t>'neg_mean_absolute_error'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tr-TR" dirty="0">
                <a:solidFill>
                  <a:srgbClr val="CE9178"/>
                </a:solidFill>
                <a:latin typeface="Courier New" panose="02070309020205020404" pitchFamily="49" charset="0"/>
              </a:rPr>
              <a:t>'-Max'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: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tr-TR" dirty="0">
                <a:solidFill>
                  <a:srgbClr val="CE9178"/>
                </a:solidFill>
                <a:latin typeface="Courier New" panose="02070309020205020404" pitchFamily="49" charset="0"/>
              </a:rPr>
              <a:t>'max_error’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}</a:t>
            </a:r>
            <a:endParaRPr lang="tr-TR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/>
            </a:r>
            <a:b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</a:b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cv_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scores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_reg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= cross_validate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model_reg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 X_train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y_train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endParaRPr lang="tr-TR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                   scoring=scoring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_reg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cv=ShuffleSplit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n_splits=</a:t>
            </a:r>
            <a:r>
              <a:rPr lang="en-US" dirty="0">
                <a:solidFill>
                  <a:srgbClr val="B5CEA8"/>
                </a:solidFill>
                <a:latin typeface="Courier New" panose="02070309020205020404" pitchFamily="49" charset="0"/>
              </a:rPr>
              <a:t>n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tr-TR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tr-TR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  <a:t/>
            </a:r>
            <a:br>
              <a:rPr lang="tr-TR" dirty="0">
                <a:solidFill>
                  <a:srgbClr val="D4D4D4"/>
                </a:solidFill>
                <a:latin typeface="Courier New" panose="02070309020205020404" pitchFamily="49" charset="0"/>
              </a:rPr>
            </a:br>
            <a:endParaRPr lang="tr-TR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5771C69-9396-48D8-A46F-CD84DF614B55}"/>
              </a:ext>
            </a:extLst>
          </p:cNvPr>
          <p:cNvSpPr/>
          <p:nvPr/>
        </p:nvSpPr>
        <p:spPr>
          <a:xfrm>
            <a:off x="479376" y="1052736"/>
            <a:ext cx="914501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000" dirty="0">
                <a:solidFill>
                  <a:srgbClr val="C586C0"/>
                </a:solidFill>
                <a:latin typeface="Courier New" panose="02070309020205020404" pitchFamily="49" charset="0"/>
              </a:rPr>
              <a:t>from</a:t>
            </a:r>
            <a:r>
              <a:rPr lang="tr-TR" sz="2000" dirty="0">
                <a:solidFill>
                  <a:srgbClr val="D4D4D4"/>
                </a:solidFill>
                <a:latin typeface="Courier New" panose="02070309020205020404" pitchFamily="49" charset="0"/>
              </a:rPr>
              <a:t> sklearn.model_selection </a:t>
            </a:r>
            <a:r>
              <a:rPr lang="tr-TR" sz="2000" dirty="0">
                <a:solidFill>
                  <a:srgbClr val="C586C0"/>
                </a:solidFill>
                <a:latin typeface="Courier New" panose="02070309020205020404" pitchFamily="49" charset="0"/>
              </a:rPr>
              <a:t>import</a:t>
            </a:r>
            <a:r>
              <a:rPr lang="tr-TR" sz="2000" dirty="0">
                <a:solidFill>
                  <a:srgbClr val="D4D4D4"/>
                </a:solidFill>
                <a:latin typeface="Courier New" panose="02070309020205020404" pitchFamily="49" charset="0"/>
              </a:rPr>
              <a:t> cross_validate</a:t>
            </a:r>
          </a:p>
          <a:p>
            <a:r>
              <a:rPr lang="tr-TR" sz="2000" dirty="0">
                <a:solidFill>
                  <a:srgbClr val="C586C0"/>
                </a:solidFill>
                <a:latin typeface="Courier New" panose="02070309020205020404" pitchFamily="49" charset="0"/>
              </a:rPr>
              <a:t>from</a:t>
            </a:r>
            <a:r>
              <a:rPr lang="tr-TR" sz="2000" dirty="0">
                <a:solidFill>
                  <a:srgbClr val="D4D4D4"/>
                </a:solidFill>
                <a:latin typeface="Courier New" panose="02070309020205020404" pitchFamily="49" charset="0"/>
              </a:rPr>
              <a:t> sklearn.model_selection </a:t>
            </a:r>
            <a:r>
              <a:rPr lang="tr-TR" sz="2000" dirty="0">
                <a:solidFill>
                  <a:srgbClr val="C586C0"/>
                </a:solidFill>
                <a:latin typeface="Courier New" panose="02070309020205020404" pitchFamily="49" charset="0"/>
              </a:rPr>
              <a:t>import</a:t>
            </a:r>
            <a:r>
              <a:rPr lang="tr-TR" sz="2000" dirty="0">
                <a:solidFill>
                  <a:srgbClr val="D4D4D4"/>
                </a:solidFill>
                <a:latin typeface="Courier New" panose="02070309020205020404" pitchFamily="49" charset="0"/>
              </a:rPr>
              <a:t> ShuffleSplit</a:t>
            </a:r>
          </a:p>
          <a:p>
            <a:r>
              <a:rPr lang="tr-TR" sz="2000" dirty="0">
                <a:solidFill>
                  <a:srgbClr val="C586C0"/>
                </a:solidFill>
                <a:latin typeface="Courier New" panose="02070309020205020404" pitchFamily="49" charset="0"/>
              </a:rPr>
              <a:t>from</a:t>
            </a:r>
            <a:r>
              <a:rPr lang="tr-TR" sz="2000" dirty="0">
                <a:solidFill>
                  <a:srgbClr val="D4D4D4"/>
                </a:solidFill>
                <a:latin typeface="Courier New" panose="02070309020205020404" pitchFamily="49" charset="0"/>
              </a:rPr>
              <a:t> sklearn.model_selection </a:t>
            </a:r>
            <a:r>
              <a:rPr lang="tr-TR" sz="2000" dirty="0">
                <a:solidFill>
                  <a:srgbClr val="C586C0"/>
                </a:solidFill>
                <a:latin typeface="Courier New" panose="02070309020205020404" pitchFamily="49" charset="0"/>
              </a:rPr>
              <a:t>import</a:t>
            </a:r>
            <a:r>
              <a:rPr lang="tr-TR" sz="2000" dirty="0">
                <a:solidFill>
                  <a:srgbClr val="D4D4D4"/>
                </a:solidFill>
                <a:latin typeface="Courier New" panose="02070309020205020404" pitchFamily="49" charset="0"/>
              </a:rPr>
              <a:t> StratifiedKFold</a:t>
            </a:r>
            <a:endParaRPr lang="tr-TR" sz="2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206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3" grpId="0"/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9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884919" y="1700808"/>
            <a:ext cx="76328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spc="-1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Кросс-</a:t>
            </a:r>
            <a:r>
              <a:rPr lang="ru-RU" sz="3200" spc="-1" dirty="0" err="1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валидация</a:t>
            </a:r>
            <a:endParaRPr lang="ru-RU" sz="3200" spc="-1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ru-RU" sz="3200" b="1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3200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Конструирование Признаков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42802B-4644-4E88-AA5E-0EA6F0887BE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Содержание</a:t>
            </a:r>
          </a:p>
        </p:txBody>
      </p:sp>
    </p:spTree>
    <p:extLst>
      <p:ext uri="{BB962C8B-B14F-4D97-AF65-F5344CB8AC3E}">
        <p14:creationId xmlns:p14="http://schemas.microsoft.com/office/powerpoint/2010/main" val="414101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10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42802B-4644-4E88-AA5E-0EA6F0887BE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B283A49-32AC-4B33-8A5B-970C45FBD1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9429" y="935063"/>
            <a:ext cx="8742495" cy="497041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D359DDA-094D-45F4-ABB0-A5A16BEBFFEE}"/>
              </a:ext>
            </a:extLst>
          </p:cNvPr>
          <p:cNvSpPr txBox="1"/>
          <p:nvPr/>
        </p:nvSpPr>
        <p:spPr>
          <a:xfrm>
            <a:off x="1343472" y="5949280"/>
            <a:ext cx="9886648" cy="66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chemeClr val="bg1"/>
                </a:solidFill>
              </a:rPr>
              <a:t>AutoML</a:t>
            </a:r>
            <a:r>
              <a:rPr lang="ru-RU" dirty="0">
                <a:solidFill>
                  <a:schemeClr val="bg1"/>
                </a:solidFill>
              </a:rPr>
              <a:t> и перспективные методы ИИ, спикер Савченко Максим/Рыжков Александр</a:t>
            </a:r>
          </a:p>
          <a:p>
            <a:r>
              <a:rPr lang="ru-RU" dirty="0">
                <a:solidFill>
                  <a:schemeClr val="bg1"/>
                </a:solidFill>
              </a:rPr>
              <a:t>Летняя Цифровая Школа Сбербанка</a:t>
            </a:r>
          </a:p>
        </p:txBody>
      </p:sp>
    </p:spTree>
    <p:extLst>
      <p:ext uri="{BB962C8B-B14F-4D97-AF65-F5344CB8AC3E}">
        <p14:creationId xmlns:p14="http://schemas.microsoft.com/office/powerpoint/2010/main" val="1039421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11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ACD6F8-0592-4EB0-86F0-15C5B6246706}"/>
              </a:ext>
            </a:extLst>
          </p:cNvPr>
          <p:cNvSpPr txBox="1"/>
          <p:nvPr/>
        </p:nvSpPr>
        <p:spPr>
          <a:xfrm>
            <a:off x="767408" y="1052736"/>
            <a:ext cx="101300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Domain</a:t>
            </a:r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28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Specific</a:t>
            </a:r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28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Knowledge</a:t>
            </a:r>
            <a:endParaRPr lang="ru-RU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E0AD08-F97C-4F17-9A30-D42719182D90}"/>
              </a:ext>
            </a:extLst>
          </p:cNvPr>
          <p:cNvSpPr txBox="1"/>
          <p:nvPr/>
        </p:nvSpPr>
        <p:spPr>
          <a:xfrm>
            <a:off x="839416" y="1628800"/>
            <a:ext cx="116549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Знания, специфичные для предметной области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A7568A-E979-44A2-ADA4-4299459C05A7}"/>
              </a:ext>
            </a:extLst>
          </p:cNvPr>
          <p:cNvSpPr txBox="1"/>
          <p:nvPr/>
        </p:nvSpPr>
        <p:spPr>
          <a:xfrm>
            <a:off x="551384" y="3591660"/>
            <a:ext cx="103602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Exploratory</a:t>
            </a:r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28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</a:t>
            </a:r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28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Analysis</a:t>
            </a:r>
            <a:endParaRPr lang="ru-RU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9AC7C6-98D7-42A9-A628-66FC1E7C6E24}"/>
              </a:ext>
            </a:extLst>
          </p:cNvPr>
          <p:cNvSpPr txBox="1"/>
          <p:nvPr/>
        </p:nvSpPr>
        <p:spPr>
          <a:xfrm>
            <a:off x="551384" y="4023708"/>
            <a:ext cx="103602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Исследовательский анализ данных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B3A53A-1367-4D8D-9398-C6979B0F4A4F}"/>
              </a:ext>
            </a:extLst>
          </p:cNvPr>
          <p:cNvSpPr txBox="1"/>
          <p:nvPr/>
        </p:nvSpPr>
        <p:spPr>
          <a:xfrm>
            <a:off x="1471446" y="2239574"/>
            <a:ext cx="62156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Чтение статей по теме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Обсуждения на </a:t>
            </a:r>
            <a:r>
              <a:rPr lang="ru-RU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Kaggle</a:t>
            </a:r>
            <a:endParaRPr lang="ru-RU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Научный </a:t>
            </a:r>
            <a:r>
              <a:rPr lang="ru-RU" sz="24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руководитель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ru-RU" sz="24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Генеративные модели </a:t>
            </a:r>
            <a:endParaRPr lang="ru-RU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4AB74E10-B0CB-4A75-8D1D-737C094B7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628" y="4464016"/>
            <a:ext cx="2712679" cy="2419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Нижний колонтитул 6">
            <a:extLst>
              <a:ext uri="{FF2B5EF4-FFF2-40B4-BE49-F238E27FC236}">
                <a16:creationId xmlns:a16="http://schemas.microsoft.com/office/drawing/2014/main" id="{130F2314-933A-4DBE-8208-23F8D4ACD6C6}"/>
              </a:ext>
            </a:extLst>
          </p:cNvPr>
          <p:cNvSpPr txBox="1">
            <a:spLocks/>
          </p:cNvSpPr>
          <p:nvPr/>
        </p:nvSpPr>
        <p:spPr>
          <a:xfrm>
            <a:off x="2403522" y="176904"/>
            <a:ext cx="8805046" cy="4849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Источники Новых Признаков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CB3BD64-6E71-4C86-AC6E-908B0A2AE63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0E1FF"/>
              </a:clrFrom>
              <a:clrTo>
                <a:srgbClr val="F0E1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974" y="2416551"/>
            <a:ext cx="4730758" cy="266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646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9" grpId="0"/>
      <p:bldP spid="10" grpId="0"/>
      <p:bldP spid="11" grpId="0"/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12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Нижний колонтитул 6">
            <a:extLst>
              <a:ext uri="{FF2B5EF4-FFF2-40B4-BE49-F238E27FC236}">
                <a16:creationId xmlns:a16="http://schemas.microsoft.com/office/drawing/2014/main" id="{130F2314-933A-4DBE-8208-23F8D4ACD6C6}"/>
              </a:ext>
            </a:extLst>
          </p:cNvPr>
          <p:cNvSpPr txBox="1">
            <a:spLocks/>
          </p:cNvSpPr>
          <p:nvPr/>
        </p:nvSpPr>
        <p:spPr>
          <a:xfrm>
            <a:off x="2403522" y="176904"/>
            <a:ext cx="8805046" cy="4849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Взаимодействие признаков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B8DF394-AA72-4DBB-98A3-327F09240792}"/>
              </a:ext>
            </a:extLst>
          </p:cNvPr>
          <p:cNvSpPr/>
          <p:nvPr/>
        </p:nvSpPr>
        <p:spPr>
          <a:xfrm>
            <a:off x="335360" y="1196752"/>
            <a:ext cx="1152128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Для числовых признаков можно «смоделировать» через 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PolinomialFeatures</a:t>
            </a:r>
            <a:endParaRPr lang="en-US" sz="1600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Но это только «умножение» и степени 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B8DF394-AA72-4DBB-98A3-327F09240792}"/>
              </a:ext>
            </a:extLst>
          </p:cNvPr>
          <p:cNvSpPr/>
          <p:nvPr/>
        </p:nvSpPr>
        <p:spPr>
          <a:xfrm>
            <a:off x="335360" y="3302008"/>
            <a:ext cx="117126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Для категориальных признаков можно «смоделировать» через просто складывание строк в одну (ручками) или сумму (например бинарных категорий, если это обоснованно)</a:t>
            </a:r>
            <a:endParaRPr lang="en-US" sz="1600" dirty="0">
              <a:solidFill>
                <a:srgbClr val="D4D4D4"/>
              </a:solidFill>
              <a:latin typeface="Courier New" panose="02070309020205020404" pitchFamily="49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B8DF394-AA72-4DBB-98A3-327F09240792}"/>
              </a:ext>
            </a:extLst>
          </p:cNvPr>
          <p:cNvSpPr/>
          <p:nvPr/>
        </p:nvSpPr>
        <p:spPr>
          <a:xfrm>
            <a:off x="335360" y="2387879"/>
            <a:ext cx="114492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Еще можно попытаться складывать / вычитать / делить признаки между собой (ручками)</a:t>
            </a:r>
            <a:endParaRPr lang="en-US" sz="1600" dirty="0">
              <a:solidFill>
                <a:srgbClr val="D4D4D4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63352" y="5111631"/>
            <a:ext cx="40446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poly = 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PolynomialFeatures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urier New" panose="02070309020205020404" pitchFamily="49" charset="0"/>
              </a:rPr>
              <a:t>2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307506" y="5111631"/>
            <a:ext cx="67404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poly = 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PolynomialFeatures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interaction_only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569CD6"/>
                </a:solidFill>
                <a:latin typeface="Courier New" panose="02070309020205020404" pitchFamily="49" charset="0"/>
              </a:rPr>
              <a:t>True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164171" y="5638948"/>
            <a:ext cx="34108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CE9178"/>
                </a:solidFill>
                <a:latin typeface="Courier New" panose="02070309020205020404" pitchFamily="49" charset="0"/>
              </a:rPr>
              <a:t>'1'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>
                <a:solidFill>
                  <a:srgbClr val="CE9178"/>
                </a:solidFill>
                <a:latin typeface="Courier New" panose="02070309020205020404" pitchFamily="49" charset="0"/>
              </a:rPr>
              <a:t>'x0'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ourier New" panose="02070309020205020404" pitchFamily="49" charset="0"/>
              </a:rPr>
              <a:t>'x1'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>
                <a:solidFill>
                  <a:srgbClr val="CE9178"/>
                </a:solidFill>
                <a:latin typeface="Courier New" panose="02070309020205020404" pitchFamily="49" charset="0"/>
              </a:rPr>
              <a:t>'x0^2'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ourier New" panose="02070309020205020404" pitchFamily="49" charset="0"/>
              </a:rPr>
              <a:t>'x0 x1'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CE9178"/>
                </a:solidFill>
                <a:latin typeface="Courier New" panose="02070309020205020404" pitchFamily="49" charset="0"/>
              </a:rPr>
              <a:t>'x1^2'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]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7248128" y="5602906"/>
            <a:ext cx="197682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CE9178"/>
                </a:solidFill>
                <a:latin typeface="Courier New" panose="02070309020205020404" pitchFamily="49" charset="0"/>
              </a:rPr>
              <a:t>'1'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ourier New" panose="02070309020205020404" pitchFamily="49" charset="0"/>
              </a:rPr>
              <a:t>'x0'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ourier New" panose="02070309020205020404" pitchFamily="49" charset="0"/>
              </a:rPr>
              <a:t>'x1'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>
                <a:solidFill>
                  <a:srgbClr val="CE9178"/>
                </a:solidFill>
                <a:latin typeface="Courier New" panose="02070309020205020404" pitchFamily="49" charset="0"/>
              </a:rPr>
              <a:t>'x0 x1'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]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152128" y="4538930"/>
            <a:ext cx="104044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586C0"/>
                </a:solidFill>
                <a:latin typeface="Courier New" panose="02070309020205020404" pitchFamily="49" charset="0"/>
              </a:rPr>
              <a:t>from</a:t>
            </a:r>
            <a:r>
              <a:rPr lang="en-US" sz="2000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rgbClr val="D4D4D4"/>
                </a:solidFill>
                <a:latin typeface="Courier New" panose="02070309020205020404" pitchFamily="49" charset="0"/>
              </a:rPr>
              <a:t>sklearn.preprocessing</a:t>
            </a:r>
            <a:r>
              <a:rPr lang="en-US" sz="2000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C586C0"/>
                </a:solidFill>
                <a:latin typeface="Courier New" panose="02070309020205020404" pitchFamily="49" charset="0"/>
              </a:rPr>
              <a:t>import</a:t>
            </a:r>
            <a:r>
              <a:rPr lang="en-US" sz="2000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rgbClr val="D4D4D4"/>
                </a:solidFill>
                <a:latin typeface="Courier New" panose="02070309020205020404" pitchFamily="49" charset="0"/>
              </a:rPr>
              <a:t>PolynomialFeatures</a:t>
            </a:r>
            <a:endParaRPr lang="en-US" sz="2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598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13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DD214604-A7F0-4FA4-B121-8C2F387D3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496" y="44624"/>
            <a:ext cx="9850472" cy="827739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Новые Признаки на Основе Имеющихся</a:t>
            </a:r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58F4E7-1BD8-4DE4-B34A-F29E7E09E95C}"/>
              </a:ext>
            </a:extLst>
          </p:cNvPr>
          <p:cNvSpPr txBox="1"/>
          <p:nvPr/>
        </p:nvSpPr>
        <p:spPr>
          <a:xfrm>
            <a:off x="896242" y="1401762"/>
            <a:ext cx="10773772" cy="38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dataset</a:t>
            </a:r>
            <a:r>
              <a:rPr lang="tr-TR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tr-TR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'Family_Size'</a:t>
            </a:r>
            <a:r>
              <a:rPr lang="tr-TR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tr-TR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= </a:t>
            </a:r>
            <a:r>
              <a:rPr lang="tr-TR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tr-TR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+ dataset</a:t>
            </a:r>
            <a:r>
              <a:rPr lang="tr-TR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tr-TR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'Parch'</a:t>
            </a:r>
            <a:r>
              <a:rPr lang="tr-TR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tr-TR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+dataset</a:t>
            </a:r>
            <a:r>
              <a:rPr lang="tr-TR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tr-TR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'SibSp'</a:t>
            </a:r>
            <a:r>
              <a:rPr lang="tr-TR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endParaRPr lang="tr-TR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518735E-00F1-415C-9174-A4E3AE1123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528" y="2060848"/>
            <a:ext cx="3208681" cy="36587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8131BFB-D57C-4353-B01A-B0DAE593F2BF}"/>
              </a:ext>
            </a:extLst>
          </p:cNvPr>
          <p:cNvSpPr txBox="1"/>
          <p:nvPr/>
        </p:nvSpPr>
        <p:spPr>
          <a:xfrm>
            <a:off x="3863752" y="6309320"/>
            <a:ext cx="3680749" cy="38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https://www.kaggle.com/c/titanic</a:t>
            </a:r>
          </a:p>
        </p:txBody>
      </p:sp>
      <p:pic>
        <p:nvPicPr>
          <p:cNvPr id="13" name="Picture 4" descr="Иконка Титаник в стиле Стиль Офис">
            <a:extLst>
              <a:ext uri="{FF2B5EF4-FFF2-40B4-BE49-F238E27FC236}">
                <a16:creationId xmlns:a16="http://schemas.microsoft.com/office/drawing/2014/main" id="{7073D587-5489-4C5C-93B5-46DA34FE0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4693636"/>
            <a:ext cx="2164364" cy="2164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4657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1487C91-BAC0-4B99-B2C1-A5B995C9E69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5138" t="5179" r="29034" b="12321"/>
          <a:stretch/>
        </p:blipFill>
        <p:spPr>
          <a:xfrm>
            <a:off x="335360" y="1556792"/>
            <a:ext cx="4947266" cy="5208260"/>
          </a:xfrm>
          <a:prstGeom prst="rect">
            <a:avLst/>
          </a:prstGeom>
        </p:spPr>
      </p:pic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14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9D163BE7-63E6-4D8D-B2B7-3FEA35B52AFB}"/>
              </a:ext>
            </a:extLst>
          </p:cNvPr>
          <p:cNvSpPr/>
          <p:nvPr/>
        </p:nvSpPr>
        <p:spPr>
          <a:xfrm>
            <a:off x="263352" y="1988840"/>
            <a:ext cx="4752528" cy="4304176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89F827-BC17-48EE-A7C2-A031FE61F1F0}"/>
              </a:ext>
            </a:extLst>
          </p:cNvPr>
          <p:cNvSpPr txBox="1"/>
          <p:nvPr/>
        </p:nvSpPr>
        <p:spPr>
          <a:xfrm>
            <a:off x="1703512" y="3573016"/>
            <a:ext cx="19752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Metro</a:t>
            </a:r>
            <a:endParaRPr lang="ru-RU" sz="48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42447DD-E411-45C0-876B-80D84FD00310}"/>
              </a:ext>
            </a:extLst>
          </p:cNvPr>
          <p:cNvSpPr/>
          <p:nvPr/>
        </p:nvSpPr>
        <p:spPr>
          <a:xfrm>
            <a:off x="638824" y="2961819"/>
            <a:ext cx="618791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Слишком близко (плохо)</a:t>
            </a:r>
            <a:endParaRPr lang="ru-RU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994D984-ADAA-4C77-81E2-F9D5CE95A530}"/>
              </a:ext>
            </a:extLst>
          </p:cNvPr>
          <p:cNvSpPr/>
          <p:nvPr/>
        </p:nvSpPr>
        <p:spPr>
          <a:xfrm>
            <a:off x="4630812" y="5889972"/>
            <a:ext cx="75232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Слишком далеко (тоже плохо)</a:t>
            </a:r>
            <a:endParaRPr lang="ru-RU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8C5658F-01FC-4124-89D8-F03CB39DBE53}"/>
              </a:ext>
            </a:extLst>
          </p:cNvPr>
          <p:cNvSpPr/>
          <p:nvPr/>
        </p:nvSpPr>
        <p:spPr>
          <a:xfrm>
            <a:off x="4079776" y="4509120"/>
            <a:ext cx="30925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Оптимально</a:t>
            </a:r>
            <a:endParaRPr lang="ru-RU" sz="3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279BD071-3976-4A6B-8D2D-F2EBD9CDD28E}"/>
                  </a:ext>
                </a:extLst>
              </p:cNvPr>
              <p:cNvSpPr/>
              <p:nvPr/>
            </p:nvSpPr>
            <p:spPr>
              <a:xfrm>
                <a:off x="5071268" y="3573016"/>
                <a:ext cx="712073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𝐷𝑖𝑠𝑡𝑎𝑛𝑐</m:t>
                      </m:r>
                      <m:sSub>
                        <m:sSubPr>
                          <m:ctrlPr>
                            <a:rPr lang="en-US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𝐶𝑒𝑛𝑡𝑒𝑟𝑒𝑑</m:t>
                          </m:r>
                        </m:sub>
                      </m:sSub>
                      <m:r>
                        <a:rPr lang="en-US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𝐷𝑖𝑠𝑡𝑎𝑛𝑐𝑒</m:t>
                              </m:r>
                              <m:r>
                                <a:rPr lang="en-US" sz="2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sz="28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8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𝑐𝑟𝑖𝑡𝑖𝑐𝑎𝑙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279BD071-3976-4A6B-8D2D-F2EBD9CDD2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1268" y="3573016"/>
                <a:ext cx="712073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DD214604-A7F0-4FA4-B121-8C2F387D343D}"/>
              </a:ext>
            </a:extLst>
          </p:cNvPr>
          <p:cNvSpPr txBox="1">
            <a:spLocks/>
          </p:cNvSpPr>
          <p:nvPr/>
        </p:nvSpPr>
        <p:spPr>
          <a:xfrm>
            <a:off x="1559496" y="44624"/>
            <a:ext cx="9850472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Новые Признаки на Основе Имеющихся</a:t>
            </a:r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26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7" grpId="0" animBg="1"/>
      <p:bldP spid="9" grpId="0"/>
      <p:bldP spid="10" grpId="0"/>
      <p:bldP spid="11" grpId="0"/>
      <p:bldP spid="13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15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B8DF394-AA72-4DBB-98A3-327F09240792}"/>
              </a:ext>
            </a:extLst>
          </p:cNvPr>
          <p:cNvSpPr/>
          <p:nvPr/>
        </p:nvSpPr>
        <p:spPr>
          <a:xfrm>
            <a:off x="911424" y="1124744"/>
            <a:ext cx="107910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Категориальные комбинации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59663B-6073-4C90-BD42-4DF220BDA883}"/>
              </a:ext>
            </a:extLst>
          </p:cNvPr>
          <p:cNvSpPr txBox="1"/>
          <p:nvPr/>
        </p:nvSpPr>
        <p:spPr>
          <a:xfrm>
            <a:off x="220886" y="2361514"/>
            <a:ext cx="111045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   dataset</a:t>
            </a:r>
            <a:r>
              <a:rPr lang="tr-TR" sz="2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tr-TR" sz="2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'Sex_Pclass'</a:t>
            </a:r>
            <a:r>
              <a:rPr lang="tr-TR" sz="2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tr-TR" sz="2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 dataset</a:t>
            </a:r>
            <a:r>
              <a:rPr lang="tr-TR" sz="2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tr-TR" sz="2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'Sex'</a:t>
            </a:r>
            <a:r>
              <a:rPr lang="tr-TR" sz="2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tr-TR" sz="2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+dataset</a:t>
            </a:r>
            <a:r>
              <a:rPr lang="tr-TR" sz="2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tr-TR" sz="2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'Pclass'</a:t>
            </a:r>
            <a:r>
              <a:rPr lang="tr-TR" sz="2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tr-TR" sz="2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.astype</a:t>
            </a:r>
            <a:r>
              <a:rPr lang="tr-TR" sz="2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tr-TR" sz="2000" b="0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str</a:t>
            </a:r>
            <a:r>
              <a:rPr lang="tr-TR" sz="2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tr-TR" sz="2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AFEF118-E2A7-4961-890B-571FD5943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064" y="2996952"/>
            <a:ext cx="2419350" cy="26670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2C8EF1B-6B40-4FEF-B10C-50E3E6B9D2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306" y="3021843"/>
            <a:ext cx="2000250" cy="10668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56526EC-4AC5-43E6-ABD3-D2B0DC5DD8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8160" y="3021843"/>
            <a:ext cx="2019300" cy="15430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4D88A9D-FAC9-4B8F-8A85-EF5FE8328C0A}"/>
              </a:ext>
            </a:extLst>
          </p:cNvPr>
          <p:cNvSpPr txBox="1"/>
          <p:nvPr/>
        </p:nvSpPr>
        <p:spPr>
          <a:xfrm>
            <a:off x="3426107" y="6425985"/>
            <a:ext cx="3680749" cy="38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https://www.kaggle.com/c/titanic</a:t>
            </a:r>
          </a:p>
        </p:txBody>
      </p:sp>
      <p:pic>
        <p:nvPicPr>
          <p:cNvPr id="18" name="Picture 4" descr="Иконка Титаник в стиле Стиль Офис">
            <a:extLst>
              <a:ext uri="{FF2B5EF4-FFF2-40B4-BE49-F238E27FC236}">
                <a16:creationId xmlns:a16="http://schemas.microsoft.com/office/drawing/2014/main" id="{145FB7FB-FBF6-4549-9CC8-8008AD2A8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0376" y="4693636"/>
            <a:ext cx="2164364" cy="2164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DD214604-A7F0-4FA4-B121-8C2F387D343D}"/>
              </a:ext>
            </a:extLst>
          </p:cNvPr>
          <p:cNvSpPr txBox="1">
            <a:spLocks/>
          </p:cNvSpPr>
          <p:nvPr/>
        </p:nvSpPr>
        <p:spPr>
          <a:xfrm>
            <a:off x="1559496" y="44624"/>
            <a:ext cx="9850472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Новые Признаки на Основе Имеющихся</a:t>
            </a:r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04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16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5B8DF394-AA72-4DBB-98A3-327F09240792}"/>
                  </a:ext>
                </a:extLst>
              </p:cNvPr>
              <p:cNvSpPr/>
              <p:nvPr/>
            </p:nvSpPr>
            <p:spPr>
              <a:xfrm>
                <a:off x="695400" y="1268760"/>
                <a:ext cx="7234266" cy="43956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32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Разные </a:t>
                </a:r>
                <a:r>
                  <a:rPr lang="ru-RU" sz="32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мат.операций</a:t>
                </a:r>
                <a:endParaRPr lang="ru-RU" sz="32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𝑥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𝑧</m:t>
                    </m:r>
                  </m:oMath>
                </a14:m>
                <a:endParaRPr lang="en-US" sz="36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𝑥</m:t>
                            </m:r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−</m:t>
                            </m:r>
                            <m: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𝐶𝑜𝑛𝑠𝑡</m:t>
                            </m:r>
                            <m:r>
                              <m:rPr>
                                <m:nor/>
                              </m:rPr>
                              <a:rPr lang="en-US" sz="3600" dirty="0">
                                <a:solidFill>
                                  <a:schemeClr val="bg1"/>
                                </a:solidFill>
                                <a:latin typeface="Verdana" panose="020B0604030504040204" pitchFamily="34" charset="0"/>
                                <a:ea typeface="Verdana" panose="020B0604030504040204" pitchFamily="34" charset="0"/>
                              </a:rPr>
                              <m:t> </m:t>
                            </m:r>
                          </m:e>
                        </m:d>
                      </m:e>
                      <m:sup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36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  <m:r>
                          <a:rPr lang="en-US" sz="3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𝑧</m:t>
                        </m:r>
                      </m:num>
                      <m:den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𝑧</m:t>
                        </m:r>
                      </m:den>
                    </m:f>
                  </m:oMath>
                </a14:m>
                <a:endParaRPr lang="en-US" sz="3600" b="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𝑥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𝐶𝑜𝑛𝑠𝑡</m:t>
                    </m:r>
                  </m:oMath>
                </a14:m>
                <a:endParaRPr lang="en-US" sz="36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𝑥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∗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𝑧</m:t>
                    </m:r>
                  </m:oMath>
                </a14:m>
                <a:endParaRPr lang="en-US" sz="36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𝑥</m:t>
                        </m:r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∗</m:t>
                        </m:r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𝑧</m:t>
                        </m:r>
                      </m:num>
                      <m:den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𝑡</m:t>
                        </m:r>
                      </m:den>
                    </m:f>
                  </m:oMath>
                </a14:m>
                <a:endParaRPr lang="en-US" sz="36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5B8DF394-AA72-4DBB-98A3-327F092407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0" y="1268760"/>
                <a:ext cx="7234266" cy="4395627"/>
              </a:xfrm>
              <a:prstGeom prst="rect">
                <a:avLst/>
              </a:prstGeom>
              <a:blipFill>
                <a:blip r:embed="rId4"/>
                <a:stretch>
                  <a:fillRect l="-2106" t="-18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9635840" y="2081424"/>
                <a:ext cx="2203232" cy="7684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2800" b="0" i="0" smtClean="0">
                        <a:solidFill>
                          <a:schemeClr val="bg1"/>
                        </a:solidFill>
                        <a:latin typeface="Cambria Math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СИ</m:t>
                    </m:r>
                    <m:r>
                      <a:rPr lang="ru-RU" sz="2800" i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28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800" i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А</m:t>
                        </m:r>
                        <m:sSub>
                          <m:sSubPr>
                            <m:ctrlPr>
                              <a:rPr lang="ru-RU" sz="2800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800" i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М</m:t>
                            </m:r>
                          </m:e>
                          <m:sub>
                            <m:r>
                              <a:rPr lang="ru-RU" sz="2800" i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ru-RU" sz="2800" i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ru-RU" sz="2800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800" i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М</m:t>
                            </m:r>
                          </m:e>
                          <m:sub>
                            <m:r>
                              <a:rPr lang="ru-RU" sz="2800" i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ru-RU" sz="2800" i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ru-RU" sz="2800" i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VR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chemeClr val="bg1"/>
                    </a:solidFill>
                    <a:effectLst/>
                    <a:latin typeface="Verdana" panose="020B0604030504040204" pitchFamily="34" charset="0"/>
                    <a:ea typeface="Verdana" panose="020B0604030504040204" pitchFamily="34" charset="0"/>
                  </a:rPr>
                  <a:t>;</a:t>
                </a:r>
                <a:endParaRPr lang="ru-RU" sz="28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5840" y="2081424"/>
                <a:ext cx="2203232" cy="768480"/>
              </a:xfrm>
              <a:prstGeom prst="rect">
                <a:avLst/>
              </a:prstGeom>
              <a:blipFill>
                <a:blip r:embed="rId5"/>
                <a:stretch>
                  <a:fillRect r="-44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9635840" y="2945520"/>
                <a:ext cx="2002856" cy="7149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2800" b="0" i="0" smtClean="0">
                        <a:solidFill>
                          <a:schemeClr val="bg1"/>
                        </a:solidFill>
                        <a:latin typeface="Cambria Math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ИВР</m:t>
                    </m:r>
                    <m:r>
                      <a:rPr lang="ru-RU" sz="2800" i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28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800" i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А</m:t>
                        </m:r>
                        <m:sSub>
                          <m:sSubPr>
                            <m:ctrlPr>
                              <a:rPr lang="ru-RU" sz="2800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800" i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М</m:t>
                            </m:r>
                          </m:e>
                          <m:sub>
                            <m:r>
                              <a:rPr lang="ru-RU" sz="2800" i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ru-RU" sz="2800" i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VR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chemeClr val="bg1"/>
                    </a:solidFill>
                    <a:effectLst/>
                    <a:latin typeface="Verdana" panose="020B0604030504040204" pitchFamily="34" charset="0"/>
                    <a:ea typeface="Verdana" panose="020B0604030504040204" pitchFamily="34" charset="0"/>
                  </a:rPr>
                  <a:t>;</a:t>
                </a:r>
                <a:endParaRPr lang="ru-RU" sz="28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5840" y="2945520"/>
                <a:ext cx="2002856" cy="714939"/>
              </a:xfrm>
              <a:prstGeom prst="rect">
                <a:avLst/>
              </a:prstGeom>
              <a:blipFill>
                <a:blip r:embed="rId6"/>
                <a:stretch>
                  <a:fillRect r="-5183" b="-76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/>
              <p:cNvSpPr/>
              <p:nvPr/>
            </p:nvSpPr>
            <p:spPr>
              <a:xfrm>
                <a:off x="9635840" y="3737608"/>
                <a:ext cx="2265748" cy="756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2800" b="0" i="0" smtClean="0">
                        <a:solidFill>
                          <a:schemeClr val="bg1"/>
                        </a:solidFill>
                        <a:latin typeface="Cambria Math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ВПР</m:t>
                    </m:r>
                    <m:r>
                      <a:rPr lang="ru-RU" sz="2800" i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28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800" i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ru-RU" sz="2800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800" i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М</m:t>
                            </m:r>
                          </m:e>
                          <m:sub>
                            <m:r>
                              <a:rPr lang="ru-RU" sz="2800" i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ru-RU" sz="2800" i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ru-RU" sz="2800" i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VR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chemeClr val="bg1"/>
                    </a:solidFill>
                    <a:effectLst/>
                    <a:latin typeface="Verdana" panose="020B0604030504040204" pitchFamily="34" charset="0"/>
                    <a:ea typeface="Verdana" panose="020B0604030504040204" pitchFamily="34" charset="0"/>
                  </a:rPr>
                  <a:t>;</a:t>
                </a:r>
                <a:endParaRPr lang="ru-RU" sz="28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5840" y="3737608"/>
                <a:ext cx="2265748" cy="756554"/>
              </a:xfrm>
              <a:prstGeom prst="rect">
                <a:avLst/>
              </a:prstGeom>
              <a:blipFill>
                <a:blip r:embed="rId7"/>
                <a:stretch>
                  <a:fillRect r="-4582" b="-8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/>
              <p:cNvSpPr/>
              <p:nvPr/>
            </p:nvSpPr>
            <p:spPr>
              <a:xfrm>
                <a:off x="9635840" y="4601704"/>
                <a:ext cx="2209644" cy="7684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2800" smtClean="0">
                        <a:solidFill>
                          <a:schemeClr val="bg1"/>
                        </a:solidFill>
                        <a:latin typeface="Cambria Math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П</m:t>
                    </m:r>
                    <m:r>
                      <a:rPr lang="ru-RU" sz="2800" b="0" i="0" smtClean="0">
                        <a:solidFill>
                          <a:schemeClr val="bg1"/>
                        </a:solidFill>
                        <a:latin typeface="Cambria Math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АПР</m:t>
                    </m:r>
                    <m:r>
                      <a:rPr lang="ru-RU" sz="2800" i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2800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800" i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А</m:t>
                        </m:r>
                        <m:sSub>
                          <m:sSubPr>
                            <m:ctrlPr>
                              <a:rPr lang="ru-RU" sz="2800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800" i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М</m:t>
                            </m:r>
                          </m:e>
                          <m:sub>
                            <m:r>
                              <a:rPr lang="ru-RU" sz="2800" i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sz="2800" i="1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800" i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М</m:t>
                            </m:r>
                          </m:e>
                          <m:sub>
                            <m:r>
                              <a:rPr lang="ru-RU" sz="2800" i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>
                    <a:solidFill>
                      <a:schemeClr val="bg1"/>
                    </a:solidFill>
                    <a:effectLst/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ru-RU" sz="28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Прямоугольник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5840" y="4601704"/>
                <a:ext cx="2209644" cy="768480"/>
              </a:xfrm>
              <a:prstGeom prst="rect">
                <a:avLst/>
              </a:prstGeom>
              <a:blipFill>
                <a:blip r:embed="rId8"/>
                <a:stretch>
                  <a:fillRect r="-46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Прямоугольник 16"/>
          <p:cNvSpPr/>
          <p:nvPr/>
        </p:nvSpPr>
        <p:spPr>
          <a:xfrm>
            <a:off x="3950208" y="5693248"/>
            <a:ext cx="828941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Баевский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Р.М. Методические рекомендации: Анализ вариабельности сердечного ритма при использовании различных электрокардиографических систем / Р.М.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Баевский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Г.Г. Иванов, Л.В.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Чирейкин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// Вестник </a:t>
            </a:r>
            <a:r>
              <a:rPr lang="ru-RU" sz="1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аритмологии</a:t>
            </a:r>
            <a:r>
              <a:rPr lang="ru-RU" sz="1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– 2001. – № 24. – С. 65-87.</a:t>
            </a: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79976" y="2754784"/>
            <a:ext cx="4620917" cy="2457296"/>
          </a:xfrm>
          <a:prstGeom prst="rect">
            <a:avLst/>
          </a:prstGeom>
        </p:spPr>
      </p:pic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DD214604-A7F0-4FA4-B121-8C2F387D343D}"/>
              </a:ext>
            </a:extLst>
          </p:cNvPr>
          <p:cNvSpPr txBox="1">
            <a:spLocks/>
          </p:cNvSpPr>
          <p:nvPr/>
        </p:nvSpPr>
        <p:spPr>
          <a:xfrm>
            <a:off x="1559496" y="44624"/>
            <a:ext cx="9850472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Новые Признаки на Основе Имеющихся</a:t>
            </a:r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16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10" grpId="0"/>
      <p:bldP spid="11" grpId="0"/>
      <p:bldP spid="13" grpId="0"/>
      <p:bldP spid="16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17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DD214604-A7F0-4FA4-B121-8C2F387D343D}"/>
              </a:ext>
            </a:extLst>
          </p:cNvPr>
          <p:cNvSpPr txBox="1">
            <a:spLocks/>
          </p:cNvSpPr>
          <p:nvPr/>
        </p:nvSpPr>
        <p:spPr>
          <a:xfrm>
            <a:off x="1559496" y="44624"/>
            <a:ext cx="9850472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Новые Признаки на Основе Имеющихся</a:t>
            </a:r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71664" y="940364"/>
            <a:ext cx="6286847" cy="577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807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29741" y="6475125"/>
            <a:ext cx="962260" cy="411230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18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1069" y="0"/>
            <a:ext cx="1900907" cy="1204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912494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4616" y="138599"/>
            <a:ext cx="3164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36E63F3-279C-4C70-B38E-F9DF66614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77723"/>
            <a:ext cx="11039926" cy="795599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Когда советская формула </a:t>
            </a: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&gt;&gt; </a:t>
            </a:r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МО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>
                <a:extLst>
                  <a:ext uri="{FF2B5EF4-FFF2-40B4-BE49-F238E27FC236}">
                    <a16:creationId xmlns:a16="http://schemas.microsoft.com/office/drawing/2014/main" id="{53E60390-1ECB-CE24-5AC0-AB7589ECEF37}"/>
                  </a:ext>
                </a:extLst>
              </p:cNvPr>
              <p:cNvSpPr/>
              <p:nvPr/>
            </p:nvSpPr>
            <p:spPr>
              <a:xfrm>
                <a:off x="603347" y="1735415"/>
                <a:ext cx="11368048" cy="763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КПП</m:t>
                      </m:r>
                      <m:sSub>
                        <m:sSubPr>
                          <m:ctrlPr>
                            <a:rPr lang="ru-RU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О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ru-RU" sz="4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КПП</m:t>
                      </m:r>
                      <m:sSub>
                        <m:sSubPr>
                          <m:ctrlPr>
                            <a:rPr lang="ru-RU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О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Осадки</m:t>
                          </m:r>
                        </m:e>
                      </m:d>
                      <m:r>
                        <a:rPr lang="ru-RU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+Т∗(Т−</m:t>
                      </m:r>
                      <m:sSub>
                        <m:sSubPr>
                          <m:ctrlPr>
                            <a:rPr lang="ru-RU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Т</m:t>
                          </m:r>
                        </m:e>
                        <m:sub>
                          <m:r>
                            <a:rPr lang="ru-RU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росы</m:t>
                          </m:r>
                        </m:sub>
                      </m:sSub>
                      <m:r>
                        <a:rPr lang="ru-RU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40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Прямоугольник 1">
                <a:extLst>
                  <a:ext uri="{FF2B5EF4-FFF2-40B4-BE49-F238E27FC236}">
                    <a16:creationId xmlns:a16="http://schemas.microsoft.com/office/drawing/2014/main" id="{53E60390-1ECB-CE24-5AC0-AB7589ECEF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47" y="1735415"/>
                <a:ext cx="11368048" cy="7630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4E2D6BC1-ACC3-544B-C303-914611EBC54A}"/>
                  </a:ext>
                </a:extLst>
              </p:cNvPr>
              <p:cNvSpPr/>
              <p:nvPr/>
            </p:nvSpPr>
            <p:spPr>
              <a:xfrm>
                <a:off x="767408" y="3356992"/>
                <a:ext cx="8778622" cy="14654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sz="4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4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Осадки</m:t>
                          </m:r>
                        </m:e>
                      </m:d>
                      <m:r>
                        <a:rPr lang="ru-RU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ru-RU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ru-RU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если Осадки</m:t>
                              </m:r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ru-RU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u-RU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мм</m:t>
                              </m:r>
                            </m:e>
                            <m:e>
                              <m:r>
                                <a:rPr lang="ru-RU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0, если Осадки</m:t>
                              </m:r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ru-RU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u-RU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мм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40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4E2D6BC1-ACC3-544B-C303-914611EBC5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08" y="3356992"/>
                <a:ext cx="8778622" cy="14654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154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19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703512" y="176904"/>
            <a:ext cx="9073008" cy="484915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Предварительная обработка категориальных данных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37195A0A-DDE3-4662-A559-66F86E465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464" y="2780928"/>
            <a:ext cx="7920880" cy="827739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tr-TR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One-hot Encoding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F9E4355-29C7-4512-9338-3FC738755760}"/>
              </a:ext>
            </a:extLst>
          </p:cNvPr>
          <p:cNvSpPr/>
          <p:nvPr/>
        </p:nvSpPr>
        <p:spPr>
          <a:xfrm>
            <a:off x="695400" y="1124744"/>
            <a:ext cx="72253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Цвет</a:t>
            </a: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-52"/>
              </a:rPr>
              <a:t>{</a:t>
            </a:r>
            <a:r>
              <a:rPr lang="ru-RU" sz="2800" dirty="0">
                <a:solidFill>
                  <a:srgbClr val="FF0000"/>
                </a:solidFill>
                <a:latin typeface="Montserrat" panose="00000500000000000000" pitchFamily="2" charset="-52"/>
              </a:rPr>
              <a:t>Красный</a:t>
            </a: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-52"/>
              </a:rPr>
              <a:t>,</a:t>
            </a:r>
            <a:r>
              <a:rPr lang="ru-RU" sz="2800" dirty="0">
                <a:solidFill>
                  <a:schemeClr val="bg1"/>
                </a:solidFill>
                <a:latin typeface="Montserrat" panose="00000500000000000000" pitchFamily="2" charset="-52"/>
              </a:rPr>
              <a:t> </a:t>
            </a:r>
            <a:r>
              <a:rPr lang="ru-RU" sz="2800" dirty="0">
                <a:solidFill>
                  <a:srgbClr val="00B050"/>
                </a:solidFill>
                <a:latin typeface="Montserrat" panose="00000500000000000000" pitchFamily="2" charset="-52"/>
              </a:rPr>
              <a:t>Зеленый</a:t>
            </a: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-52"/>
              </a:rPr>
              <a:t>,</a:t>
            </a:r>
            <a:r>
              <a:rPr lang="ru-RU" sz="2800" dirty="0">
                <a:solidFill>
                  <a:schemeClr val="bg1"/>
                </a:solidFill>
                <a:latin typeface="Montserrat" panose="00000500000000000000" pitchFamily="2" charset="-52"/>
              </a:rPr>
              <a:t> </a:t>
            </a:r>
            <a:r>
              <a:rPr lang="ru-RU" sz="2800" dirty="0">
                <a:solidFill>
                  <a:srgbClr val="0070C0"/>
                </a:solidFill>
                <a:latin typeface="Montserrat" panose="00000500000000000000" pitchFamily="2" charset="-52"/>
              </a:rPr>
              <a:t>Синий</a:t>
            </a: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-52"/>
              </a:rPr>
              <a:t>,</a:t>
            </a:r>
            <a:r>
              <a:rPr lang="ru-RU" sz="2800" dirty="0">
                <a:solidFill>
                  <a:schemeClr val="bg1"/>
                </a:solidFill>
                <a:latin typeface="Montserrat" panose="00000500000000000000" pitchFamily="2" charset="-52"/>
              </a:rPr>
              <a:t> Белый</a:t>
            </a: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-52"/>
              </a:rPr>
              <a:t>}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A2CD5BA-2E8A-411C-BB79-1D5BCAF3FF49}"/>
              </a:ext>
            </a:extLst>
          </p:cNvPr>
          <p:cNvSpPr/>
          <p:nvPr/>
        </p:nvSpPr>
        <p:spPr>
          <a:xfrm>
            <a:off x="767408" y="2132856"/>
            <a:ext cx="34515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Цвет</a:t>
            </a: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{1,</a:t>
            </a: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2,</a:t>
            </a: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3,</a:t>
            </a: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4F4918B0-0760-4311-9BAC-6F461BEFF619}"/>
                  </a:ext>
                </a:extLst>
              </p:cNvPr>
              <p:cNvSpPr/>
              <p:nvPr/>
            </p:nvSpPr>
            <p:spPr>
              <a:xfrm>
                <a:off x="551384" y="3645024"/>
                <a:ext cx="3340915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</m:t>
                          </m:r>
                        </m:sup>
                      </m:sSup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4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Ξ</m:t>
                          </m:r>
                        </m:e>
                        <m:sup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US" sz="40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4F4918B0-0760-4311-9BAC-6F461BEFF6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84" y="3645024"/>
                <a:ext cx="3340915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8CE8A4E5-8833-4246-824F-F64E43BF9D58}"/>
                  </a:ext>
                </a:extLst>
              </p:cNvPr>
              <p:cNvSpPr/>
              <p:nvPr/>
            </p:nvSpPr>
            <p:spPr>
              <a:xfrm>
                <a:off x="263352" y="4365104"/>
                <a:ext cx="453774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8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en</m:t>
                    </m:r>
                    <m:r>
                      <a:rPr lang="en-US" sz="28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np</m:t>
                    </m:r>
                    <m:r>
                      <a:rPr lang="en-US" sz="28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unique</m:t>
                    </m:r>
                    <m:d>
                      <m:dPr>
                        <m:ctrlPr>
                          <a:rPr lang="en-US" sz="2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endParaRPr lang="en-US" sz="28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8CE8A4E5-8833-4246-824F-F64E43BF9D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52" y="4365104"/>
                <a:ext cx="453774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" name="Таблица 5">
            <a:extLst>
              <a:ext uri="{FF2B5EF4-FFF2-40B4-BE49-F238E27FC236}">
                <a16:creationId xmlns:a16="http://schemas.microsoft.com/office/drawing/2014/main" id="{53B1B93F-0A5C-484E-A481-E889EB6298AB}"/>
              </a:ext>
            </a:extLst>
          </p:cNvPr>
          <p:cNvGraphicFramePr>
            <a:graphicFrameLocks noGrp="1"/>
          </p:cNvGraphicFramePr>
          <p:nvPr/>
        </p:nvGraphicFramePr>
        <p:xfrm>
          <a:off x="4371158" y="3789040"/>
          <a:ext cx="2729603" cy="280080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2729603">
                  <a:extLst>
                    <a:ext uri="{9D8B030D-6E8A-4147-A177-3AD203B41FA5}">
                      <a16:colId xmlns:a16="http://schemas.microsoft.com/office/drawing/2014/main" val="4056593265"/>
                    </a:ext>
                  </a:extLst>
                </a:gridCol>
              </a:tblGrid>
              <a:tr h="640800">
                <a:tc>
                  <a:txBody>
                    <a:bodyPr/>
                    <a:lstStyle/>
                    <a:p>
                      <a:pPr algn="ctr"/>
                      <a:r>
                        <a:rPr kumimoji="0" lang="ru-RU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-52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Цвет</a:t>
                      </a:r>
                      <a:endParaRPr lang="ru-RU" sz="1200" dirty="0">
                        <a:latin typeface="Montserrat" panose="00000500000000000000" pitchFamily="2" charset="-52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10128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kumimoji="0" lang="ru-RU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-52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Красный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8586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kumimoji="0" lang="ru-R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-52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Зеленый</a:t>
                      </a:r>
                      <a:endParaRPr kumimoji="0" lang="ru-RU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-52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502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kumimoji="0" lang="ru-R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-52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Синий</a:t>
                      </a:r>
                      <a:endParaRPr kumimoji="0" lang="ru-RU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-52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58966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kumimoji="0" lang="ru-R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-52"/>
                          <a:ea typeface="Verdana" panose="020B0604030504040204" pitchFamily="34" charset="0"/>
                          <a:cs typeface="Verdana" panose="020B0604030504040204" pitchFamily="34" charset="0"/>
                          <a:sym typeface="Arial"/>
                        </a:rPr>
                        <a:t>Белый</a:t>
                      </a:r>
                      <a:endParaRPr kumimoji="0" lang="ru-RU" sz="1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-52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293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-52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Красный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505512"/>
                  </a:ext>
                </a:extLst>
              </a:tr>
            </a:tbl>
          </a:graphicData>
        </a:graphic>
      </p:graphicFrame>
      <p:graphicFrame>
        <p:nvGraphicFramePr>
          <p:cNvPr id="19" name="Таблица 3">
            <a:extLst>
              <a:ext uri="{FF2B5EF4-FFF2-40B4-BE49-F238E27FC236}">
                <a16:creationId xmlns:a16="http://schemas.microsoft.com/office/drawing/2014/main" id="{4F16CF7F-992E-426F-84B3-BD934B52AA55}"/>
              </a:ext>
            </a:extLst>
          </p:cNvPr>
          <p:cNvGraphicFramePr>
            <a:graphicFrameLocks noGrp="1"/>
          </p:cNvGraphicFramePr>
          <p:nvPr/>
        </p:nvGraphicFramePr>
        <p:xfrm>
          <a:off x="7464152" y="3789040"/>
          <a:ext cx="4176000" cy="2800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44000">
                  <a:extLst>
                    <a:ext uri="{9D8B030D-6E8A-4147-A177-3AD203B41FA5}">
                      <a16:colId xmlns:a16="http://schemas.microsoft.com/office/drawing/2014/main" val="2344527463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556985766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3450339264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8827049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Цвет Красный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Цвет Зеленый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Цвет Синий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 Цвет Белый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36831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673717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536544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767469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115594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3626713"/>
                  </a:ext>
                </a:extLst>
              </a:tr>
            </a:tbl>
          </a:graphicData>
        </a:graphic>
      </p:graphicFrame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37195A0A-DDE3-4662-A559-66F86E465264}"/>
              </a:ext>
            </a:extLst>
          </p:cNvPr>
          <p:cNvSpPr txBox="1">
            <a:spLocks/>
          </p:cNvSpPr>
          <p:nvPr/>
        </p:nvSpPr>
        <p:spPr>
          <a:xfrm>
            <a:off x="1127448" y="1484784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Ordinal Encoding</a:t>
            </a:r>
            <a:endParaRPr lang="tr-TR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AE1050DD-FB3E-46CD-8322-5F7F889AA70B}"/>
              </a:ext>
            </a:extLst>
          </p:cNvPr>
          <p:cNvSpPr txBox="1">
            <a:spLocks/>
          </p:cNvSpPr>
          <p:nvPr/>
        </p:nvSpPr>
        <p:spPr>
          <a:xfrm>
            <a:off x="4439816" y="1988840"/>
            <a:ext cx="720080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Для предсказаний – </a:t>
            </a:r>
            <a:r>
              <a:rPr lang="en-US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Label Encoding</a:t>
            </a:r>
            <a:endParaRPr lang="ru-RU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050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16" grpId="0"/>
      <p:bldP spid="17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20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1E09D0-7C27-4A36-AD60-0E4D9DD03D2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1251" y="1534921"/>
            <a:ext cx="8428814" cy="4675415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EE1AF79-766B-4127-B39A-32D3AE607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560" y="44624"/>
            <a:ext cx="7920880" cy="827739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Редкие Категории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DED5755-D8F1-40EE-90C0-5844217AC008}"/>
              </a:ext>
            </a:extLst>
          </p:cNvPr>
          <p:cNvSpPr/>
          <p:nvPr/>
        </p:nvSpPr>
        <p:spPr>
          <a:xfrm>
            <a:off x="3072113" y="5208609"/>
            <a:ext cx="6247952" cy="1014427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655AE0-525E-49A8-9FF4-FEE74B863187}"/>
              </a:ext>
            </a:extLst>
          </p:cNvPr>
          <p:cNvSpPr txBox="1"/>
          <p:nvPr/>
        </p:nvSpPr>
        <p:spPr>
          <a:xfrm>
            <a:off x="3426107" y="6425985"/>
            <a:ext cx="3680749" cy="38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https://www.kaggle.com/c/titanic</a:t>
            </a:r>
          </a:p>
        </p:txBody>
      </p:sp>
      <p:pic>
        <p:nvPicPr>
          <p:cNvPr id="13" name="Picture 4" descr="Иконка Титаник в стиле Стиль Офис">
            <a:extLst>
              <a:ext uri="{FF2B5EF4-FFF2-40B4-BE49-F238E27FC236}">
                <a16:creationId xmlns:a16="http://schemas.microsoft.com/office/drawing/2014/main" id="{9D0D6331-F3E6-46A8-81A3-65895B5DD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2384" y="4720152"/>
            <a:ext cx="2164364" cy="2164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AE1050DD-FB3E-46CD-8322-5F7F889AA70B}"/>
              </a:ext>
            </a:extLst>
          </p:cNvPr>
          <p:cNvSpPr txBox="1">
            <a:spLocks/>
          </p:cNvSpPr>
          <p:nvPr/>
        </p:nvSpPr>
        <p:spPr>
          <a:xfrm>
            <a:off x="2063552" y="2060848"/>
            <a:ext cx="6768752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Редкие числовые тоже как-то видоизменить (удалить, заменить на квантиль)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AE1050DD-FB3E-46CD-8322-5F7F889AA70B}"/>
              </a:ext>
            </a:extLst>
          </p:cNvPr>
          <p:cNvSpPr txBox="1">
            <a:spLocks/>
          </p:cNvSpPr>
          <p:nvPr/>
        </p:nvSpPr>
        <p:spPr>
          <a:xfrm>
            <a:off x="2279576" y="3573016"/>
            <a:ext cx="6768752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 хорошему «редкость» тоже проверять как </a:t>
            </a:r>
            <a:r>
              <a:rPr lang="ru-RU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гиперпризнак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модели на кросс-</a:t>
            </a:r>
            <a:r>
              <a:rPr lang="ru-RU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валидации</a:t>
            </a:r>
            <a:endParaRPr lang="ru-RU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635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10" grpId="0" animBg="1"/>
      <p:bldP spid="16" grpId="0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21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2711624" y="176904"/>
            <a:ext cx="7612778" cy="48491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ru-RU" sz="3200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Категориальные признаки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B761638-2E1C-4CEC-8E52-999AF717E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536" y="873070"/>
            <a:ext cx="7920880" cy="827739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 </a:t>
            </a:r>
            <a:r>
              <a:rPr lang="en-US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One-Hot Encoding </a:t>
            </a:r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единым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41DD36-84EB-4DCF-8B65-0B50CCAD0D03}"/>
              </a:ext>
            </a:extLst>
          </p:cNvPr>
          <p:cNvSpPr txBox="1"/>
          <p:nvPr/>
        </p:nvSpPr>
        <p:spPr>
          <a:xfrm>
            <a:off x="814567" y="5914889"/>
            <a:ext cx="108108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https://towardsdatascience.com/beyond-one-hot-17-ways-of-transforming-categorical-features-into-numeric-features-57f54f199ea4</a:t>
            </a:r>
            <a:endParaRPr lang="ru-RU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E2C2991-8D7C-47FF-B64B-69281ECC3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504" y="1628800"/>
            <a:ext cx="8784976" cy="422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6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22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2711624" y="176904"/>
            <a:ext cx="7612778" cy="484915"/>
          </a:xfrm>
          <a:prstGeom prst="rect">
            <a:avLst/>
          </a:prstGeom>
        </p:spPr>
        <p:txBody>
          <a:bodyPr/>
          <a:lstStyle/>
          <a:p>
            <a:r>
              <a:rPr lang="tr-TR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Target Encoding</a:t>
            </a:r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3CFAE4A-76B6-4880-9163-58FCB1810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2" y="2063463"/>
            <a:ext cx="6336704" cy="37204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A4DD34-A998-472C-9965-78976E56CCB6}"/>
                  </a:ext>
                </a:extLst>
              </p:cNvPr>
              <p:cNvSpPr txBox="1"/>
              <p:nvPr/>
            </p:nvSpPr>
            <p:spPr>
              <a:xfrm>
                <a:off x="191344" y="1124744"/>
                <a:ext cx="6117220" cy="9387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𝑒𝑛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𝑚𝑒𝑎𝑛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2000" dirty="0">
                  <a:solidFill>
                    <a:schemeClr val="bg1"/>
                  </a:solidFill>
                  <a:effectLst/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𝑒𝑛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𝑚𝑒𝑎𝑛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)+(1−</m:t>
                      </m:r>
                      <m:sSub>
                        <m:sSubPr>
                          <m:ctrlPr>
                            <a:rPr lang="ru-RU" sz="20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)×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𝑚𝑒𝑎𝑛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2000" dirty="0">
                  <a:solidFill>
                    <a:schemeClr val="bg1"/>
                  </a:solidFill>
                  <a:effectLst/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A4DD34-A998-472C-9965-78976E56C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4" y="1124744"/>
                <a:ext cx="6117220" cy="9387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9896B69-8F21-4243-8221-B80AF0C29E59}"/>
                  </a:ext>
                </a:extLst>
              </p:cNvPr>
              <p:cNvSpPr txBox="1"/>
              <p:nvPr/>
            </p:nvSpPr>
            <p:spPr>
              <a:xfrm>
                <a:off x="4223792" y="1124744"/>
                <a:ext cx="735311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 dirty="0" err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1 / (1 + </m:t>
                      </m:r>
                      <m:r>
                        <a:rPr lang="en-US" sz="2000" i="1" dirty="0" err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𝑛𝑝</m:t>
                      </m:r>
                      <m:r>
                        <a:rPr lang="en-US" sz="2000" i="1" dirty="0" err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2000" i="1" dirty="0" err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exp</m:t>
                      </m:r>
                      <m:r>
                        <a:rPr lang="en-US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⁡(−(</m:t>
                      </m:r>
                      <m:r>
                        <a:rPr lang="en-US" sz="2000" i="1" dirty="0" err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𝑐𝑜𝑢𝑛𝑡</m:t>
                      </m:r>
                      <m:r>
                        <a:rPr lang="en-US" sz="2000" i="1" dirty="0" err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a:rPr lang="en-US" sz="2000" i="1" dirty="0" err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𝑒𝑛𝑐𝑜𝑑𝑖𝑛𝑔</m:t>
                      </m:r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− 1) / </m:t>
                      </m:r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𝑠𝑚𝑜𝑜𝑡h𝑖𝑛𝑔</m:t>
                      </m:r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))</m:t>
                      </m:r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9896B69-8F21-4243-8221-B80AF0C29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792" y="1124744"/>
                <a:ext cx="7353119" cy="400110"/>
              </a:xfrm>
              <a:prstGeom prst="rect">
                <a:avLst/>
              </a:prstGeom>
              <a:blipFill>
                <a:blip r:embed="rId6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B8DF394-AA72-4DBB-98A3-327F09240792}"/>
              </a:ext>
            </a:extLst>
          </p:cNvPr>
          <p:cNvSpPr/>
          <p:nvPr/>
        </p:nvSpPr>
        <p:spPr>
          <a:xfrm>
            <a:off x="6671387" y="1618333"/>
            <a:ext cx="56639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strike="sngStrike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Можно через </a:t>
            </a:r>
            <a:r>
              <a:rPr lang="en-US" sz="2400" strike="sngStrike" dirty="0" err="1">
                <a:solidFill>
                  <a:srgbClr val="D4D4D4"/>
                </a:solidFill>
                <a:latin typeface="Courier New" panose="02070309020205020404" pitchFamily="49" charset="0"/>
              </a:rPr>
              <a:t>groupby</a:t>
            </a:r>
            <a:endParaRPr lang="ru-RU" sz="1600" strike="sngStrike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ru-RU" sz="2400" strike="sngStrike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 только среднее, но и медиана, минимум, максимум, </a:t>
            </a:r>
            <a:r>
              <a:rPr lang="ru-RU" sz="2400" strike="sngStrike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ско</a:t>
            </a:r>
            <a:endParaRPr lang="ru-RU" sz="2400" strike="sngStrike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B8DF394-AA72-4DBB-98A3-327F09240792}"/>
              </a:ext>
            </a:extLst>
          </p:cNvPr>
          <p:cNvSpPr/>
          <p:nvPr/>
        </p:nvSpPr>
        <p:spPr>
          <a:xfrm>
            <a:off x="6671387" y="3721593"/>
            <a:ext cx="51845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strike="sngStrike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Новые категории кодируем отдельными значениями</a:t>
            </a:r>
            <a:endParaRPr lang="ru-RU" sz="2400" strike="sngStrike" dirty="0">
              <a:solidFill>
                <a:srgbClr val="D4D4D4"/>
              </a:solidFill>
              <a:latin typeface="Courier New" panose="02070309020205020404" pitchFamily="49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B8DF394-AA72-4DBB-98A3-327F09240792}"/>
              </a:ext>
            </a:extLst>
          </p:cNvPr>
          <p:cNvSpPr/>
          <p:nvPr/>
        </p:nvSpPr>
        <p:spPr>
          <a:xfrm>
            <a:off x="6686474" y="4562848"/>
            <a:ext cx="51845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strike="sngStrike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 идеале делаем свой класс, который потому интегрируем в </a:t>
            </a:r>
            <a:r>
              <a:rPr lang="en-US" sz="2400" strike="sngStrike" dirty="0">
                <a:solidFill>
                  <a:srgbClr val="D4D4D4"/>
                </a:solidFill>
                <a:latin typeface="Courier New" panose="02070309020205020404" pitchFamily="49" charset="0"/>
              </a:rPr>
              <a:t>pipeline</a:t>
            </a:r>
            <a:endParaRPr lang="ru-RU" sz="2400" strike="sngStrike" dirty="0">
              <a:solidFill>
                <a:srgbClr val="D4D4D4"/>
              </a:solidFill>
              <a:latin typeface="Courier New" panose="02070309020205020404" pitchFamily="49" charset="0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B8DF394-AA72-4DBB-98A3-327F09240792}"/>
              </a:ext>
            </a:extLst>
          </p:cNvPr>
          <p:cNvSpPr/>
          <p:nvPr/>
        </p:nvSpPr>
        <p:spPr>
          <a:xfrm>
            <a:off x="6671387" y="2864258"/>
            <a:ext cx="51845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strike="sngStrike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Можно по нескольким категориям сразу</a:t>
            </a:r>
            <a:endParaRPr lang="ru-RU" sz="2400" strike="sngStrike" dirty="0">
              <a:solidFill>
                <a:srgbClr val="D4D4D4"/>
              </a:solidFill>
              <a:latin typeface="Courier New" panose="02070309020205020404" pitchFamily="49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379476" y="5851698"/>
            <a:ext cx="94330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586C0"/>
                </a:solidFill>
                <a:latin typeface="Courier New" panose="02070309020205020404" pitchFamily="49" charset="0"/>
              </a:rPr>
              <a:t>from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sklearn.preprocessing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TargetEncoder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403389" y="6110291"/>
            <a:ext cx="85689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te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TargetEncoder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smooth=</a:t>
            </a:r>
            <a:r>
              <a:rPr lang="en-US" dirty="0">
                <a:solidFill>
                  <a:srgbClr val="CE9178"/>
                </a:solidFill>
                <a:latin typeface="Courier New" panose="02070309020205020404" pitchFamily="49" charset="0"/>
              </a:rPr>
              <a:t>"auto"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target_type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=</a:t>
            </a:r>
            <a:r>
              <a:rPr lang="en-US" dirty="0">
                <a:solidFill>
                  <a:srgbClr val="CE9178"/>
                </a:solidFill>
                <a:latin typeface="Courier New" panose="02070309020205020404" pitchFamily="49" charset="0"/>
              </a:rPr>
              <a:t>"auto"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en-US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te.fit_transform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y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808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16" grpId="0"/>
      <p:bldP spid="17" grpId="0"/>
      <p:bldP spid="18" grpId="0"/>
      <p:bldP spid="19" grpId="0"/>
      <p:bldP spid="2" grpId="0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23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775520" y="176904"/>
            <a:ext cx="9505056" cy="48491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ru-RU" sz="3200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Чтобы было ну хоть какая-та вариация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0131EA-4D16-4331-B652-96245843AE09}"/>
              </a:ext>
            </a:extLst>
          </p:cNvPr>
          <p:cNvSpPr txBox="1"/>
          <p:nvPr/>
        </p:nvSpPr>
        <p:spPr>
          <a:xfrm>
            <a:off x="794457" y="990922"/>
            <a:ext cx="49517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Leave One Out Encoding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025DF5-A226-41BF-AA54-5BDE33A53237}"/>
              </a:ext>
            </a:extLst>
          </p:cNvPr>
          <p:cNvSpPr txBox="1"/>
          <p:nvPr/>
        </p:nvSpPr>
        <p:spPr>
          <a:xfrm>
            <a:off x="7859868" y="1007924"/>
            <a:ext cx="38733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CatBoost Encoding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EAC4FD3-88A1-493B-BD07-80EB041BF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52" y="1556791"/>
            <a:ext cx="5400600" cy="409820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D48D304-DAD2-489B-AF13-B07D200CAB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016" y="1556792"/>
            <a:ext cx="5783426" cy="4126034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B8DF394-AA72-4DBB-98A3-327F09240792}"/>
              </a:ext>
            </a:extLst>
          </p:cNvPr>
          <p:cNvSpPr/>
          <p:nvPr/>
        </p:nvSpPr>
        <p:spPr>
          <a:xfrm>
            <a:off x="-24680" y="5741043"/>
            <a:ext cx="123853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 научному это называется «чтобы не было утечки целевой переменной»</a:t>
            </a:r>
            <a:endParaRPr lang="ru-RU" sz="1600" dirty="0">
              <a:solidFill>
                <a:srgbClr val="D4D4D4"/>
              </a:solidFill>
              <a:latin typeface="Courier New" panose="02070309020205020404" pitchFamily="49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B8DF394-AA72-4DBB-98A3-327F09240792}"/>
              </a:ext>
            </a:extLst>
          </p:cNvPr>
          <p:cNvSpPr/>
          <p:nvPr/>
        </p:nvSpPr>
        <p:spPr>
          <a:xfrm>
            <a:off x="-24680" y="6202708"/>
            <a:ext cx="121693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Взрослые делают </a:t>
            </a:r>
            <a:r>
              <a:rPr lang="ru-RU" sz="24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на кросс-</a:t>
            </a:r>
            <a:r>
              <a:rPr lang="ru-RU" sz="24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валидации</a:t>
            </a:r>
            <a:endParaRPr lang="ru-RU" sz="1600" dirty="0">
              <a:solidFill>
                <a:srgbClr val="D4D4D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119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16" grpId="0"/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24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695400" y="188640"/>
            <a:ext cx="10729192" cy="48491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ru-RU" sz="3200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Мама, я не хочу быть числовым признаком…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0A7E22E-177F-4627-B62A-84B223ED6223}"/>
              </a:ext>
            </a:extLst>
          </p:cNvPr>
          <p:cNvSpPr/>
          <p:nvPr/>
        </p:nvSpPr>
        <p:spPr>
          <a:xfrm>
            <a:off x="11915" y="4077072"/>
            <a:ext cx="64087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DF[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</a:rPr>
              <a:t>'</a:t>
            </a:r>
            <a:r>
              <a:rPr lang="en-US" dirty="0" err="1">
                <a:solidFill>
                  <a:srgbClr val="C00000"/>
                </a:solidFill>
                <a:latin typeface="Courier New" panose="02070309020205020404" pitchFamily="49" charset="0"/>
              </a:rPr>
              <a:t>cut_Feature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</a:rPr>
              <a:t>'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] = 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</a:rPr>
              <a:t>pd.cut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(DF[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</a:rPr>
              <a:t>'Feature'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],</a:t>
            </a:r>
            <a:r>
              <a:rPr lang="en-US" dirty="0">
                <a:solidFill>
                  <a:srgbClr val="15B012"/>
                </a:solidFill>
                <a:latin typeface="Courier New" panose="02070309020205020404" pitchFamily="49" charset="0"/>
              </a:rPr>
              <a:t>q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)</a:t>
            </a:r>
            <a:endParaRPr lang="en-US" b="0" dirty="0">
              <a:solidFill>
                <a:schemeClr val="bg1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CFC862D-BA70-425F-A253-5DB610A3A26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9336" y="1340768"/>
            <a:ext cx="4032448" cy="26667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ACCF27E-8B2B-4A0C-AD09-E0512CAB64A0}"/>
              </a:ext>
            </a:extLst>
          </p:cNvPr>
          <p:cNvSpPr txBox="1"/>
          <p:nvPr/>
        </p:nvSpPr>
        <p:spPr>
          <a:xfrm>
            <a:off x="3388222" y="6496240"/>
            <a:ext cx="3680749" cy="38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https://www.kaggle.com/c/titanic</a:t>
            </a:r>
          </a:p>
        </p:txBody>
      </p:sp>
      <p:pic>
        <p:nvPicPr>
          <p:cNvPr id="13" name="Picture 4" descr="Иконка Титаник в стиле Стиль Офис">
            <a:extLst>
              <a:ext uri="{FF2B5EF4-FFF2-40B4-BE49-F238E27FC236}">
                <a16:creationId xmlns:a16="http://schemas.microsoft.com/office/drawing/2014/main" id="{77E3F9A6-6BE3-4DC7-80CF-D1AEC60B5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5357" y="4797152"/>
            <a:ext cx="2164364" cy="2164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6A4E633-BB9C-476D-8878-FE47F4A256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3792" y="1412776"/>
            <a:ext cx="1519353" cy="2575276"/>
          </a:xfrm>
          <a:prstGeom prst="rect">
            <a:avLst/>
          </a:prstGeom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E2051931-F9FE-48DD-B432-9140F9ED9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976" y="1772816"/>
            <a:ext cx="3978485" cy="2631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ADF8D9D-D7F1-46EF-B0A1-FD6FE0EB19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4432" y="1772816"/>
            <a:ext cx="1761466" cy="2664296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9C6D9E9-AE09-44BE-AEF8-BEF2381C21FB}"/>
              </a:ext>
            </a:extLst>
          </p:cNvPr>
          <p:cNvSpPr/>
          <p:nvPr/>
        </p:nvSpPr>
        <p:spPr>
          <a:xfrm>
            <a:off x="5807968" y="4437112"/>
            <a:ext cx="88569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DF[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</a:rPr>
              <a:t>'</a:t>
            </a:r>
            <a:r>
              <a:rPr lang="en-US" dirty="0" err="1">
                <a:solidFill>
                  <a:srgbClr val="C00000"/>
                </a:solidFill>
                <a:latin typeface="Courier New" panose="02070309020205020404" pitchFamily="49" charset="0"/>
              </a:rPr>
              <a:t>qcut_Feature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</a:rPr>
              <a:t>'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] = 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</a:rPr>
              <a:t>pd.qcut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(DF[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</a:rPr>
              <a:t>'Feature'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],</a:t>
            </a:r>
            <a:r>
              <a:rPr lang="en-US" dirty="0">
                <a:solidFill>
                  <a:srgbClr val="15B012"/>
                </a:solidFill>
                <a:latin typeface="Courier New" panose="02070309020205020404" pitchFamily="49" charset="0"/>
              </a:rPr>
              <a:t>q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)</a:t>
            </a:r>
            <a:endParaRPr lang="en-US" b="0" dirty="0">
              <a:solidFill>
                <a:schemeClr val="bg1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B8DF394-AA72-4DBB-98A3-327F09240792}"/>
              </a:ext>
            </a:extLst>
          </p:cNvPr>
          <p:cNvSpPr/>
          <p:nvPr/>
        </p:nvSpPr>
        <p:spPr>
          <a:xfrm>
            <a:off x="2783632" y="726992"/>
            <a:ext cx="56166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Биннинг</a:t>
            </a:r>
            <a:endParaRPr lang="ru-RU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67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9" grpId="0"/>
      <p:bldP spid="1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25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695400" y="188640"/>
            <a:ext cx="10729192" cy="48491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ru-RU" sz="3200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Мама, я не хочу быть числовым признаком…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B8DF394-AA72-4DBB-98A3-327F09240792}"/>
              </a:ext>
            </a:extLst>
          </p:cNvPr>
          <p:cNvSpPr/>
          <p:nvPr/>
        </p:nvSpPr>
        <p:spPr>
          <a:xfrm>
            <a:off x="191344" y="3356992"/>
            <a:ext cx="866684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Или вообще из количественного признака сделать бинарный (больше или меньше порога)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B8DF394-AA72-4DBB-98A3-327F09240792}"/>
              </a:ext>
            </a:extLst>
          </p:cNvPr>
          <p:cNvSpPr/>
          <p:nvPr/>
        </p:nvSpPr>
        <p:spPr>
          <a:xfrm>
            <a:off x="335360" y="5445224"/>
            <a:ext cx="110425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 опять же количество </a:t>
            </a:r>
            <a:r>
              <a:rPr lang="ru-RU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бинов</a:t>
            </a: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/ порог проверяем через кросс-</a:t>
            </a:r>
            <a:r>
              <a:rPr lang="ru-RU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валидацию</a:t>
            </a:r>
            <a:endParaRPr lang="ru-RU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B8DF394-AA72-4DBB-98A3-327F09240792}"/>
              </a:ext>
            </a:extLst>
          </p:cNvPr>
          <p:cNvSpPr/>
          <p:nvPr/>
        </p:nvSpPr>
        <p:spPr>
          <a:xfrm>
            <a:off x="2783632" y="908720"/>
            <a:ext cx="56166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Биннинг</a:t>
            </a:r>
            <a:endParaRPr lang="ru-RU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623392" y="4365104"/>
            <a:ext cx="613531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586C0"/>
                </a:solidFill>
                <a:latin typeface="Courier New" panose="02070309020205020404" pitchFamily="49" charset="0"/>
              </a:rPr>
              <a:t>from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sklearn.preprocessing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Binarizer</a:t>
            </a:r>
            <a:endParaRPr lang="en-US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urier New" panose="02070309020205020404" pitchFamily="49" charset="0"/>
              </a:rPr>
              <a:t>bin 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= 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Binarizer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threshold=</a:t>
            </a:r>
            <a:r>
              <a:rPr lang="en-US" dirty="0">
                <a:solidFill>
                  <a:srgbClr val="B5CEA8"/>
                </a:solidFill>
                <a:latin typeface="Courier New" panose="02070309020205020404" pitchFamily="49" charset="0"/>
              </a:rPr>
              <a:t>40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en-US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bin.fit_transform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79376" y="1628800"/>
            <a:ext cx="1153344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586C0"/>
                </a:solidFill>
                <a:latin typeface="Courier New" panose="02070309020205020404" pitchFamily="49" charset="0"/>
              </a:rPr>
              <a:t>from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sklearn.preprocessing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KBinsDiscretizer</a:t>
            </a:r>
            <a:endParaRPr lang="en-US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kbin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KBinsDiscretizer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n_bins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B5CEA8"/>
                </a:solidFill>
                <a:latin typeface="Courier New" panose="02070309020205020404" pitchFamily="49" charset="0"/>
              </a:rPr>
              <a:t>3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,)</a:t>
            </a:r>
            <a:endParaRPr lang="en-US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kbin.fit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X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70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20" grpId="0"/>
      <p:bldP spid="21" grpId="0"/>
      <p:bldP spid="2" grpId="0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26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D316A213-68D6-4A08-977E-DCC39FFF8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544" y="0"/>
            <a:ext cx="7920880" cy="827739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Анализ Пропусков</a:t>
            </a:r>
          </a:p>
        </p:txBody>
      </p:sp>
      <p:sp>
        <p:nvSpPr>
          <p:cNvPr id="9" name="Стрелка: вправо 6">
            <a:extLst>
              <a:ext uri="{FF2B5EF4-FFF2-40B4-BE49-F238E27FC236}">
                <a16:creationId xmlns:a16="http://schemas.microsoft.com/office/drawing/2014/main" id="{27421690-8E7E-403F-8A0F-E92426BA353C}"/>
              </a:ext>
            </a:extLst>
          </p:cNvPr>
          <p:cNvSpPr/>
          <p:nvPr/>
        </p:nvSpPr>
        <p:spPr>
          <a:xfrm>
            <a:off x="2975899" y="3205813"/>
            <a:ext cx="700235" cy="5760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33D6A0F-16E0-4C38-A354-8A2A424D1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205" y="1207845"/>
            <a:ext cx="2324100" cy="4572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460F6C-02B9-4695-A2ED-709E455A21AA}"/>
              </a:ext>
            </a:extLst>
          </p:cNvPr>
          <p:cNvSpPr txBox="1"/>
          <p:nvPr/>
        </p:nvSpPr>
        <p:spPr>
          <a:xfrm>
            <a:off x="3426107" y="6425985"/>
            <a:ext cx="3680749" cy="38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https://www.kaggle.com/c/titanic</a:t>
            </a:r>
          </a:p>
        </p:txBody>
      </p:sp>
      <p:pic>
        <p:nvPicPr>
          <p:cNvPr id="13" name="Picture 4" descr="Иконка Титаник в стиле Стиль Офис">
            <a:extLst>
              <a:ext uri="{FF2B5EF4-FFF2-40B4-BE49-F238E27FC236}">
                <a16:creationId xmlns:a16="http://schemas.microsoft.com/office/drawing/2014/main" id="{882D52B6-F20D-4500-B8E3-8A0F36144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2384" y="4693636"/>
            <a:ext cx="2164364" cy="2164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44E3906-6707-4C96-AA8E-D33CD8E058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0784" y="1320127"/>
            <a:ext cx="2286000" cy="4486275"/>
          </a:xfrm>
          <a:prstGeom prst="rect">
            <a:avLst/>
          </a:prstGeom>
        </p:spPr>
      </p:pic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DC4E39AE-9375-4750-AE9A-1E4ABFABD0EF}"/>
              </a:ext>
            </a:extLst>
          </p:cNvPr>
          <p:cNvSpPr txBox="1">
            <a:spLocks/>
          </p:cNvSpPr>
          <p:nvPr/>
        </p:nvSpPr>
        <p:spPr>
          <a:xfrm>
            <a:off x="6528048" y="1111398"/>
            <a:ext cx="4320480" cy="1202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Или пропуски в одних столбцах могут указывать на ошибки в других?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6177597" y="2858547"/>
            <a:ext cx="88230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586C0"/>
                </a:solidFill>
                <a:latin typeface="Courier New" panose="02070309020205020404" pitchFamily="49" charset="0"/>
              </a:rPr>
              <a:t>from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sklearn.impute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MissingIndicator</a:t>
            </a:r>
            <a:endParaRPr lang="en-US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urier New" panose="02070309020205020404" pitchFamily="49" charset="0"/>
              </a:rPr>
              <a:t>indicator 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= 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MissingIndicator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()</a:t>
            </a:r>
            <a:endParaRPr lang="en-US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indicator.fit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X</a:t>
            </a:r>
            <a:r>
              <a:rPr lang="en-US" dirty="0" smtClean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en-US" dirty="0">
              <a:solidFill>
                <a:srgbClr val="D4D4D4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293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9" grpId="0" animBg="1"/>
      <p:bldP spid="12" grpId="0"/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27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775520" y="176904"/>
            <a:ext cx="9505056" cy="48491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ru-RU" sz="3200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Этих данных не стоит боятся 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B8DF394-AA72-4DBB-98A3-327F09240792}"/>
              </a:ext>
            </a:extLst>
          </p:cNvPr>
          <p:cNvSpPr/>
          <p:nvPr/>
        </p:nvSpPr>
        <p:spPr>
          <a:xfrm>
            <a:off x="263352" y="1340768"/>
            <a:ext cx="121693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Географические координаты 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(даны широты и долготы)</a:t>
            </a:r>
            <a:endParaRPr lang="ru-RU" sz="1600" dirty="0">
              <a:solidFill>
                <a:srgbClr val="D4D4D4"/>
              </a:solidFill>
              <a:latin typeface="Courier New" panose="02070309020205020404" pitchFamily="49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B8DF394-AA72-4DBB-98A3-327F09240792}"/>
              </a:ext>
            </a:extLst>
          </p:cNvPr>
          <p:cNvSpPr/>
          <p:nvPr/>
        </p:nvSpPr>
        <p:spPr>
          <a:xfrm>
            <a:off x="839416" y="1772816"/>
            <a:ext cx="110892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Разные там расстояния по формулам </a:t>
            </a:r>
            <a:r>
              <a:rPr lang="ru-RU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гаверсинусов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до условного центра (города, или знаковых объектов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{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ручками искать координаты, </a:t>
            </a:r>
            <a:r>
              <a:rPr lang="ru-RU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чтоо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}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</a:t>
            </a:r>
            <a:endParaRPr lang="ru-RU" sz="1600" dirty="0">
              <a:solidFill>
                <a:srgbClr val="D4D4D4"/>
              </a:solidFill>
              <a:latin typeface="Courier New" panose="02070309020205020404" pitchFamily="49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B8DF394-AA72-4DBB-98A3-327F09240792}"/>
              </a:ext>
            </a:extLst>
          </p:cNvPr>
          <p:cNvSpPr/>
          <p:nvPr/>
        </p:nvSpPr>
        <p:spPr>
          <a:xfrm>
            <a:off x="407368" y="2924944"/>
            <a:ext cx="84969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 еще мы знаем много метрик расстояния…</a:t>
            </a:r>
            <a:endParaRPr lang="ru-RU" sz="1600" dirty="0">
              <a:solidFill>
                <a:srgbClr val="D4D4D4"/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74DD98-2DA4-A8B3-283E-0627AF538B5E}"/>
              </a:ext>
            </a:extLst>
          </p:cNvPr>
          <p:cNvSpPr txBox="1"/>
          <p:nvPr/>
        </p:nvSpPr>
        <p:spPr>
          <a:xfrm>
            <a:off x="4320729" y="6298124"/>
            <a:ext cx="44146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>
                <a:solidFill>
                  <a:schemeClr val="bg1"/>
                </a:solidFill>
              </a:rPr>
              <a:t>https://geopandas.org/en/stable/</a:t>
            </a:r>
            <a:endParaRPr lang="ru-RU" sz="2400" dirty="0">
              <a:solidFill>
                <a:schemeClr val="bg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05D0DD7-833A-1748-8553-07F2281A3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68" y="3607687"/>
            <a:ext cx="4647320" cy="97593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77EAD99-27F1-F19C-BD60-998FA4B89C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9641" y="3458423"/>
            <a:ext cx="3606642" cy="239970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C4B422C-19A2-E8AB-CE1C-13707636C4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206" y="4583624"/>
            <a:ext cx="952500" cy="17145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7F32E2C-3F66-D698-91BE-E83E7991BF02}"/>
              </a:ext>
            </a:extLst>
          </p:cNvPr>
          <p:cNvSpPr txBox="1"/>
          <p:nvPr/>
        </p:nvSpPr>
        <p:spPr>
          <a:xfrm>
            <a:off x="1879576" y="5106086"/>
            <a:ext cx="16961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4000" dirty="0">
                <a:solidFill>
                  <a:schemeClr val="bg1"/>
                </a:solidFill>
              </a:rPr>
              <a:t>Folium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9AC6B95-91C9-9F16-A48E-A32E962565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1887" y="3350511"/>
            <a:ext cx="2635109" cy="27623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8FCA36-BF96-6F36-2C8B-F54AED19638A}"/>
              </a:ext>
            </a:extLst>
          </p:cNvPr>
          <p:cNvSpPr txBox="1"/>
          <p:nvPr/>
        </p:nvSpPr>
        <p:spPr>
          <a:xfrm>
            <a:off x="8941887" y="6280243"/>
            <a:ext cx="26351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>
                <a:solidFill>
                  <a:schemeClr val="bg1"/>
                </a:solidFill>
              </a:rPr>
              <a:t>https://h3geo.org/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72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17" grpId="0"/>
      <p:bldP spid="18" grpId="0"/>
      <p:bldP spid="20" grpId="0"/>
      <p:bldP spid="5" grpId="0"/>
      <p:bldP spid="16" grpId="0"/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28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775520" y="176904"/>
            <a:ext cx="9505056" cy="48491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ru-RU" sz="3200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Этих данных не стоит боятся 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E5ECF6"/>
              </a:clrFrom>
              <a:clrTo>
                <a:srgbClr val="E5EC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15" t="3112" r="32990" b="3255"/>
          <a:stretch/>
        </p:blipFill>
        <p:spPr>
          <a:xfrm rot="19645539">
            <a:off x="1663944" y="1721350"/>
            <a:ext cx="4017595" cy="439050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7A0A40-2192-88D2-C33D-48D70DEDE5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2104" y="1206887"/>
            <a:ext cx="4123467" cy="500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722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29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775520" y="176904"/>
            <a:ext cx="9505056" cy="48491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ru-RU" sz="3200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Этих данных не стоит боятся 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B8DF394-AA72-4DBB-98A3-327F09240792}"/>
              </a:ext>
            </a:extLst>
          </p:cNvPr>
          <p:cNvSpPr/>
          <p:nvPr/>
        </p:nvSpPr>
        <p:spPr>
          <a:xfrm>
            <a:off x="263352" y="1315667"/>
            <a:ext cx="121693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Время 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(месяц, день, час…)</a:t>
            </a:r>
            <a:endParaRPr lang="ru-RU" sz="1600" dirty="0">
              <a:solidFill>
                <a:srgbClr val="D4D4D4"/>
              </a:solidFill>
              <a:latin typeface="Courier New" panose="02070309020205020404" pitchFamily="49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623392" y="1819723"/>
            <a:ext cx="10513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pd.to_datetime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df_log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CE9178"/>
                </a:solidFill>
                <a:latin typeface="Courier New" panose="020703090202050204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urier New" panose="02070309020205020404" pitchFamily="49" charset="0"/>
              </a:rPr>
              <a:t>event_date</a:t>
            </a:r>
            <a:r>
              <a:rPr lang="en-US" dirty="0">
                <a:solidFill>
                  <a:srgbClr val="CE9178"/>
                </a:solidFill>
                <a:latin typeface="Courier New" panose="02070309020205020404" pitchFamily="49" charset="0"/>
              </a:rPr>
              <a:t>"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],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                            format = </a:t>
            </a:r>
            <a:r>
              <a:rPr lang="en-US" dirty="0">
                <a:solidFill>
                  <a:srgbClr val="CE9178"/>
                </a:solidFill>
                <a:latin typeface="Courier New" panose="02070309020205020404" pitchFamily="49" charset="0"/>
              </a:rPr>
              <a:t>'%Y-%m-%d'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23392" y="2467795"/>
            <a:ext cx="10153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pd.DatetimeIndex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df_log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CE9178"/>
                </a:solidFill>
                <a:latin typeface="Courier New" panose="020703090202050204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latin typeface="Courier New" panose="02070309020205020404" pitchFamily="49" charset="0"/>
              </a:rPr>
              <a:t>event_date</a:t>
            </a:r>
            <a:r>
              <a:rPr lang="en-US" dirty="0">
                <a:solidFill>
                  <a:srgbClr val="CE9178"/>
                </a:solidFill>
                <a:latin typeface="Courier New" panose="02070309020205020404" pitchFamily="49" charset="0"/>
              </a:rPr>
              <a:t>"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])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dayofyear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B8DF394-AA72-4DBB-98A3-327F09240792}"/>
              </a:ext>
            </a:extLst>
          </p:cNvPr>
          <p:cNvSpPr/>
          <p:nvPr/>
        </p:nvSpPr>
        <p:spPr>
          <a:xfrm>
            <a:off x="410440" y="2914354"/>
            <a:ext cx="111612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 еще можно не полениться и «</a:t>
            </a:r>
            <a:r>
              <a:rPr lang="ru-RU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прокликать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» рабочий день или нет, день недели, знак зодиака и т.д.</a:t>
            </a:r>
            <a:endParaRPr lang="ru-RU" sz="1600" dirty="0">
              <a:solidFill>
                <a:srgbClr val="D4D4D4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701434" y="4008985"/>
            <a:ext cx="10789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temp.groupby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([</a:t>
            </a:r>
            <a:r>
              <a:rPr lang="en-US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ru-RU" dirty="0" err="1">
                <a:solidFill>
                  <a:srgbClr val="CE9178"/>
                </a:solidFill>
                <a:latin typeface="Courier New" panose="02070309020205020404" pitchFamily="49" charset="0"/>
              </a:rPr>
              <a:t>Метеостанция'</a:t>
            </a:r>
            <a:r>
              <a:rPr lang="ru-RU" dirty="0" err="1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ru-RU" dirty="0" err="1">
                <a:solidFill>
                  <a:srgbClr val="CE9178"/>
                </a:solidFill>
                <a:latin typeface="Courier New" panose="02070309020205020404" pitchFamily="49" charset="0"/>
              </a:rPr>
              <a:t>'год'</a:t>
            </a:r>
            <a:r>
              <a:rPr lang="ru-RU" dirty="0" err="1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ru-RU" dirty="0" err="1">
                <a:solidFill>
                  <a:srgbClr val="CE9178"/>
                </a:solidFill>
                <a:latin typeface="Courier New" panose="02070309020205020404" pitchFamily="49" charset="0"/>
              </a:rPr>
              <a:t>'месяц</a:t>
            </a:r>
            <a:r>
              <a:rPr lang="ru-RU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ru-RU" dirty="0">
                <a:solidFill>
                  <a:srgbClr val="DCDCDC"/>
                </a:solidFill>
                <a:latin typeface="Courier New" panose="02070309020205020404" pitchFamily="49" charset="0"/>
              </a:rPr>
              <a:t>])[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features_temp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]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.mean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()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743744" y="4826496"/>
            <a:ext cx="115686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temp.loc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temp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en-US" dirty="0" err="1">
                <a:solidFill>
                  <a:srgbClr val="CE9178"/>
                </a:solidFill>
                <a:latin typeface="Courier New" panose="02070309020205020404" pitchFamily="49" charset="0"/>
              </a:rPr>
              <a:t>Метеостанция</a:t>
            </a:r>
            <a:r>
              <a:rPr lang="en-US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]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==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name</a:t>
            </a:r>
            <a:r>
              <a:rPr lang="en-US" dirty="0" err="1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feature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]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.rolling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window = </a:t>
            </a:r>
            <a:r>
              <a:rPr lang="en-US" dirty="0">
                <a:solidFill>
                  <a:srgbClr val="B5CEA8"/>
                </a:solidFill>
                <a:latin typeface="Courier New" panose="02070309020205020404" pitchFamily="49" charset="0"/>
              </a:rPr>
              <a:t>7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.mean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()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3744" y="5572738"/>
            <a:ext cx="8226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test = ~temp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temp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ru-RU" dirty="0">
                <a:solidFill>
                  <a:srgbClr val="CE9178"/>
                </a:solidFill>
                <a:latin typeface="Courier New" panose="02070309020205020404" pitchFamily="49" charset="0"/>
              </a:rPr>
              <a:t>Метеостанция'</a:t>
            </a:r>
            <a:r>
              <a:rPr lang="ru-RU" dirty="0">
                <a:solidFill>
                  <a:srgbClr val="DCDCDC"/>
                </a:solidFill>
                <a:latin typeface="Courier New" panose="02070309020205020404" pitchFamily="49" charset="0"/>
              </a:rPr>
              <a:t>]</a:t>
            </a:r>
            <a:r>
              <a:rPr lang="ru-RU" dirty="0">
                <a:solidFill>
                  <a:srgbClr val="D4D4D4"/>
                </a:solidFill>
                <a:latin typeface="Courier New" panose="02070309020205020404" pitchFamily="49" charset="0"/>
              </a:rPr>
              <a:t>==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name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]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eq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urier New" panose="02070309020205020404" pitchFamily="49" charset="0"/>
              </a:rPr>
              <a:t>0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771530" y="6112504"/>
            <a:ext cx="101130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test.cumsum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D4D4D4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groupby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ru-RU" dirty="0">
                <a:solidFill>
                  <a:srgbClr val="CE9178"/>
                </a:solidFill>
                <a:latin typeface="Courier New" panose="02070309020205020404" pitchFamily="49" charset="0"/>
              </a:rPr>
              <a:t>Осадки'</a:t>
            </a:r>
            <a:r>
              <a:rPr lang="ru-RU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r>
              <a:rPr lang="ru-RU" dirty="0">
                <a:solidFill>
                  <a:srgbClr val="D4D4D4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D4D4D4"/>
                </a:solidFill>
                <a:latin typeface="Courier New" panose="02070309020205020404" pitchFamily="49" charset="0"/>
              </a:rPr>
              <a:t>cumcount</a:t>
            </a:r>
            <a:r>
              <a:rPr lang="en-US" dirty="0">
                <a:solidFill>
                  <a:srgbClr val="DCDCDC"/>
                </a:solidFill>
                <a:latin typeface="Courier New" panose="02070309020205020404" pitchFamily="49" charset="0"/>
              </a:rPr>
              <a:t>()</a:t>
            </a:r>
            <a:endParaRPr 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492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22" grpId="0"/>
      <p:bldP spid="4" grpId="0"/>
      <p:bldP spid="5" grpId="0"/>
      <p:bldP spid="6" grpId="0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30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775520" y="176904"/>
            <a:ext cx="9505056" cy="48491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ru-RU" sz="3200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Агрегация 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B8DF394-AA72-4DBB-98A3-327F09240792}"/>
              </a:ext>
            </a:extLst>
          </p:cNvPr>
          <p:cNvSpPr/>
          <p:nvPr/>
        </p:nvSpPr>
        <p:spPr>
          <a:xfrm>
            <a:off x="623392" y="1412776"/>
            <a:ext cx="597666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Когда у нас есть несколько табличек и есть табличка с несколькими значениями для объектов предсказаний</a:t>
            </a:r>
            <a:endParaRPr lang="ru-RU" sz="1600" dirty="0">
              <a:solidFill>
                <a:srgbClr val="D4D4D4"/>
              </a:solidFill>
              <a:latin typeface="Courier New" panose="02070309020205020404" pitchFamily="49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040" y="1196752"/>
            <a:ext cx="5438775" cy="1990725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B8DF394-AA72-4DBB-98A3-327F09240792}"/>
              </a:ext>
            </a:extLst>
          </p:cNvPr>
          <p:cNvSpPr/>
          <p:nvPr/>
        </p:nvSpPr>
        <p:spPr>
          <a:xfrm>
            <a:off x="623392" y="3356992"/>
            <a:ext cx="10585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Наверное надо собирать статистику для объекта предсказания</a:t>
            </a:r>
            <a:endParaRPr lang="ru-RU" sz="1600" dirty="0">
              <a:solidFill>
                <a:srgbClr val="D4D4D4"/>
              </a:solidFill>
              <a:latin typeface="Courier New" panose="02070309020205020404" pitchFamily="49" charset="0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B8DF394-AA72-4DBB-98A3-327F09240792}"/>
              </a:ext>
            </a:extLst>
          </p:cNvPr>
          <p:cNvSpPr/>
          <p:nvPr/>
        </p:nvSpPr>
        <p:spPr>
          <a:xfrm>
            <a:off x="623392" y="3894489"/>
            <a:ext cx="97930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Через </a:t>
            </a:r>
            <a:r>
              <a:rPr lang="en-US" sz="2400" dirty="0" err="1">
                <a:solidFill>
                  <a:srgbClr val="D4D4D4"/>
                </a:solidFill>
                <a:latin typeface="Courier New" panose="02070309020205020404" pitchFamily="49" charset="0"/>
              </a:rPr>
              <a:t>groupby</a:t>
            </a:r>
            <a:endParaRPr lang="ru-RU" sz="1600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 только среднее, но и медиана, минимум, максимум, </a:t>
            </a:r>
            <a:r>
              <a:rPr lang="ru-RU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ско</a:t>
            </a:r>
            <a:endParaRPr lang="ru-RU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B8DF394-AA72-4DBB-98A3-327F09240792}"/>
              </a:ext>
            </a:extLst>
          </p:cNvPr>
          <p:cNvSpPr/>
          <p:nvPr/>
        </p:nvSpPr>
        <p:spPr>
          <a:xfrm>
            <a:off x="1055440" y="4732924"/>
            <a:ext cx="324036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 Engineering</a:t>
            </a:r>
            <a:endParaRPr lang="ru-RU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SQL select from</a:t>
            </a:r>
            <a:endParaRPr lang="ru-RU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??? </a:t>
            </a:r>
            <a:endParaRPr lang="ru-RU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Profit</a:t>
            </a:r>
            <a:endParaRPr lang="ru-RU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3E91374-7443-D3E6-2A92-1B4551BDBD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2103" y="4725486"/>
            <a:ext cx="4744377" cy="10817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8EB10B-89E8-2B06-E2C2-B19E8E8E6962}"/>
              </a:ext>
            </a:extLst>
          </p:cNvPr>
          <p:cNvSpPr txBox="1"/>
          <p:nvPr/>
        </p:nvSpPr>
        <p:spPr>
          <a:xfrm>
            <a:off x="5231904" y="5939243"/>
            <a:ext cx="6145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dirty="0">
                <a:solidFill>
                  <a:schemeClr val="bg1"/>
                </a:solidFill>
              </a:rPr>
              <a:t>https://www.featuretools.com/</a:t>
            </a: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143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16" grpId="0"/>
      <p:bldP spid="19" grpId="0"/>
      <p:bldP spid="23" grpId="0"/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31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42802B-4644-4E88-AA5E-0EA6F0887BE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074" name="Picture 2" descr="https://i.imgflip.com/7m7krq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6" y="1129247"/>
            <a:ext cx="7483446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1324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29741" y="6475125"/>
            <a:ext cx="962260" cy="411230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32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703512" y="176904"/>
            <a:ext cx="8620890" cy="520826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Уменьшение размерности как Генерация признаков</a:t>
            </a:r>
            <a:endParaRPr lang="ru-RU" sz="3200" b="1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1069" y="0"/>
            <a:ext cx="1900907" cy="1204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4616" y="138599"/>
            <a:ext cx="3164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F01FBCE-E8E8-4540-80F5-B60B930F09D2}"/>
              </a:ext>
            </a:extLst>
          </p:cNvPr>
          <p:cNvSpPr/>
          <p:nvPr/>
        </p:nvSpPr>
        <p:spPr>
          <a:xfrm>
            <a:off x="407368" y="5301208"/>
            <a:ext cx="1142515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Эксперименты </a:t>
            </a: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 разными методами уменьшения размерности (и их </a:t>
            </a:r>
            <a:r>
              <a:rPr lang="ru-RU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гиперпризнаками</a:t>
            </a: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могут </a:t>
            </a:r>
            <a:r>
              <a:rPr lang="ru-RU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повлиять</a:t>
            </a: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на итоговую </a:t>
            </a:r>
            <a:r>
              <a:rPr lang="ru-RU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модель</a:t>
            </a: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Их можно рассматривать как </a:t>
            </a:r>
            <a:r>
              <a:rPr lang="ru-RU" sz="20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гиперпризнак</a:t>
            </a: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для модели (ну вы поняли – кросс-</a:t>
            </a:r>
            <a:r>
              <a:rPr lang="ru-RU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валидация</a:t>
            </a: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D7E7DD5-7D97-457C-B1B0-C88AFB5E2139}"/>
              </a:ext>
            </a:extLst>
          </p:cNvPr>
          <p:cNvSpPr/>
          <p:nvPr/>
        </p:nvSpPr>
        <p:spPr>
          <a:xfrm>
            <a:off x="407368" y="4293096"/>
            <a:ext cx="1149662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Важно помнить</a:t>
            </a:r>
          </a:p>
          <a:p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Сложная взаимосвязь между новыми признаками и оригинальным признаками</a:t>
            </a:r>
            <a:endParaRPr lang="ru-RU" sz="2000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23188B3B-BB4F-4CF1-8E34-13D644A0AB88}"/>
              </a:ext>
            </a:extLst>
          </p:cNvPr>
          <p:cNvSpPr/>
          <p:nvPr/>
        </p:nvSpPr>
        <p:spPr>
          <a:xfrm>
            <a:off x="407368" y="1124744"/>
            <a:ext cx="54726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Метод Главных Компонент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96656C47-F4EC-40B7-8AC7-E58E66EED2B6}"/>
              </a:ext>
            </a:extLst>
          </p:cNvPr>
          <p:cNvSpPr/>
          <p:nvPr/>
        </p:nvSpPr>
        <p:spPr>
          <a:xfrm>
            <a:off x="407368" y="1595343"/>
            <a:ext cx="66967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Сингулярное разложение матрицы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1D369C3-3490-322E-011F-CA6C55EFE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308" y="2344744"/>
            <a:ext cx="7405500" cy="1178147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111111"/>
              </a:clrFrom>
              <a:clrTo>
                <a:srgbClr val="11111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9320" y="1124743"/>
            <a:ext cx="3297531" cy="329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665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10" grpId="0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29741" y="6475125"/>
            <a:ext cx="962260" cy="411230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33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703512" y="176904"/>
            <a:ext cx="8620890" cy="520826"/>
          </a:xfrm>
          <a:prstGeom prst="rect">
            <a:avLst/>
          </a:prstGeom>
        </p:spPr>
        <p:txBody>
          <a:bodyPr/>
          <a:lstStyle/>
          <a:p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Сингулярное разложение матрицы</a:t>
            </a:r>
            <a:endParaRPr lang="en-US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1069" y="0"/>
            <a:ext cx="1900907" cy="1204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4616" y="138599"/>
            <a:ext cx="3164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A5C3C55F-0060-4792-83D0-7D2E202A9717}"/>
                  </a:ext>
                </a:extLst>
              </p:cNvPr>
              <p:cNvSpPr/>
              <p:nvPr/>
            </p:nvSpPr>
            <p:spPr>
              <a:xfrm>
                <a:off x="718823" y="1196752"/>
                <a:ext cx="2828980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ru-RU" sz="4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4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sz="40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A5C3C55F-0060-4792-83D0-7D2E202A97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823" y="1196752"/>
                <a:ext cx="2828980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8DD55814-3D26-42B8-903B-17F8280DEE73}"/>
                  </a:ext>
                </a:extLst>
              </p:cNvPr>
              <p:cNvSpPr/>
              <p:nvPr/>
            </p:nvSpPr>
            <p:spPr>
              <a:xfrm>
                <a:off x="4034922" y="5789234"/>
                <a:ext cx="186948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8DD55814-3D26-42B8-903B-17F8280DEE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922" y="5789234"/>
                <a:ext cx="1869486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4C289307-F7A2-4DF9-B156-4B7F91B1A909}"/>
                  </a:ext>
                </a:extLst>
              </p:cNvPr>
              <p:cNvSpPr/>
              <p:nvPr/>
            </p:nvSpPr>
            <p:spPr>
              <a:xfrm>
                <a:off x="9313149" y="4480550"/>
                <a:ext cx="219008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0" i="0" dirty="0" smtClean="0">
                              <a:solidFill>
                                <a:schemeClr val="bg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4C289307-F7A2-4DF9-B156-4B7F91B1A9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3149" y="4480550"/>
                <a:ext cx="2190087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6C9A3BCD-E294-42C8-AFD0-7FA196329AA6}"/>
                  </a:ext>
                </a:extLst>
              </p:cNvPr>
              <p:cNvSpPr/>
              <p:nvPr/>
            </p:nvSpPr>
            <p:spPr>
              <a:xfrm>
                <a:off x="7135065" y="5793755"/>
                <a:ext cx="193809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0" i="0" dirty="0" smtClean="0">
                              <a:solidFill>
                                <a:schemeClr val="bg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6C9A3BCD-E294-42C8-AFD0-7FA196329A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5065" y="5793755"/>
                <a:ext cx="1938095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3376CD6-4AF0-4E10-BA68-E62E56187F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028" y="2666230"/>
            <a:ext cx="1847968" cy="30306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2CB6818A-25C8-43D5-B8BD-08051E448188}"/>
                  </a:ext>
                </a:extLst>
              </p:cNvPr>
              <p:cNvSpPr/>
              <p:nvPr/>
            </p:nvSpPr>
            <p:spPr>
              <a:xfrm>
                <a:off x="1006855" y="5724491"/>
                <a:ext cx="183152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2CB6818A-25C8-43D5-B8BD-08051E4481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855" y="5724491"/>
                <a:ext cx="1831527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2CF3050-ECA0-46D0-B177-AAB6A05B4E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22928" y="2675767"/>
            <a:ext cx="3048724" cy="3048724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51190C8-CF2D-4E8E-8FA6-F9A3DC81805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11511" y="2691987"/>
            <a:ext cx="2088232" cy="3004124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BD7387F-4F42-4843-942E-06F0D77AA3C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26255" y="2691987"/>
            <a:ext cx="1788563" cy="1788563"/>
          </a:xfrm>
          <a:prstGeom prst="rect">
            <a:avLst/>
          </a:prstGeom>
        </p:spPr>
      </p:pic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125471EF-FB62-4D3B-A8D2-DA8F22CB02DD}"/>
              </a:ext>
            </a:extLst>
          </p:cNvPr>
          <p:cNvSpPr/>
          <p:nvPr/>
        </p:nvSpPr>
        <p:spPr>
          <a:xfrm>
            <a:off x="214767" y="1988840"/>
            <a:ext cx="31870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Характеристики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1C23562E-9A09-49B9-A9D4-7C7DF19135DF}"/>
              </a:ext>
            </a:extLst>
          </p:cNvPr>
          <p:cNvSpPr/>
          <p:nvPr/>
        </p:nvSpPr>
        <p:spPr>
          <a:xfrm rot="16200000">
            <a:off x="-230063" y="3723179"/>
            <a:ext cx="13484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Люди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305A94C5-55B7-436D-AFD2-9A6A7000B3DE}"/>
              </a:ext>
            </a:extLst>
          </p:cNvPr>
          <p:cNvSpPr/>
          <p:nvPr/>
        </p:nvSpPr>
        <p:spPr>
          <a:xfrm>
            <a:off x="3239103" y="1628800"/>
            <a:ext cx="371157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Новые Характеристики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46A104F9-C4CC-4EAB-8D77-850C11A76C69}"/>
              </a:ext>
            </a:extLst>
          </p:cNvPr>
          <p:cNvSpPr/>
          <p:nvPr/>
        </p:nvSpPr>
        <p:spPr>
          <a:xfrm>
            <a:off x="8715885" y="1628800"/>
            <a:ext cx="347067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Взаимосвязь Характеристик</a:t>
            </a:r>
          </a:p>
        </p:txBody>
      </p:sp>
    </p:spTree>
    <p:extLst>
      <p:ext uri="{BB962C8B-B14F-4D97-AF65-F5344CB8AC3E}">
        <p14:creationId xmlns:p14="http://schemas.microsoft.com/office/powerpoint/2010/main" val="1914968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33" grpId="0"/>
      <p:bldP spid="3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29741" y="6475125"/>
            <a:ext cx="962260" cy="411230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34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1069" y="0"/>
            <a:ext cx="1900907" cy="1204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4616" y="138599"/>
            <a:ext cx="3164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36E63F3-279C-4C70-B38E-F9DF66614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116632"/>
            <a:ext cx="11039926" cy="795599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Кластеризация</a:t>
            </a:r>
            <a:endParaRPr lang="ru-RU" sz="320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9FC6050-7B0E-4A15-8EAD-701C83A68497}"/>
              </a:ext>
            </a:extLst>
          </p:cNvPr>
          <p:cNvSpPr/>
          <p:nvPr/>
        </p:nvSpPr>
        <p:spPr>
          <a:xfrm>
            <a:off x="523345" y="1168669"/>
            <a:ext cx="626469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Можно </a:t>
            </a:r>
            <a:r>
              <a:rPr lang="ru-RU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кластеризовать</a:t>
            </a: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числовые признаки и использовать метки кластеров в виде нового категориального признака  </a:t>
            </a:r>
            <a:endParaRPr lang="en-US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23392" y="6309320"/>
            <a:ext cx="113052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https://github.com/dashee87/blogScripts/blob/master/Jupyter/2017-05-09-Clustering-with-Scikit-with-GIFs.ipynb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9FC6050-7B0E-4A15-8EAD-701C83A68497}"/>
              </a:ext>
            </a:extLst>
          </p:cNvPr>
          <p:cNvSpPr/>
          <p:nvPr/>
        </p:nvSpPr>
        <p:spPr>
          <a:xfrm>
            <a:off x="445979" y="4713286"/>
            <a:ext cx="62646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 потом сгенерировать числовые признаки «расстояние до центров»</a:t>
            </a:r>
            <a:endParaRPr lang="en-US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026" name="Picture 2" descr="title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4591" y="1898893"/>
            <a:ext cx="4406280" cy="2478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40AE0CE-64DD-3A18-8430-59F4EA099CB6}"/>
              </a:ext>
            </a:extLst>
          </p:cNvPr>
          <p:cNvSpPr/>
          <p:nvPr/>
        </p:nvSpPr>
        <p:spPr>
          <a:xfrm>
            <a:off x="976082" y="5539079"/>
            <a:ext cx="49776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D4D4D4"/>
                </a:solidFill>
                <a:latin typeface="Courier New" panose="02070309020205020404" pitchFamily="49" charset="0"/>
              </a:rPr>
              <a:t>distance = </a:t>
            </a:r>
            <a:r>
              <a:rPr lang="tr-TR" sz="2400" dirty="0">
                <a:solidFill>
                  <a:srgbClr val="D4D4D4"/>
                </a:solidFill>
                <a:latin typeface="Courier New" panose="02070309020205020404" pitchFamily="49" charset="0"/>
              </a:rPr>
              <a:t>km.</a:t>
            </a:r>
            <a:r>
              <a:rPr lang="en-US" sz="2400" dirty="0">
                <a:solidFill>
                  <a:srgbClr val="D4D4D4"/>
                </a:solidFill>
                <a:latin typeface="Courier New" panose="02070309020205020404" pitchFamily="49" charset="0"/>
              </a:rPr>
              <a:t>transform(X)</a:t>
            </a:r>
            <a:endParaRPr lang="tr-TR" sz="24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62E79377-4BAD-4E0F-8E23-B59280931030}"/>
              </a:ext>
            </a:extLst>
          </p:cNvPr>
          <p:cNvSpPr/>
          <p:nvPr/>
        </p:nvSpPr>
        <p:spPr>
          <a:xfrm>
            <a:off x="442569" y="2907328"/>
            <a:ext cx="65175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dirty="0">
                <a:solidFill>
                  <a:srgbClr val="D4D4D4"/>
                </a:solidFill>
                <a:latin typeface="Courier New" panose="02070309020205020404" pitchFamily="49" charset="0"/>
              </a:rPr>
              <a:t>km = KMeans</a:t>
            </a:r>
            <a:r>
              <a:rPr lang="tr-TR" sz="2400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tr-TR" sz="2400" dirty="0">
                <a:solidFill>
                  <a:srgbClr val="D4D4D4"/>
                </a:solidFill>
                <a:latin typeface="Courier New" panose="02070309020205020404" pitchFamily="49" charset="0"/>
              </a:rPr>
              <a:t>n_clusters=k</a:t>
            </a:r>
            <a:r>
              <a:rPr lang="tr-TR" sz="2400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tr-TR" sz="2400" dirty="0">
              <a:solidFill>
                <a:srgbClr val="D4D4D4"/>
              </a:solidFill>
              <a:latin typeface="Courier New" panose="02070309020205020404" pitchFamily="49" charset="0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DA929A6-4AD7-4F79-BDCD-EAC0C69B36E7}"/>
              </a:ext>
            </a:extLst>
          </p:cNvPr>
          <p:cNvSpPr/>
          <p:nvPr/>
        </p:nvSpPr>
        <p:spPr>
          <a:xfrm>
            <a:off x="429490" y="3394543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sz="2400" dirty="0">
                <a:solidFill>
                  <a:srgbClr val="D4D4D4"/>
                </a:solidFill>
                <a:latin typeface="Courier New" panose="02070309020205020404" pitchFamily="49" charset="0"/>
              </a:rPr>
              <a:t>km.fit</a:t>
            </a:r>
            <a:r>
              <a:rPr lang="tr-TR" sz="2400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tr-TR" sz="2400" dirty="0">
                <a:solidFill>
                  <a:srgbClr val="D4D4D4"/>
                </a:solidFill>
                <a:latin typeface="Courier New" panose="02070309020205020404" pitchFamily="49" charset="0"/>
              </a:rPr>
              <a:t>X</a:t>
            </a:r>
            <a:r>
              <a:rPr lang="tr-TR" sz="2400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tr-TR" sz="2400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tr-TR" sz="2400" dirty="0">
                <a:solidFill>
                  <a:srgbClr val="D4D4D4"/>
                </a:solidFill>
                <a:latin typeface="Courier New" panose="02070309020205020404" pitchFamily="49" charset="0"/>
              </a:rPr>
              <a:t>centroids = km.cluster_centers_</a:t>
            </a:r>
          </a:p>
          <a:p>
            <a:r>
              <a:rPr lang="tr-TR" sz="2400" dirty="0">
                <a:solidFill>
                  <a:srgbClr val="D4D4D4"/>
                </a:solidFill>
                <a:latin typeface="Courier New" panose="02070309020205020404" pitchFamily="49" charset="0"/>
              </a:rPr>
              <a:t>labels = km.fit_predict</a:t>
            </a:r>
            <a:r>
              <a:rPr lang="tr-TR" sz="2400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tr-TR" sz="2400" dirty="0">
                <a:solidFill>
                  <a:srgbClr val="D4D4D4"/>
                </a:solidFill>
                <a:latin typeface="Courier New" panose="02070309020205020404" pitchFamily="49" charset="0"/>
              </a:rPr>
              <a:t>X</a:t>
            </a:r>
            <a:r>
              <a:rPr lang="tr-TR" sz="2400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tr-TR" sz="2400" dirty="0">
              <a:solidFill>
                <a:srgbClr val="D4D4D4"/>
              </a:solidFill>
              <a:latin typeface="Courier New" panose="02070309020205020404" pitchFamily="49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11B8504-FA97-4FBB-89A0-71E49F61CFA3}"/>
              </a:ext>
            </a:extLst>
          </p:cNvPr>
          <p:cNvSpPr/>
          <p:nvPr/>
        </p:nvSpPr>
        <p:spPr>
          <a:xfrm>
            <a:off x="429490" y="2417229"/>
            <a:ext cx="64524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C586C0"/>
                </a:solidFill>
                <a:latin typeface="Courier New" panose="02070309020205020404" pitchFamily="49" charset="0"/>
              </a:rPr>
              <a:t>from</a:t>
            </a:r>
            <a:r>
              <a:rPr lang="en-US" sz="2400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en-US" sz="2400" dirty="0" err="1">
                <a:solidFill>
                  <a:srgbClr val="D4D4D4"/>
                </a:solidFill>
                <a:latin typeface="Courier New" panose="02070309020205020404" pitchFamily="49" charset="0"/>
              </a:rPr>
              <a:t>sklearn.cluster</a:t>
            </a:r>
            <a:r>
              <a:rPr lang="en-US" sz="2400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en-US" sz="2400" dirty="0">
                <a:solidFill>
                  <a:srgbClr val="C586C0"/>
                </a:solidFill>
                <a:latin typeface="Courier New" panose="02070309020205020404" pitchFamily="49" charset="0"/>
              </a:rPr>
              <a:t>import</a:t>
            </a:r>
            <a:r>
              <a:rPr lang="en-US" sz="2400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en-US" sz="2400" dirty="0" err="1">
                <a:solidFill>
                  <a:srgbClr val="D4D4D4"/>
                </a:solidFill>
                <a:latin typeface="Courier New" panose="02070309020205020404" pitchFamily="49" charset="0"/>
              </a:rPr>
              <a:t>KMeans</a:t>
            </a:r>
            <a:endParaRPr lang="en-US" sz="24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42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16" grpId="0"/>
      <p:bldP spid="13" grpId="0"/>
      <p:bldP spid="18" grpId="0"/>
      <p:bldP spid="19" grpId="0"/>
      <p:bldP spid="2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29741" y="6475125"/>
            <a:ext cx="962260" cy="411230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35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1069" y="0"/>
            <a:ext cx="1900907" cy="1204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4616" y="138599"/>
            <a:ext cx="3164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36E63F3-279C-4C70-B38E-F9DF66614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116632"/>
            <a:ext cx="11039926" cy="795599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Пример из практики</a:t>
            </a:r>
            <a:endParaRPr lang="ru-RU" sz="32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5480" y="1028863"/>
            <a:ext cx="4268504" cy="5784857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6040" y="1687134"/>
            <a:ext cx="3823662" cy="43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412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29741" y="6475125"/>
            <a:ext cx="962260" cy="411230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36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1069" y="0"/>
            <a:ext cx="1900907" cy="1204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4616" y="138599"/>
            <a:ext cx="3164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36E63F3-279C-4C70-B38E-F9DF66614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116632"/>
            <a:ext cx="11039926" cy="795599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Предсказание оттока клиентов</a:t>
            </a:r>
            <a:endParaRPr lang="ru-RU" sz="32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4"/>
          <a:srcRect b="10636"/>
          <a:stretch/>
        </p:blipFill>
        <p:spPr>
          <a:xfrm>
            <a:off x="3395227" y="1338639"/>
            <a:ext cx="3499492" cy="25786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4250" y="1325390"/>
            <a:ext cx="4876800" cy="28194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360" y="4293096"/>
            <a:ext cx="4104456" cy="1560372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5840" y="4653136"/>
            <a:ext cx="3573063" cy="89713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336" y="6021288"/>
            <a:ext cx="11554616" cy="470465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806" y="1321100"/>
            <a:ext cx="3304538" cy="264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346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29741" y="6475125"/>
            <a:ext cx="962260" cy="411230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37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1069" y="0"/>
            <a:ext cx="1900907" cy="1204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4616" y="138599"/>
            <a:ext cx="3164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36E63F3-279C-4C70-B38E-F9DF66614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116632"/>
            <a:ext cx="11039926" cy="795599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Какие </a:t>
            </a:r>
            <a:r>
              <a:rPr lang="ru-RU" sz="32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Фичи</a:t>
            </a:r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я додумался придумать</a:t>
            </a:r>
            <a:endParaRPr lang="ru-RU" sz="3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92F34B-3ABF-4DCB-93AE-AF22F7E27198}"/>
              </a:ext>
            </a:extLst>
          </p:cNvPr>
          <p:cNvSpPr txBox="1"/>
          <p:nvPr/>
        </p:nvSpPr>
        <p:spPr>
          <a:xfrm>
            <a:off x="623392" y="944785"/>
            <a:ext cx="100811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E9178"/>
                </a:solidFill>
                <a:latin typeface="Courier New" panose="02070309020205020404" pitchFamily="49" charset="0"/>
              </a:rPr>
              <a:t>log.csv</a:t>
            </a:r>
            <a:endParaRPr lang="ru-RU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Статистика обращений в тех поддержку (простой подсчет)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Оценка отдельных событий обращений в тех </a:t>
            </a:r>
            <a:r>
              <a:rPr lang="ru-RU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поддежку</a:t>
            </a:r>
            <a:endParaRPr lang="ru-RU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Оценка времен обращений в тех поддержку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«грубые» оценки положительных (связанных с Включением чего либо) и отрицательных (Отключение) обращений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solidFill>
                  <a:srgbClr val="CE9178"/>
                </a:solidFill>
                <a:latin typeface="Courier New" panose="02070309020205020404" pitchFamily="49" charset="0"/>
              </a:rPr>
              <a:t>named.csv</a:t>
            </a:r>
            <a:endParaRPr lang="ru-RU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Статистика посещения сайтов конкурентов (простой подсчет)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Оценка статистики (медиана, </a:t>
            </a:r>
            <a:r>
              <a:rPr lang="ru-RU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ско</a:t>
            </a: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мин, макс, вариационных размах и коэффициент вариации) по длине сайтов конкурентов (отдельно в символах и в «глубине» доменов)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Оценка посещаемости по предпоследнему домену</a:t>
            </a:r>
          </a:p>
        </p:txBody>
      </p:sp>
    </p:spTree>
    <p:extLst>
      <p:ext uri="{BB962C8B-B14F-4D97-AF65-F5344CB8AC3E}">
        <p14:creationId xmlns:p14="http://schemas.microsoft.com/office/powerpoint/2010/main" val="320032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29741" y="6475125"/>
            <a:ext cx="962260" cy="411230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38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1069" y="0"/>
            <a:ext cx="1900907" cy="1204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AE2F3ED0-93D0-4CC0-A297-6D97C0D4D5A9}"/>
              </a:ext>
            </a:extLst>
          </p:cNvPr>
          <p:cNvSpPr/>
          <p:nvPr/>
        </p:nvSpPr>
        <p:spPr>
          <a:xfrm>
            <a:off x="11554616" y="138599"/>
            <a:ext cx="3164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36E63F3-279C-4C70-B38E-F9DF66614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116632"/>
            <a:ext cx="11039926" cy="795599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Какие Фичи умные люди придумали</a:t>
            </a:r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CEC9C2-2668-FFD4-609C-A5AC353E53E6}"/>
              </a:ext>
            </a:extLst>
          </p:cNvPr>
          <p:cNvSpPr txBox="1"/>
          <p:nvPr/>
        </p:nvSpPr>
        <p:spPr>
          <a:xfrm>
            <a:off x="674144" y="1117759"/>
            <a:ext cx="1134908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E9178"/>
                </a:solidFill>
                <a:latin typeface="Montserrat" panose="020B0604020202020204" charset="-52"/>
              </a:rPr>
              <a:t>log.csv</a:t>
            </a:r>
            <a:endParaRPr lang="ru-RU" sz="2000" dirty="0">
              <a:solidFill>
                <a:schemeClr val="bg1"/>
              </a:solidFill>
              <a:latin typeface="Montserrat" panose="020B0604020202020204" charset="-52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ru-RU" sz="2000" dirty="0" err="1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  <a:cs typeface="Verdana" panose="020B0604030504040204" pitchFamily="34" charset="0"/>
              </a:rPr>
              <a:t>Биннинг</a:t>
            </a:r>
            <a:r>
              <a:rPr lang="ru-RU" sz="20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  <a:cs typeface="Verdana" panose="020B0604030504040204" pitchFamily="34" charset="0"/>
              </a:rPr>
              <a:t> количества обращений пользователя по типам обращений, которые делали ушедшие (</a:t>
            </a:r>
            <a:r>
              <a:rPr lang="ru-RU" sz="2000" dirty="0" err="1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  <a:cs typeface="Verdana" panose="020B0604030504040204" pitchFamily="34" charset="0"/>
              </a:rPr>
              <a:t>blocked</a:t>
            </a:r>
            <a:r>
              <a:rPr lang="ru-RU" sz="20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  <a:cs typeface="Verdana" panose="020B0604030504040204" pitchFamily="34" charset="0"/>
              </a:rPr>
              <a:t> - 1) пользователи (</a:t>
            </a:r>
            <a:r>
              <a:rPr lang="ru-RU" sz="2000" dirty="0" err="1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  <a:cs typeface="Verdana" panose="020B0604030504040204" pitchFamily="34" charset="0"/>
              </a:rPr>
              <a:t>квантильный</a:t>
            </a:r>
            <a:r>
              <a:rPr lang="ru-RU" sz="20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</a:p>
          <a:p>
            <a:pPr marL="342900" indent="-342900">
              <a:buClr>
                <a:schemeClr val="bg2"/>
              </a:buClr>
              <a:buFont typeface="Wingdings" panose="05000000000000000000" pitchFamily="2" charset="2"/>
              <a:buChar char="ü"/>
            </a:pPr>
            <a:endParaRPr lang="ru-RU" sz="2000" dirty="0">
              <a:solidFill>
                <a:schemeClr val="bg1"/>
              </a:solidFill>
              <a:latin typeface="Montserrat" panose="020B0604020202020204" charset="-52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ru-RU" sz="20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  <a:cs typeface="Verdana" panose="020B0604030504040204" pitchFamily="34" charset="0"/>
              </a:rPr>
              <a:t>Число дней с первого (последнего) обращения в поддержку</a:t>
            </a:r>
          </a:p>
          <a:p>
            <a:pPr marL="342900" indent="-342900">
              <a:buClr>
                <a:schemeClr val="bg2"/>
              </a:buClr>
              <a:buFont typeface="Wingdings" panose="05000000000000000000" pitchFamily="2" charset="2"/>
              <a:buChar char="ü"/>
            </a:pPr>
            <a:endParaRPr lang="ru-RU" sz="2000" dirty="0">
              <a:solidFill>
                <a:schemeClr val="bg1"/>
              </a:solidFill>
              <a:latin typeface="Montserrat" panose="020B0604020202020204" charset="-52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ru-RU" sz="20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  <a:cs typeface="Verdana" panose="020B0604030504040204" pitchFamily="34" charset="0"/>
              </a:rPr>
              <a:t>Бинарный признак - количество обращений в поддержку больше </a:t>
            </a:r>
            <a:r>
              <a:rPr lang="ru-RU" sz="2000" b="1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  <a:cs typeface="Verdana" panose="020B0604030504040204" pitchFamily="34" charset="0"/>
              </a:rPr>
              <a:t>Х</a:t>
            </a:r>
          </a:p>
          <a:p>
            <a:pPr marL="342900" indent="-342900">
              <a:buClr>
                <a:schemeClr val="bg2"/>
              </a:buClr>
              <a:buFont typeface="Wingdings" panose="05000000000000000000" pitchFamily="2" charset="2"/>
              <a:buChar char="ü"/>
            </a:pPr>
            <a:endParaRPr lang="ru-RU" sz="2000" b="1" dirty="0">
              <a:solidFill>
                <a:schemeClr val="bg1"/>
              </a:solidFill>
              <a:latin typeface="Montserrat" panose="020B0604020202020204" charset="-52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dirty="0">
                <a:solidFill>
                  <a:srgbClr val="CE9178"/>
                </a:solidFill>
                <a:latin typeface="Montserrat" panose="020B0604020202020204" charset="-52"/>
              </a:rPr>
              <a:t>named.csv</a:t>
            </a:r>
            <a:endParaRPr lang="ru-RU" sz="2000" dirty="0">
              <a:solidFill>
                <a:schemeClr val="bg1"/>
              </a:solidFill>
              <a:latin typeface="Montserrat" panose="020B0604020202020204" charset="-52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ru-RU" sz="20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  <a:cs typeface="Verdana" panose="020B0604030504040204" pitchFamily="34" charset="0"/>
              </a:rPr>
              <a:t>количество запросов пользователя к сайтам, которые посещали ушедшие (</a:t>
            </a:r>
            <a:r>
              <a:rPr lang="ru-RU" sz="2000" dirty="0" err="1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  <a:cs typeface="Verdana" panose="020B0604030504040204" pitchFamily="34" charset="0"/>
              </a:rPr>
              <a:t>blocked</a:t>
            </a:r>
            <a:r>
              <a:rPr lang="ru-RU" sz="20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  <a:cs typeface="Verdana" panose="020B0604030504040204" pitchFamily="34" charset="0"/>
              </a:rPr>
              <a:t> - 1) пользователи. Три периода, в первые две недели, вторые две недели и последние две недели в имеющихся данных. </a:t>
            </a:r>
          </a:p>
          <a:p>
            <a:pPr marL="342900" indent="-342900">
              <a:buClr>
                <a:schemeClr val="bg2"/>
              </a:buClr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bg1"/>
              </a:solidFill>
              <a:latin typeface="Montserrat" panose="020B0604020202020204" charset="-52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ru-RU" sz="20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  <a:cs typeface="Verdana" panose="020B0604030504040204" pitchFamily="34" charset="0"/>
              </a:rPr>
              <a:t>Число дней с первого (последнего) запроса</a:t>
            </a:r>
          </a:p>
          <a:p>
            <a:pPr marL="342900" indent="-342900">
              <a:buClr>
                <a:schemeClr val="bg2"/>
              </a:buClr>
              <a:buFont typeface="Wingdings" panose="05000000000000000000" pitchFamily="2" charset="2"/>
              <a:buChar char="ü"/>
            </a:pPr>
            <a:endParaRPr lang="ru-RU" sz="2000" dirty="0">
              <a:solidFill>
                <a:schemeClr val="bg1"/>
              </a:solidFill>
              <a:latin typeface="Montserrat" panose="020B0604020202020204" charset="-52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ru-RU" sz="20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  <a:cs typeface="Verdana" panose="020B0604030504040204" pitchFamily="34" charset="0"/>
              </a:rPr>
              <a:t>Количество уникальных сообщений к конкурентам </a:t>
            </a:r>
          </a:p>
        </p:txBody>
      </p:sp>
    </p:spTree>
    <p:extLst>
      <p:ext uri="{BB962C8B-B14F-4D97-AF65-F5344CB8AC3E}">
        <p14:creationId xmlns:p14="http://schemas.microsoft.com/office/powerpoint/2010/main" val="2931795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39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2063552" y="176904"/>
            <a:ext cx="826085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Книжки про </a:t>
            </a: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Feature Engineering</a:t>
            </a:r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42802B-4644-4E88-AA5E-0EA6F0887BE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2BE0830-9ACD-463A-BE80-12585DA4C18E}"/>
              </a:ext>
            </a:extLst>
          </p:cNvPr>
          <p:cNvSpPr txBox="1">
            <a:spLocks/>
          </p:cNvSpPr>
          <p:nvPr/>
        </p:nvSpPr>
        <p:spPr>
          <a:xfrm>
            <a:off x="1847528" y="963327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432" y="1174719"/>
            <a:ext cx="3701118" cy="4892613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19336" y="6120632"/>
            <a:ext cx="56886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Feature Engineering for Machine Learning 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by Alice Zheng and Amanda </a:t>
            </a:r>
            <a:r>
              <a:rPr lang="en-US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Casari</a:t>
            </a:r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8128" y="1102954"/>
            <a:ext cx="3229749" cy="424222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581846" y="5352512"/>
            <a:ext cx="67915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PTSerif-Regular"/>
              </a:rPr>
              <a:t>Предварительная подготовка данных в </a:t>
            </a:r>
            <a:r>
              <a:rPr lang="ru-RU" sz="1600" dirty="0" err="1">
                <a:solidFill>
                  <a:schemeClr val="bg1"/>
                </a:solidFill>
                <a:latin typeface="PTSerif-Regular"/>
              </a:rPr>
              <a:t>Python</a:t>
            </a:r>
            <a:r>
              <a:rPr lang="ru-RU" sz="1600" dirty="0">
                <a:solidFill>
                  <a:schemeClr val="bg1"/>
                </a:solidFill>
                <a:latin typeface="PTSerif-Regular"/>
              </a:rPr>
              <a:t>: Том 1. Инструменты</a:t>
            </a:r>
          </a:p>
          <a:p>
            <a:r>
              <a:rPr lang="ru-RU" sz="1600" dirty="0">
                <a:solidFill>
                  <a:schemeClr val="bg1"/>
                </a:solidFill>
                <a:latin typeface="PTSerif-Regular"/>
              </a:rPr>
              <a:t>и </a:t>
            </a:r>
            <a:r>
              <a:rPr lang="ru-RU" sz="1600" dirty="0" err="1">
                <a:solidFill>
                  <a:schemeClr val="bg1"/>
                </a:solidFill>
                <a:latin typeface="PTSerif-Regular"/>
              </a:rPr>
              <a:t>валидация</a:t>
            </a:r>
            <a:r>
              <a:rPr lang="ru-RU" sz="1600" dirty="0">
                <a:solidFill>
                  <a:schemeClr val="bg1"/>
                </a:solidFill>
                <a:latin typeface="PTSerif-Regular"/>
              </a:rPr>
              <a:t>. – М.: ДМК Пресс, 2023. – 816 с.: ил.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581846" y="5936649"/>
            <a:ext cx="67193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PTSerif-Regular"/>
              </a:rPr>
              <a:t>Предварительная подготовка данных в </a:t>
            </a:r>
            <a:r>
              <a:rPr lang="ru-RU" sz="1600" dirty="0" err="1">
                <a:solidFill>
                  <a:schemeClr val="bg1"/>
                </a:solidFill>
                <a:latin typeface="PTSerif-Regular"/>
              </a:rPr>
              <a:t>Python</a:t>
            </a:r>
            <a:r>
              <a:rPr lang="ru-RU" sz="1600" dirty="0">
                <a:solidFill>
                  <a:schemeClr val="bg1"/>
                </a:solidFill>
                <a:latin typeface="PTSerif-Regular"/>
              </a:rPr>
              <a:t>. Том 2: План, примеры</a:t>
            </a:r>
            <a:r>
              <a:rPr lang="en-US" sz="1600" dirty="0">
                <a:solidFill>
                  <a:schemeClr val="bg1"/>
                </a:solidFill>
                <a:latin typeface="PTSerif-Regular"/>
              </a:rPr>
              <a:t> </a:t>
            </a:r>
            <a:r>
              <a:rPr lang="ru-RU" sz="1600" dirty="0">
                <a:solidFill>
                  <a:schemeClr val="bg1"/>
                </a:solidFill>
                <a:latin typeface="PTSerif-Regular"/>
              </a:rPr>
              <a:t>и метрики качества. – М.: ДМК Пресс, 2023. – 814 с.: ил.</a:t>
            </a:r>
            <a:endParaRPr lang="ru-RU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282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40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/>
          <p:cNvSpPr txBox="1">
            <a:spLocks/>
          </p:cNvSpPr>
          <p:nvPr/>
        </p:nvSpPr>
        <p:spPr>
          <a:xfrm>
            <a:off x="1559496" y="0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Резюме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47328" y="1052736"/>
            <a:ext cx="76328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Кросс-</a:t>
            </a:r>
            <a:r>
              <a:rPr lang="ru-RU" sz="2800" b="1" spc="-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валидация</a:t>
            </a:r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42802B-4644-4E88-AA5E-0EA6F0887BE9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0" y="2924944"/>
            <a:ext cx="76328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Конструирование признаков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191344" y="1628800"/>
            <a:ext cx="1067414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Есть разные вариации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Для</a:t>
            </a:r>
            <a:r>
              <a:rPr lang="ru-RU" sz="2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регрессии 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 среднем хватает </a:t>
            </a:r>
            <a:r>
              <a:rPr lang="en-US" sz="2400" i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ShuffleSplit</a:t>
            </a:r>
            <a:endParaRPr lang="en-US" sz="2400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Для</a:t>
            </a:r>
            <a:r>
              <a:rPr lang="ru-RU" sz="2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классификации 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 забываем про баланс классов </a:t>
            </a:r>
            <a:r>
              <a:rPr lang="en-US" sz="2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Stratified</a:t>
            </a:r>
            <a:endParaRPr lang="ru-RU" sz="2400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91344" y="3441680"/>
            <a:ext cx="10429458" cy="34163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i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Domain</a:t>
            </a:r>
            <a:r>
              <a:rPr lang="ru-RU" sz="2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2400" i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Specific</a:t>
            </a:r>
            <a:r>
              <a:rPr lang="ru-RU" sz="2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2400" i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Knowledge</a:t>
            </a:r>
            <a:r>
              <a:rPr lang="en-US" sz="2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(читаем что умные люди сделали)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i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Exploratory</a:t>
            </a:r>
            <a:r>
              <a:rPr lang="ru-RU" sz="2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2400" i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</a:t>
            </a:r>
            <a:r>
              <a:rPr lang="ru-RU" sz="2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2400" i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Analysis</a:t>
            </a:r>
            <a:r>
              <a:rPr lang="ru-RU" sz="2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(верим в свою интуицию)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Простые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идеи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вполне работают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взять полиномы от исходных числовых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свести числовые к небольшим </a:t>
            </a:r>
            <a:r>
              <a:rPr lang="ru-RU" sz="24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категориям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Категории нынче модно заводить в </a:t>
            </a:r>
            <a:r>
              <a:rPr lang="en-US" sz="2400" i="1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TargetEncoder</a:t>
            </a:r>
            <a:endParaRPr lang="ru-RU" sz="2400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Для </a:t>
            </a:r>
            <a:r>
              <a:rPr lang="ru-RU" sz="2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сложных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идей нужно не боятся сторонних библиотек </a:t>
            </a:r>
          </a:p>
        </p:txBody>
      </p:sp>
    </p:spTree>
    <p:extLst>
      <p:ext uri="{BB962C8B-B14F-4D97-AF65-F5344CB8AC3E}">
        <p14:creationId xmlns:p14="http://schemas.microsoft.com/office/powerpoint/2010/main" val="1623824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41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992888" cy="48491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ru-RU" sz="2400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 признаки. Антон Долганов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69711A2-3190-48F8-8735-CC4C8A614724}"/>
              </a:ext>
            </a:extLst>
          </p:cNvPr>
          <p:cNvSpPr txBox="1"/>
          <p:nvPr/>
        </p:nvSpPr>
        <p:spPr>
          <a:xfrm>
            <a:off x="2567608" y="4010997"/>
            <a:ext cx="7299434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7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8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8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9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115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9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8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8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7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endParaRPr lang="ru-RU" sz="6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8B152339-AA49-4910-A987-702557E55544}"/>
              </a:ext>
            </a:extLst>
          </p:cNvPr>
          <p:cNvSpPr txBox="1">
            <a:spLocks/>
          </p:cNvSpPr>
          <p:nvPr/>
        </p:nvSpPr>
        <p:spPr>
          <a:xfrm>
            <a:off x="2063552" y="2188876"/>
            <a:ext cx="8568952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6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Вопросы, пожелания, предложения</a:t>
            </a:r>
          </a:p>
        </p:txBody>
      </p:sp>
    </p:spTree>
    <p:extLst>
      <p:ext uri="{BB962C8B-B14F-4D97-AF65-F5344CB8AC3E}">
        <p14:creationId xmlns:p14="http://schemas.microsoft.com/office/powerpoint/2010/main" val="2194563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16150</TotalTime>
  <Words>1638</Words>
  <Application>Microsoft Office PowerPoint</Application>
  <PresentationFormat>Широкоэкранный</PresentationFormat>
  <Paragraphs>463</Paragraphs>
  <Slides>41</Slides>
  <Notes>40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52" baseType="lpstr">
      <vt:lpstr>Arial</vt:lpstr>
      <vt:lpstr>Calibri</vt:lpstr>
      <vt:lpstr>Cambria</vt:lpstr>
      <vt:lpstr>Cambria Math</vt:lpstr>
      <vt:lpstr>Courier New</vt:lpstr>
      <vt:lpstr>Montserrat</vt:lpstr>
      <vt:lpstr>PTSerif-Regular</vt:lpstr>
      <vt:lpstr>Times New Roman</vt:lpstr>
      <vt:lpstr>Verdana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Новые Признаки на Основе Имеющихся</vt:lpstr>
      <vt:lpstr>Презентация PowerPoint</vt:lpstr>
      <vt:lpstr>Презентация PowerPoint</vt:lpstr>
      <vt:lpstr>Презентация PowerPoint</vt:lpstr>
      <vt:lpstr>Презентация PowerPoint</vt:lpstr>
      <vt:lpstr>Когда советская формула &gt;&gt; МО</vt:lpstr>
      <vt:lpstr>One-hot Encoding</vt:lpstr>
      <vt:lpstr>Редкие Категории</vt:lpstr>
      <vt:lpstr>Не One-Hot Encoding единым</vt:lpstr>
      <vt:lpstr>Презентация PowerPoint</vt:lpstr>
      <vt:lpstr>Презентация PowerPoint</vt:lpstr>
      <vt:lpstr>Презентация PowerPoint</vt:lpstr>
      <vt:lpstr>Презентация PowerPoint</vt:lpstr>
      <vt:lpstr>Анализ Пропусков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Кластеризация</vt:lpstr>
      <vt:lpstr>Пример из практики</vt:lpstr>
      <vt:lpstr>Предсказание оттока клиентов</vt:lpstr>
      <vt:lpstr>Какие Фичи я додумался придумать</vt:lpstr>
      <vt:lpstr>Какие Фичи умные люди придумали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Атоша</dc:creator>
  <cp:lastModifiedBy>Долганов Антон Юрьевич</cp:lastModifiedBy>
  <cp:revision>670</cp:revision>
  <dcterms:created xsi:type="dcterms:W3CDTF">2019-05-20T04:53:11Z</dcterms:created>
  <dcterms:modified xsi:type="dcterms:W3CDTF">2025-10-20T06:26:57Z</dcterms:modified>
</cp:coreProperties>
</file>