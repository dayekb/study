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438" r:id="rId3"/>
    <p:sldId id="459" r:id="rId4"/>
    <p:sldId id="497" r:id="rId5"/>
    <p:sldId id="264" r:id="rId6"/>
    <p:sldId id="380" r:id="rId7"/>
    <p:sldId id="498" r:id="rId8"/>
    <p:sldId id="413" r:id="rId9"/>
    <p:sldId id="464" r:id="rId10"/>
    <p:sldId id="466" r:id="rId11"/>
    <p:sldId id="468" r:id="rId12"/>
    <p:sldId id="470" r:id="rId13"/>
    <p:sldId id="489" r:id="rId14"/>
    <p:sldId id="469" r:id="rId15"/>
    <p:sldId id="476" r:id="rId16"/>
    <p:sldId id="477" r:id="rId17"/>
    <p:sldId id="490" r:id="rId18"/>
    <p:sldId id="422" r:id="rId19"/>
    <p:sldId id="423" r:id="rId20"/>
    <p:sldId id="424" r:id="rId21"/>
    <p:sldId id="425" r:id="rId22"/>
    <p:sldId id="426" r:id="rId23"/>
    <p:sldId id="427" r:id="rId24"/>
    <p:sldId id="428" r:id="rId25"/>
    <p:sldId id="440" r:id="rId26"/>
    <p:sldId id="491" r:id="rId27"/>
    <p:sldId id="462" r:id="rId28"/>
    <p:sldId id="429" r:id="rId29"/>
    <p:sldId id="492" r:id="rId30"/>
    <p:sldId id="432" r:id="rId31"/>
    <p:sldId id="433" r:id="rId32"/>
    <p:sldId id="434" r:id="rId33"/>
    <p:sldId id="439" r:id="rId34"/>
    <p:sldId id="493" r:id="rId35"/>
    <p:sldId id="436" r:id="rId36"/>
    <p:sldId id="494" r:id="rId37"/>
    <p:sldId id="479" r:id="rId38"/>
    <p:sldId id="480" r:id="rId39"/>
    <p:sldId id="495" r:id="rId40"/>
    <p:sldId id="496" r:id="rId41"/>
    <p:sldId id="482" r:id="rId42"/>
    <p:sldId id="483" r:id="rId43"/>
    <p:sldId id="484" r:id="rId44"/>
    <p:sldId id="487" r:id="rId45"/>
    <p:sldId id="486" r:id="rId46"/>
    <p:sldId id="488" r:id="rId47"/>
    <p:sldId id="437" r:id="rId48"/>
    <p:sldId id="261" r:id="rId4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3636"/>
    <a:srgbClr val="27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93" autoAdjust="0"/>
    <p:restoredTop sz="95297" autoAdjust="0"/>
  </p:normalViewPr>
  <p:slideViewPr>
    <p:cSldViewPr>
      <p:cViewPr varScale="1">
        <p:scale>
          <a:sx n="110" d="100"/>
          <a:sy n="110" d="100"/>
        </p:scale>
        <p:origin x="444" y="2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05E3C-4BAB-4A96-A922-7BFAEF974B87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A539B-A58A-4F9A-84CC-CDDBAB26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0886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61084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793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2153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43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459732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69146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886408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18576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2879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88780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7663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36237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3324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11855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997662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37582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4815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19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4420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93915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15149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93361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0519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4079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0480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68825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9524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93688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86324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59577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9302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57106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478768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75763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181187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24576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6328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04142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39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812313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5151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41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28323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59382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43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208040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44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059613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670045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6158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7057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531813" y="749300"/>
            <a:ext cx="6562725" cy="3692525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A7C9CE0-C161-4B1C-AB5A-205FFC85AFA7}" type="slidenum">
              <a:rPr lang="ru-RU" sz="1400" b="0" strike="noStrike" spc="-1" smtClean="0">
                <a:latin typeface="Times New Roman"/>
              </a:rPr>
              <a:t>48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08930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09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891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644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5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60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1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65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06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544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53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537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D7FE9-E167-4C1A-9882-ED30199F1B66}" type="datetimeFigureOut">
              <a:rPr lang="ru-RU" smtClean="0"/>
              <a:t>16.10.2025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F4C9D-76F1-44A5-8E0D-429814420D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35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7.png"/><Relationship Id="rId5" Type="http://schemas.openxmlformats.org/officeDocument/2006/relationships/image" Target="../media/image9.png"/><Relationship Id="rId10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10" Type="http://schemas.openxmlformats.org/officeDocument/2006/relationships/image" Target="../media/image83.png"/><Relationship Id="rId4" Type="http://schemas.openxmlformats.org/officeDocument/2006/relationships/image" Target="../media/image62.png"/><Relationship Id="rId9" Type="http://schemas.openxmlformats.org/officeDocument/2006/relationships/image" Target="../media/image8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0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0.png"/><Relationship Id="rId5" Type="http://schemas.openxmlformats.org/officeDocument/2006/relationships/image" Target="../media/image50.png"/><Relationship Id="rId10" Type="http://schemas.openxmlformats.org/officeDocument/2006/relationships/image" Target="../media/image66.png"/><Relationship Id="rId4" Type="http://schemas.openxmlformats.org/officeDocument/2006/relationships/image" Target="../media/image69.png"/><Relationship Id="rId9" Type="http://schemas.openxmlformats.org/officeDocument/2006/relationships/image" Target="../media/image73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66.png"/><Relationship Id="rId10" Type="http://schemas.openxmlformats.org/officeDocument/2006/relationships/image" Target="../media/image760.png"/><Relationship Id="rId4" Type="http://schemas.openxmlformats.org/officeDocument/2006/relationships/image" Target="../media/image50.png"/><Relationship Id="rId9" Type="http://schemas.openxmlformats.org/officeDocument/2006/relationships/image" Target="../media/image76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2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10.png"/><Relationship Id="rId5" Type="http://schemas.openxmlformats.org/officeDocument/2006/relationships/image" Target="../media/image80.png"/><Relationship Id="rId4" Type="http://schemas.openxmlformats.org/officeDocument/2006/relationships/image" Target="../media/image790.png"/><Relationship Id="rId9" Type="http://schemas.openxmlformats.org/officeDocument/2006/relationships/image" Target="../media/image83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0.png"/><Relationship Id="rId3" Type="http://schemas.openxmlformats.org/officeDocument/2006/relationships/image" Target="../media/image2.png"/><Relationship Id="rId7" Type="http://schemas.openxmlformats.org/officeDocument/2006/relationships/image" Target="../media/image10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9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10732"/>
            <a:ext cx="3354014" cy="2125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6B7F83FB-7806-49E1-B9F0-5283878CBA20}"/>
              </a:ext>
            </a:extLst>
          </p:cNvPr>
          <p:cNvSpPr txBox="1">
            <a:spLocks/>
          </p:cNvSpPr>
          <p:nvPr/>
        </p:nvSpPr>
        <p:spPr>
          <a:xfrm>
            <a:off x="0" y="1906536"/>
            <a:ext cx="12192000" cy="32506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Машинное Обучение</a:t>
            </a:r>
          </a:p>
          <a:p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Лекция </a:t>
            </a:r>
            <a:r>
              <a:rPr lang="ru-RU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1.09</a:t>
            </a:r>
            <a:endParaRPr lang="ru-RU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которой мы обсудим 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ещё кластеризацию (ура х2)</a:t>
            </a:r>
          </a:p>
        </p:txBody>
      </p:sp>
      <p:sp>
        <p:nvSpPr>
          <p:cNvPr id="10" name="Текст 2">
            <a:extLst>
              <a:ext uri="{FF2B5EF4-FFF2-40B4-BE49-F238E27FC236}">
                <a16:creationId xmlns:a16="http://schemas.microsoft.com/office/drawing/2014/main" id="{39FC50A5-749B-4969-8DF0-CE7271FDECB1}"/>
              </a:ext>
            </a:extLst>
          </p:cNvPr>
          <p:cNvSpPr txBox="1">
            <a:spLocks/>
          </p:cNvSpPr>
          <p:nvPr/>
        </p:nvSpPr>
        <p:spPr>
          <a:xfrm>
            <a:off x="3359696" y="5013176"/>
            <a:ext cx="5021262" cy="8791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Долганов Антон Юрьевич</a:t>
            </a:r>
          </a:p>
        </p:txBody>
      </p:sp>
    </p:spTree>
    <p:extLst>
      <p:ext uri="{BB962C8B-B14F-4D97-AF65-F5344CB8AC3E}">
        <p14:creationId xmlns:p14="http://schemas.microsoft.com/office/powerpoint/2010/main" val="50428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6264" y="649297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 предыдущей серии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Прямая соединительная линия 16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623392" y="1052736"/>
            <a:ext cx="1051316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Кружочки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квадратики</a:t>
            </a:r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ромбики</a:t>
            </a:r>
            <a:endParaRPr lang="ru-RU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Задаем гипотетические центры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Пересчитываем </a:t>
            </a: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среднее по близости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Повторяем (до победного)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 </a:t>
            </a: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Локтя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Метрики Кластеризации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внутренние и внешние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но в целом все сложно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00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ChatGPT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рекоммендует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0" y="1086954"/>
            <a:ext cx="12192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several other clustering methods that you can use depending on your data and the problem you are trying to solve. Here are some popular alternatives to k-means clustering: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Hierarchical Clustering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This method builds a hierarchy of clusters by iteratively merging or splitting the clusters based on the similarity between the data points. It can be agglomerative (bottom-up) or divisive (top-down).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Density-Based Spatial Clustering of Applications with Noise; it is a density-based clustering algorithm that groups together the regions of high-density data points into clusters. It is suitable for data that are not well approximated by globular clusters and for clustering problems where the clusters have non-uniform density.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Gaussian Mixture Model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This method uses a mixture of Gaussian distributions to fit the data and assigns each data point to the cluster with the highest probability of belonging to that cluster. It can handle non-spherical data, overlapping clusters, and has a soft assignment of data points to clusters.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Spectral Clustering</a:t>
            </a:r>
            <a:r>
              <a:rPr lang="en-US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This method uses the spectral decomposition of the similarity matrix of the data points to perform clustering. It can handle non-spherical clusters and non-linearly separable data.</a:t>
            </a: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33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Типы кластеризации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119336" y="1124744"/>
            <a:ext cx="119533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Centroid-based / Partitioning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Методы на основе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центроида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группируют точки данных вместе на основе близости точек данных к </a:t>
            </a:r>
            <a:r>
              <a:rPr lang="ru-RU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центроиду</a:t>
            </a:r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(центру кластера)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Connectivity-based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Методы на основе связности группируют точки данных вместе на основе близости между кластерами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Density-based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Методы на основе плотности группируют точки данных вместе на основе плотности, а не расстояния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Distribution-based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Методы, основанные на распределении, группируют точки данных вместе на основе их вероятности принадлежности к одному и тому же распределению вероятностей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Compression-based</a:t>
            </a:r>
          </a:p>
          <a:p>
            <a:r>
              <a:rPr lang="ru-RU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Методы на основе сжатия преобразуют точки данных во вложение и впоследствии выполняют кластеризацию данных более низкого измерения</a:t>
            </a:r>
            <a:endParaRPr lang="en-US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411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087" y="1119780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027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2FB514-5A7B-4782-BA4D-612C3CABCAF6}"/>
              </a:ext>
            </a:extLst>
          </p:cNvPr>
          <p:cNvSpPr txBox="1"/>
          <p:nvPr/>
        </p:nvSpPr>
        <p:spPr>
          <a:xfrm>
            <a:off x="335360" y="5085184"/>
            <a:ext cx="28083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omic Sans MS" panose="030F0702030302020204" pitchFamily="66" charset="0"/>
              </a:rPr>
              <a:t>y=f(X)</a:t>
            </a:r>
            <a:endParaRPr lang="ru-RU" sz="6600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ABE7244-E379-42C4-A68B-161F48D195A3}"/>
              </a:ext>
            </a:extLst>
          </p:cNvPr>
          <p:cNvSpPr txBox="1"/>
          <p:nvPr/>
        </p:nvSpPr>
        <p:spPr>
          <a:xfrm>
            <a:off x="2902968" y="5239756"/>
            <a:ext cx="92890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выдает номер кластера для каждой точки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428B3BE8-654D-48E1-A778-BAE8E04DF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521" y="1592102"/>
            <a:ext cx="4032448" cy="2931826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D5FFF451-92C6-4DC5-9033-E963FB5FE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513" y="1565798"/>
            <a:ext cx="4114463" cy="298443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3A165CA-3B0E-4C5E-B52D-E957B7A1BAD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80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4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Расстояние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9A87B2A-AE8C-49BA-AD7F-BC8F648A0B07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/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p>
                        <m:sSup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28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a:rPr lang="en-US" sz="2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sz="1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2240C368-8E1B-412B-B4D8-A516CC8AD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919" y="1654136"/>
                <a:ext cx="163705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/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3826841E-3821-4653-B228-88A477D298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241185"/>
                <a:ext cx="5461722" cy="4852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571D4E9-DE58-4F03-9892-6F50DB6E14B7}"/>
              </a:ext>
            </a:extLst>
          </p:cNvPr>
          <p:cNvSpPr/>
          <p:nvPr/>
        </p:nvSpPr>
        <p:spPr>
          <a:xfrm>
            <a:off x="5059569" y="2333945"/>
            <a:ext cx="31205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Евклидово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/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limLoc m:val="subSup"/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836DE877-CCA0-4853-B5F4-C7F04B9784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2822923"/>
                <a:ext cx="5069836" cy="469616"/>
              </a:xfrm>
              <a:prstGeom prst="rect">
                <a:avLst/>
              </a:prstGeom>
              <a:blipFill>
                <a:blip r:embed="rId6"/>
                <a:stretch>
                  <a:fillRect l="-361" t="-125974" b="-1935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8178DAD7-5CA2-4469-ACB5-1C8673611378}"/>
              </a:ext>
            </a:extLst>
          </p:cNvPr>
          <p:cNvSpPr/>
          <p:nvPr/>
        </p:nvSpPr>
        <p:spPr>
          <a:xfrm>
            <a:off x="4471288" y="2819206"/>
            <a:ext cx="3701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Манхэттенское расстояние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/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</m:sSup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ru-RU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A32E408D-ABEF-48D9-9CD2-6F5AE9F198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71743"/>
                <a:ext cx="4556720" cy="461665"/>
              </a:xfrm>
              <a:prstGeom prst="rect">
                <a:avLst/>
              </a:prstGeom>
              <a:blipFill>
                <a:blip r:embed="rId7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17006FC-3D16-4B4D-A2B3-A1D4A504382A}"/>
              </a:ext>
            </a:extLst>
          </p:cNvPr>
          <p:cNvSpPr/>
          <p:nvPr/>
        </p:nvSpPr>
        <p:spPr>
          <a:xfrm>
            <a:off x="4912693" y="3371743"/>
            <a:ext cx="30802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Чебышева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F369257B-525D-4F67-9E63-E21342A10EB1}"/>
                  </a:ext>
                </a:extLst>
              </p:cNvPr>
              <p:cNvSpPr/>
              <p:nvPr/>
            </p:nvSpPr>
            <p:spPr>
              <a:xfrm>
                <a:off x="170666" y="3886820"/>
                <a:ext cx="6280248" cy="5125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nary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F369257B-525D-4F67-9E63-E21342A10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66" y="3886820"/>
                <a:ext cx="6280248" cy="51251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F9D4CBF-4B3A-44D2-A55F-CECB01CADCC0}"/>
              </a:ext>
            </a:extLst>
          </p:cNvPr>
          <p:cNvSpPr/>
          <p:nvPr/>
        </p:nvSpPr>
        <p:spPr>
          <a:xfrm>
            <a:off x="4797260" y="3868865"/>
            <a:ext cx="34602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Расстояние </a:t>
            </a:r>
            <a:r>
              <a:rPr lang="ru-RU" sz="2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Минковского</a:t>
            </a:r>
            <a:endParaRPr lang="ru-RU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63776920-00A8-4A6C-BA5D-655F7DAEE2BC}"/>
              </a:ext>
            </a:extLst>
          </p:cNvPr>
          <p:cNvSpPr/>
          <p:nvPr/>
        </p:nvSpPr>
        <p:spPr>
          <a:xfrm>
            <a:off x="1546153" y="6434445"/>
            <a:ext cx="856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P=1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44919E31-7D87-48F2-8D30-36DF8D1438E5}"/>
              </a:ext>
            </a:extLst>
          </p:cNvPr>
          <p:cNvSpPr/>
          <p:nvPr/>
        </p:nvSpPr>
        <p:spPr>
          <a:xfrm>
            <a:off x="4603391" y="6399500"/>
            <a:ext cx="1477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 ~ 1.5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2246F6B-8336-4E84-A0C6-01BE2874C7A4}"/>
              </a:ext>
            </a:extLst>
          </p:cNvPr>
          <p:cNvSpPr/>
          <p:nvPr/>
        </p:nvSpPr>
        <p:spPr>
          <a:xfrm>
            <a:off x="7766053" y="6388675"/>
            <a:ext cx="8568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P=2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EBA07C1-9656-43A8-B5D9-D78798A48D78}"/>
              </a:ext>
            </a:extLst>
          </p:cNvPr>
          <p:cNvSpPr/>
          <p:nvPr/>
        </p:nvSpPr>
        <p:spPr>
          <a:xfrm>
            <a:off x="10354537" y="6451560"/>
            <a:ext cx="13592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P~∞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A82FA8AD-A9DE-431F-987A-EF905ABD1E45}"/>
              </a:ext>
            </a:extLst>
          </p:cNvPr>
          <p:cNvSpPr/>
          <p:nvPr/>
        </p:nvSpPr>
        <p:spPr>
          <a:xfrm>
            <a:off x="7195626" y="4291354"/>
            <a:ext cx="1924710" cy="252202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F9551B21-1B6C-41B3-A8EB-061B6BD6A7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246" y="4541101"/>
            <a:ext cx="1847574" cy="1847574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DCC129F7-6428-4B5B-9C80-ED9346B019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2025" y="4504137"/>
            <a:ext cx="1851911" cy="1847574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75955F55-971B-469F-85DA-1C463CFCE5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1884" y="4504137"/>
            <a:ext cx="1851911" cy="184757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D6279FED-16F5-4DC0-AE40-60F1770F9E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0801" y="4403862"/>
            <a:ext cx="1943287" cy="1947849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9624392" y="2276872"/>
            <a:ext cx="360040" cy="360000"/>
          </a:xfrm>
          <a:prstGeom prst="ellipse">
            <a:avLst/>
          </a:prstGeom>
          <a:solidFill>
            <a:srgbClr val="FF0000"/>
          </a:solidFill>
          <a:ln>
            <a:solidFill>
              <a:srgbClr val="BD1705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11064552" y="1340768"/>
            <a:ext cx="360040" cy="36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Заголовок 1">
            <a:extLst>
              <a:ext uri="{FF2B5EF4-FFF2-40B4-BE49-F238E27FC236}">
                <a16:creationId xmlns:a16="http://schemas.microsoft.com/office/drawing/2014/main" id="{BDF9B44B-7BAD-4BB5-B40B-80E005297D87}"/>
              </a:ext>
            </a:extLst>
          </p:cNvPr>
          <p:cNvSpPr txBox="1">
            <a:spLocks/>
          </p:cNvSpPr>
          <p:nvPr/>
        </p:nvSpPr>
        <p:spPr>
          <a:xfrm>
            <a:off x="1055440" y="908720"/>
            <a:ext cx="10280858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Стандартные метрики</a:t>
            </a:r>
          </a:p>
        </p:txBody>
      </p:sp>
    </p:spTree>
    <p:extLst>
      <p:ext uri="{BB962C8B-B14F-4D97-AF65-F5344CB8AC3E}">
        <p14:creationId xmlns:p14="http://schemas.microsoft.com/office/powerpoint/2010/main" val="347969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 К-средних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6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1268760"/>
            <a:ext cx="7960882" cy="447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90500" y="6381328"/>
            <a:ext cx="12001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</a:p>
        </p:txBody>
      </p:sp>
    </p:spTree>
    <p:extLst>
      <p:ext uri="{BB962C8B-B14F-4D97-AF65-F5344CB8AC3E}">
        <p14:creationId xmlns:p14="http://schemas.microsoft.com/office/powerpoint/2010/main" val="200429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087" y="1119780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30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6AF62B5-6867-4DAA-8B61-BEA422D06253}"/>
              </a:ext>
            </a:extLst>
          </p:cNvPr>
          <p:cNvSpPr/>
          <p:nvPr/>
        </p:nvSpPr>
        <p:spPr>
          <a:xfrm>
            <a:off x="12978" y="980728"/>
            <a:ext cx="6264696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Expectation Maximization</a:t>
            </a:r>
            <a:endParaRPr lang="ru-RU" sz="29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76AF62B5-6867-4DAA-8B61-BEA422D06253}"/>
              </a:ext>
            </a:extLst>
          </p:cNvPr>
          <p:cNvSpPr/>
          <p:nvPr/>
        </p:nvSpPr>
        <p:spPr>
          <a:xfrm>
            <a:off x="3431704" y="5805264"/>
            <a:ext cx="519969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Вместо 16 на 16 слов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6AF62B5-6867-4DAA-8B61-BEA422D06253}"/>
              </a:ext>
            </a:extLst>
          </p:cNvPr>
          <p:cNvSpPr/>
          <p:nvPr/>
        </p:nvSpPr>
        <p:spPr>
          <a:xfrm>
            <a:off x="6096000" y="980728"/>
            <a:ext cx="6299635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9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Mixture of Gaussians Models</a:t>
            </a:r>
            <a:endParaRPr lang="ru-RU" sz="29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pic>
        <p:nvPicPr>
          <p:cNvPr id="11" name="Picture 10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628800"/>
            <a:ext cx="7392963" cy="4158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63352" y="6381328"/>
            <a:ext cx="1144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04184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Что если…?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Прямоугольник с двумя усеченными соседними углами 28"/>
          <p:cNvSpPr/>
          <p:nvPr/>
        </p:nvSpPr>
        <p:spPr>
          <a:xfrm>
            <a:off x="9692640" y="1554480"/>
            <a:ext cx="2020824" cy="966216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FD0002">
              <a:alpha val="50196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с двумя усеченными соседними углами 29"/>
          <p:cNvSpPr/>
          <p:nvPr/>
        </p:nvSpPr>
        <p:spPr>
          <a:xfrm>
            <a:off x="7388352" y="1956816"/>
            <a:ext cx="2916936" cy="557784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01C601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/>
          <p:cNvSpPr/>
          <p:nvPr/>
        </p:nvSpPr>
        <p:spPr>
          <a:xfrm>
            <a:off x="8564880" y="2173224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/>
          <p:cNvSpPr/>
          <p:nvPr/>
        </p:nvSpPr>
        <p:spPr>
          <a:xfrm>
            <a:off x="9137904" y="2170176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9985248" y="2167128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Овал 33"/>
          <p:cNvSpPr/>
          <p:nvPr/>
        </p:nvSpPr>
        <p:spPr>
          <a:xfrm>
            <a:off x="7339584" y="2145792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Овал 34"/>
          <p:cNvSpPr/>
          <p:nvPr/>
        </p:nvSpPr>
        <p:spPr>
          <a:xfrm>
            <a:off x="8086344" y="2151888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/>
          <p:cNvSpPr/>
          <p:nvPr/>
        </p:nvSpPr>
        <p:spPr>
          <a:xfrm>
            <a:off x="10146792" y="2164080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/>
          <p:cNvSpPr/>
          <p:nvPr/>
        </p:nvSpPr>
        <p:spPr>
          <a:xfrm>
            <a:off x="10829544" y="2179320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/>
          <p:cNvSpPr/>
          <p:nvPr/>
        </p:nvSpPr>
        <p:spPr>
          <a:xfrm>
            <a:off x="10634472" y="2194560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/>
          <p:cNvSpPr/>
          <p:nvPr/>
        </p:nvSpPr>
        <p:spPr>
          <a:xfrm>
            <a:off x="10402824" y="2173224"/>
            <a:ext cx="332232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Овал 40"/>
          <p:cNvSpPr/>
          <p:nvPr/>
        </p:nvSpPr>
        <p:spPr>
          <a:xfrm>
            <a:off x="9640824" y="2151888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/>
          <p:cNvSpPr/>
          <p:nvPr/>
        </p:nvSpPr>
        <p:spPr>
          <a:xfrm>
            <a:off x="11347704" y="2157984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3EA8F922-8A51-411F-8BF5-9640CD66F75A}"/>
                  </a:ext>
                </a:extLst>
              </p:cNvPr>
              <p:cNvSpPr/>
              <p:nvPr/>
            </p:nvSpPr>
            <p:spPr>
              <a:xfrm>
                <a:off x="621963" y="1579367"/>
                <a:ext cx="1750544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ru-RU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3EA8F922-8A51-411F-8BF5-9640CD66F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63" y="1579367"/>
                <a:ext cx="1750544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829A84F2-E167-48E1-9970-1C0EEBE7DAC3}"/>
                  </a:ext>
                </a:extLst>
              </p:cNvPr>
              <p:cNvSpPr/>
              <p:nvPr/>
            </p:nvSpPr>
            <p:spPr>
              <a:xfrm>
                <a:off x="2497842" y="1552637"/>
                <a:ext cx="180062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829A84F2-E167-48E1-9970-1C0EEBE7D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842" y="1552637"/>
                <a:ext cx="180062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F4296894-928C-4131-952C-C03B42C782D9}"/>
                  </a:ext>
                </a:extLst>
              </p:cNvPr>
              <p:cNvSpPr/>
              <p:nvPr/>
            </p:nvSpPr>
            <p:spPr>
              <a:xfrm>
                <a:off x="396599" y="2528833"/>
                <a:ext cx="11843026" cy="13512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2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sepChr m:val="∣"/>
                        <m:ctrlPr>
                          <a:rPr lang="ru-RU" sz="2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ru-RU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Sup>
                              <m:sSubSupPr>
                                <m:ctrlPr>
                                  <a:rPr lang="ru-RU" sz="2800" i="1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sub>
                              <m:sup>
                                <m:r>
                                  <a:rPr lang="ru-RU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ru-RU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exp</m:t>
                    </m:r>
                    <m:r>
                      <a:rPr lang="ru-RU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(−</m:t>
                    </m:r>
                    <m:f>
                      <m:fPr>
                        <m:ctrlP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ru-RU" sz="28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ru-RU" sz="28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sz="2800" i="1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800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2800" b="0" i="1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sz="2800" i="1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800" b="0" i="1" smtClean="0">
                                            <a:solidFill>
                                              <a:srgbClr val="00B0F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ru-RU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ru-RU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sSubSupPr>
                            <m:ctrlPr>
                              <a:rPr lang="ru-RU" sz="2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>
                            <m:r>
                              <a:rPr lang="ru-RU" sz="28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ru-RU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en-US" sz="2800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 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–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Гауссово распределение</a:t>
                </a:r>
                <a:endParaRPr lang="ru-RU" sz="2800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F4296894-928C-4131-952C-C03B42C78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99" y="2528833"/>
                <a:ext cx="11843026" cy="135126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Прямоугольник с двумя усеченными соседними углами 59"/>
          <p:cNvSpPr/>
          <p:nvPr/>
        </p:nvSpPr>
        <p:spPr>
          <a:xfrm>
            <a:off x="9937404" y="4481252"/>
            <a:ext cx="2020824" cy="966216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FD0002">
              <a:alpha val="50196"/>
            </a:srgb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с двумя усеченными соседними углами 60"/>
          <p:cNvSpPr/>
          <p:nvPr/>
        </p:nvSpPr>
        <p:spPr>
          <a:xfrm>
            <a:off x="7633116" y="4883588"/>
            <a:ext cx="2916936" cy="557784"/>
          </a:xfrm>
          <a:prstGeom prst="snip2SameRect">
            <a:avLst>
              <a:gd name="adj1" fmla="val 50000"/>
              <a:gd name="adj2" fmla="val 0"/>
            </a:avLst>
          </a:prstGeom>
          <a:solidFill>
            <a:srgbClr val="01C601">
              <a:alpha val="50196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/>
          <p:cNvSpPr/>
          <p:nvPr/>
        </p:nvSpPr>
        <p:spPr>
          <a:xfrm>
            <a:off x="8809644" y="509999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/>
          <p:cNvSpPr/>
          <p:nvPr/>
        </p:nvSpPr>
        <p:spPr>
          <a:xfrm>
            <a:off x="9382668" y="5096948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Овал 63"/>
          <p:cNvSpPr/>
          <p:nvPr/>
        </p:nvSpPr>
        <p:spPr>
          <a:xfrm>
            <a:off x="10230012" y="509390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Овал 64"/>
          <p:cNvSpPr/>
          <p:nvPr/>
        </p:nvSpPr>
        <p:spPr>
          <a:xfrm>
            <a:off x="7584348" y="5072564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Овал 65"/>
          <p:cNvSpPr/>
          <p:nvPr/>
        </p:nvSpPr>
        <p:spPr>
          <a:xfrm>
            <a:off x="8331108" y="507866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/>
          <p:cNvSpPr/>
          <p:nvPr/>
        </p:nvSpPr>
        <p:spPr>
          <a:xfrm>
            <a:off x="10391556" y="509085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/>
          <p:cNvSpPr/>
          <p:nvPr/>
        </p:nvSpPr>
        <p:spPr>
          <a:xfrm>
            <a:off x="11074308" y="510609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/>
          <p:cNvSpPr/>
          <p:nvPr/>
        </p:nvSpPr>
        <p:spPr>
          <a:xfrm>
            <a:off x="10879236" y="5121332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/>
          <p:cNvSpPr/>
          <p:nvPr/>
        </p:nvSpPr>
        <p:spPr>
          <a:xfrm>
            <a:off x="10647588" y="5099996"/>
            <a:ext cx="332232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/>
          <p:cNvSpPr/>
          <p:nvPr/>
        </p:nvSpPr>
        <p:spPr>
          <a:xfrm>
            <a:off x="9885588" y="5078660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/>
          <p:cNvSpPr/>
          <p:nvPr/>
        </p:nvSpPr>
        <p:spPr>
          <a:xfrm>
            <a:off x="11592468" y="5084756"/>
            <a:ext cx="360000" cy="360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/>
          <p:cNvSpPr/>
          <p:nvPr/>
        </p:nvSpPr>
        <p:spPr>
          <a:xfrm>
            <a:off x="8822344" y="5099996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Овал 73"/>
          <p:cNvSpPr/>
          <p:nvPr/>
        </p:nvSpPr>
        <p:spPr>
          <a:xfrm>
            <a:off x="9395368" y="5096948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вал 74"/>
          <p:cNvSpPr/>
          <p:nvPr/>
        </p:nvSpPr>
        <p:spPr>
          <a:xfrm>
            <a:off x="10242712" y="5093900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6" name="Овал 75"/>
          <p:cNvSpPr/>
          <p:nvPr/>
        </p:nvSpPr>
        <p:spPr>
          <a:xfrm>
            <a:off x="7597048" y="5072564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lt1"/>
              </a:solidFill>
            </a:endParaRPr>
          </a:p>
        </p:txBody>
      </p:sp>
      <p:sp>
        <p:nvSpPr>
          <p:cNvPr id="77" name="Овал 76"/>
          <p:cNvSpPr/>
          <p:nvPr/>
        </p:nvSpPr>
        <p:spPr>
          <a:xfrm>
            <a:off x="8343808" y="5078660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Овал 77"/>
          <p:cNvSpPr/>
          <p:nvPr/>
        </p:nvSpPr>
        <p:spPr>
          <a:xfrm>
            <a:off x="10404256" y="5090852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Овал 78"/>
          <p:cNvSpPr/>
          <p:nvPr/>
        </p:nvSpPr>
        <p:spPr>
          <a:xfrm>
            <a:off x="11087008" y="5106092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Овал 79"/>
          <p:cNvSpPr/>
          <p:nvPr/>
        </p:nvSpPr>
        <p:spPr>
          <a:xfrm>
            <a:off x="10891936" y="5121332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Овал 80"/>
          <p:cNvSpPr/>
          <p:nvPr/>
        </p:nvSpPr>
        <p:spPr>
          <a:xfrm>
            <a:off x="10660288" y="5099996"/>
            <a:ext cx="332232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Овал 81"/>
          <p:cNvSpPr/>
          <p:nvPr/>
        </p:nvSpPr>
        <p:spPr>
          <a:xfrm>
            <a:off x="9898288" y="5078660"/>
            <a:ext cx="360000" cy="3600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Овал 82"/>
          <p:cNvSpPr/>
          <p:nvPr/>
        </p:nvSpPr>
        <p:spPr>
          <a:xfrm>
            <a:off x="11605168" y="5084756"/>
            <a:ext cx="360000" cy="36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F6AD3137-B3E6-4D6D-A9A4-F2A758937664}"/>
              </a:ext>
            </a:extLst>
          </p:cNvPr>
          <p:cNvSpPr/>
          <p:nvPr/>
        </p:nvSpPr>
        <p:spPr>
          <a:xfrm>
            <a:off x="457200" y="2221952"/>
            <a:ext cx="63818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</a:rPr>
              <a:t>Допустим мы знаем Истинные Классы</a:t>
            </a:r>
            <a:endParaRPr lang="ru-RU" sz="24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87" name="Прямоугольник 86">
            <a:extLst>
              <a:ext uri="{FF2B5EF4-FFF2-40B4-BE49-F238E27FC236}">
                <a16:creationId xmlns:a16="http://schemas.microsoft.com/office/drawing/2014/main" id="{F6AD3137-B3E6-4D6D-A9A4-F2A758937664}"/>
              </a:ext>
            </a:extLst>
          </p:cNvPr>
          <p:cNvSpPr/>
          <p:nvPr/>
        </p:nvSpPr>
        <p:spPr>
          <a:xfrm>
            <a:off x="479376" y="4365104"/>
            <a:ext cx="69381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</a:rPr>
              <a:t>Допустим мы знаем Параметры </a:t>
            </a:r>
            <a:r>
              <a:rPr lang="ru-RU" sz="2400" dirty="0" err="1">
                <a:solidFill>
                  <a:schemeClr val="bg1"/>
                </a:solidFill>
                <a:latin typeface="Montserrat" panose="020B0604020202020204" charset="-52"/>
              </a:rPr>
              <a:t>Гауссиан</a:t>
            </a:r>
            <a:endParaRPr lang="ru-RU" sz="2400" b="1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/>
              <p:nvPr/>
            </p:nvSpPr>
            <p:spPr>
              <a:xfrm>
                <a:off x="596651" y="5374056"/>
                <a:ext cx="5370573" cy="861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Прямоугольник 87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651" y="5374056"/>
                <a:ext cx="5370573" cy="8619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078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9" grpId="0" animBg="1"/>
      <p:bldP spid="30" grpId="0" animBg="1"/>
      <p:bldP spid="45" grpId="0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  <p:bldP spid="87" grpId="0"/>
      <p:bldP spid="8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Многомерный случай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3EA8F922-8A51-411F-8BF5-9640CD66F75A}"/>
                  </a:ext>
                </a:extLst>
              </p:cNvPr>
              <p:cNvSpPr/>
              <p:nvPr/>
            </p:nvSpPr>
            <p:spPr>
              <a:xfrm>
                <a:off x="695400" y="1268760"/>
                <a:ext cx="17702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3EA8F922-8A51-411F-8BF5-9640CD66F7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268760"/>
                <a:ext cx="1770228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29A84F2-E167-48E1-9970-1C0EEBE7DAC3}"/>
                  </a:ext>
                </a:extLst>
              </p:cNvPr>
              <p:cNvSpPr/>
              <p:nvPr/>
            </p:nvSpPr>
            <p:spPr>
              <a:xfrm>
                <a:off x="2783632" y="1196752"/>
                <a:ext cx="1800621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l-GR" sz="3200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ϵ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3200" b="1" dirty="0">
                              <a:solidFill>
                                <a:schemeClr val="bg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829A84F2-E167-48E1-9970-1C0EEBE7DA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32" y="1196752"/>
                <a:ext cx="1800621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08BE7A1-1E50-4CB1-B54B-2234820FC1DE}"/>
                  </a:ext>
                </a:extLst>
              </p:cNvPr>
              <p:cNvSpPr/>
              <p:nvPr/>
            </p:nvSpPr>
            <p:spPr>
              <a:xfrm>
                <a:off x="249382" y="2190266"/>
                <a:ext cx="9937104" cy="11703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280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RU" sz="28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Σ</m:t>
                                      </m:r>
                                    </m:e>
                                    <m:sub>
                                      <m:r>
                                        <a:rPr lang="en-US" sz="28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ru-RU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ru-RU" sz="28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ctrlPr>
                                <a:rPr lang="ru-RU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sty m:val="p"/>
                            </m:rPr>
                            <a:rPr lang="ru-RU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ru-RU" sz="28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p>
                        <m:sSupPr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280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F08BE7A1-1E50-4CB1-B54B-2234820FC1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382" y="2190266"/>
                <a:ext cx="9937104" cy="11703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/>
              <p:nvPr/>
            </p:nvSpPr>
            <p:spPr>
              <a:xfrm>
                <a:off x="104603" y="3347102"/>
                <a:ext cx="12572096" cy="6908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chemeClr val="bg1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3600" b="1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  <m:r>
                          <a:rPr lang="ru-RU" sz="3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ru-R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3600" dirty="0">
                    <a:solidFill>
                      <a:schemeClr val="bg1"/>
                    </a:solidFill>
                  </a:rPr>
                  <a:t> 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средние значения каждого из p признаков для класса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03" y="3347102"/>
                <a:ext cx="12572096" cy="690895"/>
              </a:xfrm>
              <a:prstGeom prst="rect">
                <a:avLst/>
              </a:prstGeom>
              <a:blipFill>
                <a:blip r:embed="rId7"/>
                <a:stretch>
                  <a:fillRect b="-123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/>
              <p:nvPr/>
            </p:nvSpPr>
            <p:spPr>
              <a:xfrm>
                <a:off x="119110" y="4137884"/>
                <a:ext cx="10651570" cy="6908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3600" b="1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-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матрица ковариации всех p признаков для класса 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</a:t>
                </a:r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10" y="4137884"/>
                <a:ext cx="10651570" cy="690895"/>
              </a:xfrm>
              <a:prstGeom prst="rect">
                <a:avLst/>
              </a:prstGeom>
              <a:blipFill>
                <a:blip r:embed="rId8"/>
                <a:stretch>
                  <a:fillRect b="-11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56C2684-ED02-489D-BBE9-DB48EDEF65E0}"/>
                  </a:ext>
                </a:extLst>
              </p:cNvPr>
              <p:cNvSpPr/>
              <p:nvPr/>
            </p:nvSpPr>
            <p:spPr>
              <a:xfrm>
                <a:off x="84408" y="4854002"/>
                <a:ext cx="5716693" cy="6908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ru-RU" sz="36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36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ru-RU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sz="3600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ϵ</m:t>
                        </m:r>
                        <m:r>
                          <m:rPr>
                            <m:nor/>
                          </m:rPr>
                          <a:rPr lang="en-US" sz="3600" b="1" dirty="0">
                            <a:solidFill>
                              <a:schemeClr val="bg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определитель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ru-RU" sz="28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F56C2684-ED02-489D-BBE9-DB48EDEF6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8" y="4854002"/>
                <a:ext cx="5716693" cy="690895"/>
              </a:xfrm>
              <a:prstGeom prst="rect">
                <a:avLst/>
              </a:prstGeom>
              <a:blipFill>
                <a:blip r:embed="rId9"/>
                <a:stretch>
                  <a:fillRect b="-114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33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 «живом» примере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/>
              <p:nvPr/>
            </p:nvSpPr>
            <p:spPr>
              <a:xfrm>
                <a:off x="367151" y="4777549"/>
                <a:ext cx="52278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−0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88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51" y="4777549"/>
                <a:ext cx="52278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/>
              <p:nvPr/>
            </p:nvSpPr>
            <p:spPr>
              <a:xfrm>
                <a:off x="1621987" y="5450635"/>
                <a:ext cx="3435684" cy="8195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8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.45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−1.90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−1.90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1.71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ru-RU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87" y="5450635"/>
                <a:ext cx="3435684" cy="8195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/>
              <p:nvPr/>
            </p:nvSpPr>
            <p:spPr>
              <a:xfrm>
                <a:off x="6250395" y="4721719"/>
                <a:ext cx="522789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−2.00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0.08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3B01388A-D921-49BE-B900-09A4F93C0D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395" y="4721719"/>
                <a:ext cx="522789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/>
              <p:nvPr/>
            </p:nvSpPr>
            <p:spPr>
              <a:xfrm>
                <a:off x="7505231" y="5394805"/>
                <a:ext cx="2900281" cy="8107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sz="280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0.97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0.01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0.81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endParaRPr lang="ru-RU" sz="20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EE58307B-BE82-4D2D-AD5C-32DB5A1179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231" y="5394805"/>
                <a:ext cx="2900281" cy="8107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Рисунок 23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5930" y="1258431"/>
            <a:ext cx="3631597" cy="3521838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94122" y="1249377"/>
            <a:ext cx="3668899" cy="355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33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Пошагово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Прямоугольник 52">
                <a:extLst>
                  <a:ext uri="{FF2B5EF4-FFF2-40B4-BE49-F238E27FC236}">
                    <a16:creationId xmlns:a16="http://schemas.microsoft.com/office/drawing/2014/main" id="{F6AD3137-B3E6-4D6D-A9A4-F2A758937664}"/>
                  </a:ext>
                </a:extLst>
              </p:cNvPr>
              <p:cNvSpPr/>
              <p:nvPr/>
            </p:nvSpPr>
            <p:spPr>
              <a:xfrm>
                <a:off x="551384" y="1345598"/>
                <a:ext cx="5988371" cy="534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Задаем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и</a:t>
                </a:r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случайным образом</a:t>
                </a:r>
              </a:p>
            </p:txBody>
          </p:sp>
        </mc:Choice>
        <mc:Fallback xmlns="">
          <p:sp>
            <p:nvSpPr>
              <p:cNvPr id="53" name="Прямоугольник 52">
                <a:extLst>
                  <a:ext uri="{FF2B5EF4-FFF2-40B4-BE49-F238E27FC236}">
                    <a16:creationId xmlns:a16="http://schemas.microsoft.com/office/drawing/2014/main" id="{F6AD3137-B3E6-4D6D-A9A4-F2A758937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1345598"/>
                <a:ext cx="5988371" cy="534826"/>
              </a:xfrm>
              <a:prstGeom prst="rect">
                <a:avLst/>
              </a:prstGeom>
              <a:blipFill>
                <a:blip r:embed="rId4"/>
                <a:stretch>
                  <a:fillRect l="-1526" t="-11494" r="-509" b="-103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F6AD3137-B3E6-4D6D-A9A4-F2A758937664}"/>
              </a:ext>
            </a:extLst>
          </p:cNvPr>
          <p:cNvSpPr/>
          <p:nvPr/>
        </p:nvSpPr>
        <p:spPr>
          <a:xfrm>
            <a:off x="155144" y="1854614"/>
            <a:ext cx="3172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Шаг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Ожидание)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F6AD3137-B3E6-4D6D-A9A4-F2A758937664}"/>
                  </a:ext>
                </a:extLst>
              </p:cNvPr>
              <p:cNvSpPr/>
              <p:nvPr/>
            </p:nvSpPr>
            <p:spPr>
              <a:xfrm>
                <a:off x="767408" y="4653136"/>
                <a:ext cx="4050340" cy="5348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Пересчитываем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sz="24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и</a:t>
                </a:r>
                <a:r>
                  <a:rPr lang="en-US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sSub>
                          <m:sSubPr>
                            <m:ctrlP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endParaRPr lang="ru-RU" sz="2400" dirty="0">
                  <a:solidFill>
                    <a:srgbClr val="00B0F0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F6AD3137-B3E6-4D6D-A9A4-F2A758937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4653136"/>
                <a:ext cx="4050340" cy="534826"/>
              </a:xfrm>
              <a:prstGeom prst="rect">
                <a:avLst/>
              </a:prstGeom>
              <a:blipFill>
                <a:blip r:embed="rId5"/>
                <a:stretch>
                  <a:fillRect l="-2410" t="-11364" b="-90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6AD3137-B3E6-4D6D-A9A4-F2A758937664}"/>
              </a:ext>
            </a:extLst>
          </p:cNvPr>
          <p:cNvSpPr/>
          <p:nvPr/>
        </p:nvSpPr>
        <p:spPr>
          <a:xfrm>
            <a:off x="188672" y="4046126"/>
            <a:ext cx="39533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Шаг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Максимизация)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Прямоугольник 56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/>
              <p:nvPr/>
            </p:nvSpPr>
            <p:spPr>
              <a:xfrm>
                <a:off x="476260" y="2387908"/>
                <a:ext cx="6357051" cy="8660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Присваиваем каждой точке наиболее вероятный класс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u-RU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ru-RU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sz="2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4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7" name="Прямоугольник 56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60" y="2387908"/>
                <a:ext cx="6357051" cy="866006"/>
              </a:xfrm>
              <a:prstGeom prst="rect">
                <a:avLst/>
              </a:prstGeom>
              <a:blipFill>
                <a:blip r:embed="rId6"/>
                <a:stretch>
                  <a:fillRect l="-1438" t="-5634" b="-98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/>
              <p:nvPr/>
            </p:nvSpPr>
            <p:spPr>
              <a:xfrm>
                <a:off x="911424" y="3284984"/>
                <a:ext cx="5370573" cy="8619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sepChr m:val="∣"/>
                          <m:ctrlP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ru-RU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sepChr m:val="∣"/>
                              <m:ctrlPr>
                                <a:rPr lang="ru-RU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ru-RU" sz="2800" i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8" name="Прямоугольник 57">
                <a:extLst>
                  <a:ext uri="{FF2B5EF4-FFF2-40B4-BE49-F238E27FC236}">
                    <a16:creationId xmlns:a16="http://schemas.microsoft.com/office/drawing/2014/main" id="{105071C8-6833-49D0-B4AA-6E6D472B85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24" y="3284984"/>
                <a:ext cx="5370573" cy="86196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F6AD3137-B3E6-4D6D-A9A4-F2A758937664}"/>
              </a:ext>
            </a:extLst>
          </p:cNvPr>
          <p:cNvSpPr/>
          <p:nvPr/>
        </p:nvSpPr>
        <p:spPr>
          <a:xfrm>
            <a:off x="216744" y="5479132"/>
            <a:ext cx="65053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Повторяем Шаги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и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 до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сходимости</a:t>
            </a:r>
          </a:p>
        </p:txBody>
      </p:sp>
      <p:pic>
        <p:nvPicPr>
          <p:cNvPr id="17" name="Picture 4" descr="em_0.pn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341"/>
          <a:stretch/>
        </p:blipFill>
        <p:spPr bwMode="auto">
          <a:xfrm>
            <a:off x="6888088" y="1556792"/>
            <a:ext cx="1554670" cy="183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em_1.png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06"/>
          <a:stretch/>
        </p:blipFill>
        <p:spPr bwMode="auto">
          <a:xfrm>
            <a:off x="8616280" y="1556793"/>
            <a:ext cx="1540449" cy="182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Рисунок 18"/>
          <p:cNvPicPr>
            <a:picLocks noChangeAspect="1"/>
          </p:cNvPicPr>
          <p:nvPr/>
        </p:nvPicPr>
        <p:blipFill rotWithShape="1">
          <a:blip r:embed="rId10"/>
          <a:srcRect r="52634"/>
          <a:stretch/>
        </p:blipFill>
        <p:spPr>
          <a:xfrm>
            <a:off x="10344472" y="1556792"/>
            <a:ext cx="1512168" cy="1795800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11"/>
          <a:srcRect r="52469"/>
          <a:stretch/>
        </p:blipFill>
        <p:spPr>
          <a:xfrm>
            <a:off x="6888088" y="3645024"/>
            <a:ext cx="1512168" cy="1789565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 rotWithShape="1">
          <a:blip r:embed="rId12"/>
          <a:srcRect r="52964"/>
          <a:stretch/>
        </p:blipFill>
        <p:spPr>
          <a:xfrm>
            <a:off x="8616280" y="3645024"/>
            <a:ext cx="1512168" cy="1808401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 rotWithShape="1">
          <a:blip r:embed="rId13"/>
          <a:srcRect r="52799"/>
          <a:stretch/>
        </p:blipFill>
        <p:spPr>
          <a:xfrm>
            <a:off x="10344472" y="3645024"/>
            <a:ext cx="1525041" cy="1817419"/>
          </a:xfrm>
          <a:prstGeom prst="rect">
            <a:avLst/>
          </a:prstGeom>
        </p:spPr>
      </p:pic>
      <p:sp>
        <p:nvSpPr>
          <p:cNvPr id="24" name="Прямоугольник 23"/>
          <p:cNvSpPr/>
          <p:nvPr/>
        </p:nvSpPr>
        <p:spPr>
          <a:xfrm>
            <a:off x="335360" y="6093296"/>
            <a:ext cx="114492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https://github.com/dashee87/blogScripts/blob/master/Jupyter/2017-05-09-Clustering-with-Scikit-with-GIFs.ipynb</a:t>
            </a:r>
            <a:endParaRPr lang="en-US" sz="1400" b="0" i="0" dirty="0">
              <a:solidFill>
                <a:schemeClr val="bg1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50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3" grpId="0"/>
      <p:bldP spid="54" grpId="0"/>
      <p:bldP spid="55" grpId="0"/>
      <p:bldP spid="56" grpId="0"/>
      <p:bldP spid="57" grpId="0"/>
      <p:bldP spid="58" grpId="0"/>
      <p:bldP spid="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err="1" smtClean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Гиперпараметр</a:t>
            </a:r>
            <a:r>
              <a:rPr lang="ru-RU" sz="3200" b="1" dirty="0" smtClean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модели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-10103" y="3267805"/>
            <a:ext cx="44644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bg2"/>
              </a:buClr>
            </a:pPr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‘</a:t>
            </a:r>
            <a:r>
              <a:rPr lang="ru-RU" dirty="0" err="1">
                <a:solidFill>
                  <a:srgbClr val="FF0000"/>
                </a:solidFill>
                <a:latin typeface="Montserrat" panose="020B0604020202020204" charset="-52"/>
              </a:rPr>
              <a:t>full</a:t>
            </a:r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’: каждая компонента имеет свою полную ковариационную матрицу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7104112" y="3301835"/>
            <a:ext cx="5184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‘</a:t>
            </a:r>
            <a:r>
              <a:rPr lang="ru-RU" dirty="0" err="1">
                <a:solidFill>
                  <a:srgbClr val="FF0000"/>
                </a:solidFill>
                <a:latin typeface="Montserrat" panose="020B0604020202020204" charset="-52"/>
              </a:rPr>
              <a:t>tied</a:t>
            </a:r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’: все компоненты имеют одну и ту же полную ковариационную матрицу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61905" y="6194490"/>
            <a:ext cx="51125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‘</a:t>
            </a:r>
            <a:r>
              <a:rPr lang="ru-RU" dirty="0" err="1">
                <a:solidFill>
                  <a:srgbClr val="FF0000"/>
                </a:solidFill>
                <a:latin typeface="Montserrat" panose="020B0604020202020204" charset="-52"/>
              </a:rPr>
              <a:t>diag</a:t>
            </a:r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’: каждая компонента имеет свою диагональную ковариационную матрицу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7176121" y="6182155"/>
            <a:ext cx="49685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 ‘</a:t>
            </a:r>
            <a:r>
              <a:rPr lang="ru-RU" dirty="0" err="1">
                <a:solidFill>
                  <a:srgbClr val="FF0000"/>
                </a:solidFill>
                <a:latin typeface="Montserrat" panose="020B0604020202020204" charset="-52"/>
              </a:rPr>
              <a:t>spherical</a:t>
            </a:r>
            <a:r>
              <a:rPr lang="ru-RU" dirty="0">
                <a:solidFill>
                  <a:schemeClr val="bg1"/>
                </a:solidFill>
                <a:latin typeface="Montserrat" panose="020B0604020202020204" charset="-52"/>
              </a:rPr>
              <a:t>’: каждая компонента имеет свою единственную дисперсию.</a:t>
            </a:r>
          </a:p>
        </p:txBody>
      </p:sp>
      <p:pic>
        <p:nvPicPr>
          <p:cNvPr id="33" name="Рисунок 32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0176" y="3949907"/>
            <a:ext cx="3352800" cy="2238375"/>
          </a:xfrm>
          <a:prstGeom prst="rect">
            <a:avLst/>
          </a:prstGeom>
        </p:spPr>
      </p:pic>
      <p:pic>
        <p:nvPicPr>
          <p:cNvPr id="34" name="Рисунок 33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977" y="3987885"/>
            <a:ext cx="3352800" cy="2238375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08168" y="1141595"/>
            <a:ext cx="3352800" cy="2238375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7969" y="1035557"/>
            <a:ext cx="3352800" cy="2238375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4367808" y="1717763"/>
            <a:ext cx="2528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</a:rPr>
              <a:t>covariance_type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'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051061" y="2106518"/>
            <a:ext cx="33050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>
                <a:schemeClr val="bg2"/>
              </a:buClr>
            </a:pPr>
            <a:r>
              <a:rPr lang="ru-RU" dirty="0" smtClean="0">
                <a:solidFill>
                  <a:schemeClr val="bg1"/>
                </a:solidFill>
                <a:latin typeface="Montserrat" panose="020B0604020202020204" charset="-52"/>
              </a:rPr>
              <a:t>Ожидаемый вид матрицы ковариации</a:t>
            </a:r>
            <a:endParaRPr lang="ru-RU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97141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8" grpId="0"/>
      <p:bldP spid="19" grpId="0"/>
      <p:bldP spid="20" grpId="0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776300" y="134972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23663" y="1266603"/>
            <a:ext cx="1236453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Сильные стороны</a:t>
            </a: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Это вероятностный подход, который моделирует данные как смесь вероятностных распределений, что делает его более гибким, чем традиционные методы кластеризации.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Слабые стороны</a:t>
            </a: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Он может быть чувствителен к начальным значениям средних и ковариационных матриц кластеров, что может потребовать нескольких прогонов с разными инициализациями.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Чувствительность к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сингулярностям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(если в каком-то кластере мало точек – могут возникнуть проблемы с матрицей ковариации)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Опять надо задавать числа кластеров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Возможности</a:t>
            </a: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Разные подходы к использованию ковариационной матрицы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EM-кластеризация может быть расширена для обработки негауссовых распределений и включения предварительных знаний о данных.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Трудности</a:t>
            </a: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Другие методы кластеризации, такие как DBSCAN, могут превосходить кластеризацию EM для определенных типов наборов данных (там где есть «структура»)</a:t>
            </a:r>
            <a:endParaRPr lang="en-US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S.W.O.T. (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совместно с </a:t>
            </a:r>
            <a:r>
              <a:rPr lang="en-US" sz="32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ChatGPT</a:t>
            </a:r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35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087" y="1119780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222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873070"/>
            <a:ext cx="7920880" cy="827739"/>
          </a:xfrm>
        </p:spPr>
        <p:txBody>
          <a:bodyPr>
            <a:norm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Алгоритм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Иерархическая кластеризация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191344" y="1700808"/>
            <a:ext cx="90375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</a:t>
            </a:r>
            <a:r>
              <a:rPr lang="tr-T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Оцените матрицу близости для каждой точки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FC0A2E3-866B-42CA-8E87-69D899FCB3F8}"/>
                  </a:ext>
                </a:extLst>
              </p:cNvPr>
              <p:cNvSpPr/>
              <p:nvPr/>
            </p:nvSpPr>
            <p:spPr>
              <a:xfrm>
                <a:off x="1584331" y="2316856"/>
                <a:ext cx="4572000" cy="54213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0FC0A2E3-866B-42CA-8E87-69D899FCB3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331" y="2316856"/>
                <a:ext cx="4572000" cy="5421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Овал 17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276634" y="199300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360415" y="1968687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244884" y="1227032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4884" y="1227032"/>
                <a:ext cx="595804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336360" y="1268760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6360" y="1268760"/>
                <a:ext cx="59792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Овал 29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068721" y="314513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044666" y="244521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1" name="Прямоугольник 30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4666" y="2445212"/>
                <a:ext cx="588110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Овал 31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988602" y="5305377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964547" y="4605450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547" y="4605450"/>
                <a:ext cx="612925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Овал 3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8908482" y="4729314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8884427" y="4029387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427" y="4029387"/>
                <a:ext cx="552010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Овал 36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40730" y="5377385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16675" y="4677458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675" y="4677458"/>
                <a:ext cx="597215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148126" y="2776456"/>
            <a:ext cx="808038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</a:t>
            </a:r>
            <a:r>
              <a:rPr lang="tr-T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Сгруппируйте две ближайшие точки в одну 	группу</a:t>
            </a:r>
          </a:p>
          <a:p>
            <a:pPr lvl="1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Пересчитать матрицу близости</a:t>
            </a:r>
          </a:p>
        </p:txBody>
      </p:sp>
      <p:sp>
        <p:nvSpPr>
          <p:cNvPr id="4" name="Овал 3"/>
          <p:cNvSpPr/>
          <p:nvPr/>
        </p:nvSpPr>
        <p:spPr>
          <a:xfrm>
            <a:off x="9264352" y="1844824"/>
            <a:ext cx="1656184" cy="864096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131757" y="4403128"/>
            <a:ext cx="75770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</a:t>
            </a:r>
            <a:r>
              <a:rPr lang="tr-TR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Повторить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Шаг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2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пока у вас не будет  	только одна группа</a:t>
            </a:r>
          </a:p>
          <a:p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	Следите за матрицей близости на 	каждом шаге</a:t>
            </a: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2" name="Овал 41"/>
          <p:cNvSpPr/>
          <p:nvPr/>
        </p:nvSpPr>
        <p:spPr>
          <a:xfrm>
            <a:off x="9912424" y="5157192"/>
            <a:ext cx="1872208" cy="864096"/>
          </a:xfrm>
          <a:prstGeom prst="ellipse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/>
          <p:cNvSpPr/>
          <p:nvPr/>
        </p:nvSpPr>
        <p:spPr>
          <a:xfrm>
            <a:off x="8688288" y="1844824"/>
            <a:ext cx="3168352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/>
          <p:cNvSpPr/>
          <p:nvPr/>
        </p:nvSpPr>
        <p:spPr>
          <a:xfrm>
            <a:off x="8832304" y="4077072"/>
            <a:ext cx="3240360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/>
          <p:cNvSpPr/>
          <p:nvPr/>
        </p:nvSpPr>
        <p:spPr>
          <a:xfrm>
            <a:off x="8400256" y="1772816"/>
            <a:ext cx="3888432" cy="468052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3071664" y="1349725"/>
            <a:ext cx="5625516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29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29" grpId="0"/>
      <p:bldP spid="39" grpId="0"/>
      <p:bldP spid="4" grpId="0" animBg="1"/>
      <p:bldP spid="41" grpId="0"/>
      <p:bldP spid="42" grpId="0" animBg="1"/>
      <p:bldP spid="43" grpId="0" animBg="1"/>
      <p:bldP spid="44" grpId="0" animBg="1"/>
      <p:bldP spid="4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19536" y="43242"/>
            <a:ext cx="7920880" cy="827739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выбрать </a:t>
            </a:r>
            <a:r>
              <a:rPr lang="ru-RU" sz="3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метрику расстояния для групп точек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911424" y="1349725"/>
            <a:ext cx="10657184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368883" y="235304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432423" y="2791055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Овал 48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60970" y="350517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Овал 50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792463" y="52810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Овал 52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584551" y="4560975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Овал 5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852698" y="5881442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204864"/>
            <a:ext cx="80803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</a:t>
            </a:r>
          </a:p>
          <a:p>
            <a:pPr lvl="1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кратчайшее расстояние между любыми двумя точками в обоих кластерах</a:t>
            </a:r>
          </a:p>
        </p:txBody>
      </p:sp>
      <p:cxnSp>
        <p:nvCxnSpPr>
          <p:cNvPr id="5" name="Прямая соединительная линия 4"/>
          <p:cNvCxnSpPr>
            <a:stCxn id="49" idx="2"/>
            <a:endCxn id="53" idx="6"/>
          </p:cNvCxnSpPr>
          <p:nvPr/>
        </p:nvCxnSpPr>
        <p:spPr>
          <a:xfrm flipH="1">
            <a:off x="10947078" y="4028830"/>
            <a:ext cx="391365" cy="548494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>
            <a:extLst>
              <a:ext uri="{FF2B5EF4-FFF2-40B4-BE49-F238E27FC236}">
                <a16:creationId xmlns:a16="http://schemas.microsoft.com/office/drawing/2014/main" id="{193A367F-40F1-4856-AEDA-73EF6D589691}"/>
              </a:ext>
            </a:extLst>
          </p:cNvPr>
          <p:cNvSpPr/>
          <p:nvPr/>
        </p:nvSpPr>
        <p:spPr>
          <a:xfrm>
            <a:off x="9264351" y="2204864"/>
            <a:ext cx="2684537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6FDCEBC-3704-4AF6-8967-88B61EEA842F}"/>
              </a:ext>
            </a:extLst>
          </p:cNvPr>
          <p:cNvSpPr/>
          <p:nvPr/>
        </p:nvSpPr>
        <p:spPr>
          <a:xfrm>
            <a:off x="9624391" y="4437112"/>
            <a:ext cx="2160241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06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368883" y="235304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432423" y="2791055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Овал 48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60970" y="350517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Овал 50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792463" y="52810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Овал 52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584551" y="4560975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Овал 5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852698" y="5881442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Овал 56"/>
          <p:cNvSpPr/>
          <p:nvPr/>
        </p:nvSpPr>
        <p:spPr>
          <a:xfrm>
            <a:off x="9264351" y="2204864"/>
            <a:ext cx="2684537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9624391" y="4437112"/>
            <a:ext cx="2160241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204864"/>
            <a:ext cx="92236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</a:t>
            </a: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cxnSp>
        <p:nvCxnSpPr>
          <p:cNvPr id="5" name="Прямая соединительная линия 4"/>
          <p:cNvCxnSpPr>
            <a:stCxn id="40" idx="2"/>
            <a:endCxn id="55" idx="6"/>
          </p:cNvCxnSpPr>
          <p:nvPr/>
        </p:nvCxnSpPr>
        <p:spPr>
          <a:xfrm>
            <a:off x="10546356" y="2876700"/>
            <a:ext cx="668869" cy="3021091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780928"/>
            <a:ext cx="808038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(Полная связь)</a:t>
            </a:r>
          </a:p>
          <a:p>
            <a:pPr lvl="1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наибольшее расстояние между любыми двумя точками в обоих кластерах</a:t>
            </a:r>
          </a:p>
        </p:txBody>
      </p:sp>
      <p:sp>
        <p:nvSpPr>
          <p:cNvPr id="2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выбрать метрику расстояния для групп точек?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2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368883" y="235304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432423" y="2791055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Овал 48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60970" y="350517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Овал 50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792463" y="52810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Овал 52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584551" y="4560975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Овал 5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852698" y="5881442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Овал 56"/>
          <p:cNvSpPr/>
          <p:nvPr/>
        </p:nvSpPr>
        <p:spPr>
          <a:xfrm>
            <a:off x="9264351" y="2204864"/>
            <a:ext cx="2684537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9624391" y="4437112"/>
            <a:ext cx="2160241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204864"/>
            <a:ext cx="80803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 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cxnSp>
        <p:nvCxnSpPr>
          <p:cNvPr id="5" name="Прямая соединительная линия 4"/>
          <p:cNvCxnSpPr>
            <a:stCxn id="40" idx="2"/>
            <a:endCxn id="55" idx="6"/>
          </p:cNvCxnSpPr>
          <p:nvPr/>
        </p:nvCxnSpPr>
        <p:spPr>
          <a:xfrm>
            <a:off x="10546356" y="2876700"/>
            <a:ext cx="668869" cy="3021091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780928"/>
            <a:ext cx="8080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(Полная связь)</a:t>
            </a: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3284984"/>
            <a:ext cx="9145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(Средняя связь)</a:t>
            </a:r>
          </a:p>
          <a:p>
            <a:pPr lvl="1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среднее расстояние между каждой точкой в одном кластере и каждой точкой в другом кластере</a:t>
            </a:r>
          </a:p>
        </p:txBody>
      </p:sp>
      <p:cxnSp>
        <p:nvCxnSpPr>
          <p:cNvPr id="27" name="Прямая соединительная линия 26"/>
          <p:cNvCxnSpPr>
            <a:stCxn id="40" idx="2"/>
            <a:endCxn id="53" idx="5"/>
          </p:cNvCxnSpPr>
          <p:nvPr/>
        </p:nvCxnSpPr>
        <p:spPr>
          <a:xfrm>
            <a:off x="10546356" y="2876700"/>
            <a:ext cx="194263" cy="170949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>
            <a:stCxn id="40" idx="1"/>
            <a:endCxn id="51" idx="6"/>
          </p:cNvCxnSpPr>
          <p:nvPr/>
        </p:nvCxnSpPr>
        <p:spPr>
          <a:xfrm flipH="1">
            <a:off x="10154990" y="2867834"/>
            <a:ext cx="597825" cy="242957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46" idx="1"/>
            <a:endCxn id="55" idx="6"/>
          </p:cNvCxnSpPr>
          <p:nvPr/>
        </p:nvCxnSpPr>
        <p:spPr>
          <a:xfrm>
            <a:off x="9816355" y="3305840"/>
            <a:ext cx="1398870" cy="2591951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9912424" y="3212976"/>
            <a:ext cx="118797" cy="2135432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>
            <a:stCxn id="46" idx="1"/>
            <a:endCxn id="53" idx="5"/>
          </p:cNvCxnSpPr>
          <p:nvPr/>
        </p:nvCxnSpPr>
        <p:spPr>
          <a:xfrm>
            <a:off x="9816355" y="3305840"/>
            <a:ext cx="924264" cy="1280350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>
            <a:stCxn id="49" idx="2"/>
            <a:endCxn id="53" idx="6"/>
          </p:cNvCxnSpPr>
          <p:nvPr/>
        </p:nvCxnSpPr>
        <p:spPr>
          <a:xfrm flipH="1">
            <a:off x="10947078" y="4028830"/>
            <a:ext cx="391365" cy="548494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>
            <a:stCxn id="49" idx="2"/>
            <a:endCxn id="55" idx="6"/>
          </p:cNvCxnSpPr>
          <p:nvPr/>
        </p:nvCxnSpPr>
        <p:spPr>
          <a:xfrm flipH="1">
            <a:off x="11215225" y="4028830"/>
            <a:ext cx="123218" cy="1868961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>
            <a:stCxn id="49" idx="2"/>
            <a:endCxn id="51" idx="0"/>
          </p:cNvCxnSpPr>
          <p:nvPr/>
        </p:nvCxnSpPr>
        <p:spPr>
          <a:xfrm flipH="1">
            <a:off x="10316114" y="4028830"/>
            <a:ext cx="1022329" cy="1614752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выбрать метрику расстояния для групп точек?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456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368883" y="235304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432423" y="2791055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Овал 48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60970" y="350517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Овал 50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792463" y="52810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2" name="Прямоугольник 5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Овал 52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584551" y="4560975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Овал 5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852698" y="5881442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Овал 56"/>
          <p:cNvSpPr/>
          <p:nvPr/>
        </p:nvSpPr>
        <p:spPr>
          <a:xfrm>
            <a:off x="9264351" y="2204864"/>
            <a:ext cx="2684537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/>
          <p:cNvSpPr/>
          <p:nvPr/>
        </p:nvSpPr>
        <p:spPr>
          <a:xfrm>
            <a:off x="9624391" y="4437112"/>
            <a:ext cx="2160241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204864"/>
            <a:ext cx="8080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 </a:t>
            </a: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780928"/>
            <a:ext cx="8080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(Полная связь)</a:t>
            </a: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3284984"/>
            <a:ext cx="9145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(Средняя связь) </a:t>
            </a:r>
          </a:p>
        </p:txBody>
      </p:sp>
      <p:cxnSp>
        <p:nvCxnSpPr>
          <p:cNvPr id="27" name="Прямая соединительная линия 26"/>
          <p:cNvCxnSpPr>
            <a:stCxn id="15" idx="2"/>
            <a:endCxn id="18" idx="0"/>
          </p:cNvCxnSpPr>
          <p:nvPr/>
        </p:nvCxnSpPr>
        <p:spPr>
          <a:xfrm>
            <a:off x="10632504" y="3501008"/>
            <a:ext cx="36004" cy="180020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3717032"/>
            <a:ext cx="9145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Centroid 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ru-RU" sz="24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Центроидная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связь)</a:t>
            </a:r>
          </a:p>
          <a:p>
            <a:pPr lvl="1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расстояния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центроида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одного кластера до </a:t>
            </a: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центроида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другого кластера</a:t>
            </a:r>
          </a:p>
        </p:txBody>
      </p:sp>
      <p:sp>
        <p:nvSpPr>
          <p:cNvPr id="15" name="Ромб 14"/>
          <p:cNvSpPr/>
          <p:nvPr/>
        </p:nvSpPr>
        <p:spPr>
          <a:xfrm>
            <a:off x="10416480" y="3068960"/>
            <a:ext cx="432048" cy="432048"/>
          </a:xfrm>
          <a:prstGeom prst="diamond">
            <a:avLst/>
          </a:prstGeom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омб 17"/>
          <p:cNvSpPr/>
          <p:nvPr/>
        </p:nvSpPr>
        <p:spPr>
          <a:xfrm>
            <a:off x="10488488" y="5301208"/>
            <a:ext cx="360040" cy="432048"/>
          </a:xfrm>
          <a:prstGeom prst="diamond">
            <a:avLst/>
          </a:prstGeom>
          <a:ln>
            <a:solidFill>
              <a:srgbClr val="92D05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выбрать метрику расстояния для групп точек?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58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5" grpId="0"/>
      <p:bldP spid="15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204864"/>
            <a:ext cx="8080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 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2780928"/>
            <a:ext cx="80803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(Полная связь)</a:t>
            </a: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3284984"/>
            <a:ext cx="9145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(Средняя связь) 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3717032"/>
            <a:ext cx="91450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Centroid 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</a:t>
            </a:r>
            <a:r>
              <a:rPr lang="ru-RU" sz="24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Центроидная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связь) 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2CC13B1-0D1F-4562-B41F-82569C9EFE73}"/>
              </a:ext>
            </a:extLst>
          </p:cNvPr>
          <p:cNvSpPr/>
          <p:nvPr/>
        </p:nvSpPr>
        <p:spPr>
          <a:xfrm>
            <a:off x="335360" y="4149080"/>
            <a:ext cx="91450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Ward’s </a:t>
            </a:r>
            <a:r>
              <a:rPr lang="tr-TR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linkage</a:t>
            </a:r>
            <a:r>
              <a:rPr lang="ru-RU" sz="24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(Связь Уорда)</a:t>
            </a:r>
          </a:p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средний квадрат расстояния между каждой точкой     в одном кластере до каждой точке в другом кластере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925A4F4E-75DA-4133-BD81-8D008EDD0803}"/>
              </a:ext>
            </a:extLst>
          </p:cNvPr>
          <p:cNvSpPr/>
          <p:nvPr/>
        </p:nvSpPr>
        <p:spPr>
          <a:xfrm rot="6602461" flipH="1">
            <a:off x="10368883" y="2353049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432423" y="2791055"/>
            <a:ext cx="540000" cy="54000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/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9AA02892-976C-4CC0-800B-13903ED4B2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7133" y="1772816"/>
                <a:ext cx="59580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Прямоугольник 36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8368" y="2276872"/>
                <a:ext cx="59792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Овал 37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1160970" y="3505179"/>
            <a:ext cx="540000" cy="54000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6915" y="2805252"/>
                <a:ext cx="588110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Овал 40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9792463" y="5281055"/>
            <a:ext cx="540000" cy="540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8" y="4581128"/>
                <a:ext cx="612925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Овал 42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584551" y="4560975"/>
            <a:ext cx="540000" cy="54000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861048"/>
                <a:ext cx="552010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Овал 44">
            <a:extLst>
              <a:ext uri="{FF2B5EF4-FFF2-40B4-BE49-F238E27FC236}">
                <a16:creationId xmlns:a16="http://schemas.microsoft.com/office/drawing/2014/main" id="{DF0F92D0-A663-4679-8B7E-79255EAC76A0}"/>
              </a:ext>
            </a:extLst>
          </p:cNvPr>
          <p:cNvSpPr/>
          <p:nvPr/>
        </p:nvSpPr>
        <p:spPr>
          <a:xfrm rot="6602461" flipH="1">
            <a:off x="10852698" y="5881442"/>
            <a:ext cx="540000" cy="5400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Прямоугольник 5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/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60" name="Прямоугольник 59">
                <a:extLst>
                  <a:ext uri="{FF2B5EF4-FFF2-40B4-BE49-F238E27FC236}">
                    <a16:creationId xmlns:a16="http://schemas.microsoft.com/office/drawing/2014/main" id="{613C30A3-4F6E-44F3-BD91-D4D5EF9C2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8643" y="5181515"/>
                <a:ext cx="597215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Овал 60"/>
          <p:cNvSpPr/>
          <p:nvPr/>
        </p:nvSpPr>
        <p:spPr>
          <a:xfrm>
            <a:off x="9264351" y="2204864"/>
            <a:ext cx="2684537" cy="2304256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/>
          <p:cNvSpPr/>
          <p:nvPr/>
        </p:nvSpPr>
        <p:spPr>
          <a:xfrm>
            <a:off x="9624391" y="4437112"/>
            <a:ext cx="2160241" cy="2088232"/>
          </a:xfrm>
          <a:prstGeom prst="ellipse">
            <a:avLst/>
          </a:prstGeom>
          <a:noFill/>
          <a:ln w="571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63" name="Прямая соединительная линия 62"/>
          <p:cNvCxnSpPr>
            <a:stCxn id="32" idx="2"/>
            <a:endCxn id="45" idx="6"/>
          </p:cNvCxnSpPr>
          <p:nvPr/>
        </p:nvCxnSpPr>
        <p:spPr>
          <a:xfrm>
            <a:off x="10546356" y="2876700"/>
            <a:ext cx="668869" cy="3021091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/>
          <p:cNvCxnSpPr>
            <a:stCxn id="32" idx="2"/>
            <a:endCxn id="43" idx="5"/>
          </p:cNvCxnSpPr>
          <p:nvPr/>
        </p:nvCxnSpPr>
        <p:spPr>
          <a:xfrm>
            <a:off x="10546356" y="2876700"/>
            <a:ext cx="194263" cy="170949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/>
          <p:cNvCxnSpPr>
            <a:stCxn id="32" idx="1"/>
            <a:endCxn id="41" idx="6"/>
          </p:cNvCxnSpPr>
          <p:nvPr/>
        </p:nvCxnSpPr>
        <p:spPr>
          <a:xfrm flipH="1">
            <a:off x="10154990" y="2867834"/>
            <a:ext cx="597825" cy="2429570"/>
          </a:xfrm>
          <a:prstGeom prst="line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/>
          <p:cNvCxnSpPr>
            <a:stCxn id="34" idx="1"/>
            <a:endCxn id="45" idx="6"/>
          </p:cNvCxnSpPr>
          <p:nvPr/>
        </p:nvCxnSpPr>
        <p:spPr>
          <a:xfrm>
            <a:off x="9816355" y="3305840"/>
            <a:ext cx="1398870" cy="2591951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/>
          <p:cNvCxnSpPr/>
          <p:nvPr/>
        </p:nvCxnSpPr>
        <p:spPr>
          <a:xfrm>
            <a:off x="9912424" y="3212976"/>
            <a:ext cx="118797" cy="2135432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>
            <a:stCxn id="34" idx="1"/>
            <a:endCxn id="43" idx="5"/>
          </p:cNvCxnSpPr>
          <p:nvPr/>
        </p:nvCxnSpPr>
        <p:spPr>
          <a:xfrm>
            <a:off x="9816355" y="3305840"/>
            <a:ext cx="924264" cy="1280350"/>
          </a:xfrm>
          <a:prstGeom prst="line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единительная линия 68"/>
          <p:cNvCxnSpPr>
            <a:stCxn id="38" idx="2"/>
            <a:endCxn id="43" idx="6"/>
          </p:cNvCxnSpPr>
          <p:nvPr/>
        </p:nvCxnSpPr>
        <p:spPr>
          <a:xfrm flipH="1">
            <a:off x="10947078" y="4028830"/>
            <a:ext cx="391365" cy="548494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>
            <a:stCxn id="38" idx="2"/>
            <a:endCxn id="45" idx="6"/>
          </p:cNvCxnSpPr>
          <p:nvPr/>
        </p:nvCxnSpPr>
        <p:spPr>
          <a:xfrm flipH="1">
            <a:off x="11215225" y="4028830"/>
            <a:ext cx="123218" cy="1868961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Прямая соединительная линия 70"/>
          <p:cNvCxnSpPr>
            <a:stCxn id="38" idx="2"/>
            <a:endCxn id="41" idx="0"/>
          </p:cNvCxnSpPr>
          <p:nvPr/>
        </p:nvCxnSpPr>
        <p:spPr>
          <a:xfrm flipH="1">
            <a:off x="10316114" y="4028830"/>
            <a:ext cx="1022329" cy="1614752"/>
          </a:xfrm>
          <a:prstGeom prst="line">
            <a:avLst/>
          </a:prstGeom>
          <a:ln w="38100">
            <a:solidFill>
              <a:srgbClr val="FFC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Как выбрать метрику расстояния для групп точек?</a:t>
            </a:r>
            <a:endParaRPr lang="ru-RU" sz="3200" b="1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1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02903D07-7B01-4C24-912D-1C7193041C83}"/>
              </a:ext>
            </a:extLst>
          </p:cNvPr>
          <p:cNvSpPr txBox="1">
            <a:spLocks/>
          </p:cNvSpPr>
          <p:nvPr/>
        </p:nvSpPr>
        <p:spPr>
          <a:xfrm>
            <a:off x="911424" y="1349725"/>
            <a:ext cx="10657184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0BFBCF3-74F1-4C96-9B09-1AE707E3A326}"/>
              </a:ext>
            </a:extLst>
          </p:cNvPr>
          <p:cNvCxnSpPr>
            <a:cxnSpLocks/>
          </p:cNvCxnSpPr>
          <p:nvPr/>
        </p:nvCxnSpPr>
        <p:spPr>
          <a:xfrm>
            <a:off x="2711624" y="2852936"/>
            <a:ext cx="8208912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CE9FB5C-0200-4605-854F-C4CA2148719A}"/>
              </a:ext>
            </a:extLst>
          </p:cNvPr>
          <p:cNvSpPr/>
          <p:nvPr/>
        </p:nvSpPr>
        <p:spPr>
          <a:xfrm>
            <a:off x="983607" y="2060849"/>
            <a:ext cx="431873" cy="396044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дендрограмма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dendrogram</a:t>
            </a:r>
            <a:endParaRPr lang="en-US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4074" y="1980406"/>
            <a:ext cx="111156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32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919536" y="87307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результатов</a:t>
            </a:r>
          </a:p>
        </p:txBody>
      </p:sp>
      <p:pic>
        <p:nvPicPr>
          <p:cNvPr id="2050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1772816"/>
            <a:ext cx="9281028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263352" y="6381328"/>
            <a:ext cx="1144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4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043335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 точек к </a:t>
            </a:r>
            <a:r>
              <a:rPr lang="ru-RU" sz="3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Дендограмме</a:t>
            </a:r>
            <a:r>
              <a:rPr lang="ru-RU" sz="3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59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919536" y="87307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результатов</a:t>
            </a:r>
          </a:p>
        </p:txBody>
      </p:sp>
      <p:pic>
        <p:nvPicPr>
          <p:cNvPr id="3074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0" y="1772816"/>
            <a:ext cx="7252320" cy="402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263352" y="6381328"/>
            <a:ext cx="1144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  <p:sp>
        <p:nvSpPr>
          <p:cNvPr id="14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063552" y="1043335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Зависимость от </a:t>
            </a:r>
            <a:r>
              <a:rPr lang="ru-RU" sz="32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гиперпараметров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65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13143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Прямая соединительная линия 11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7AC12DC-EB7E-40C9-8281-93E33643C92C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1919536" y="873070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Визуализация результатов</a:t>
            </a:r>
          </a:p>
        </p:txBody>
      </p:sp>
      <p:sp>
        <p:nvSpPr>
          <p:cNvPr id="16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Иерархическая кластеризация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E6DD3CF-3A75-4C26-9310-BF77E8599FE4}"/>
              </a:ext>
            </a:extLst>
          </p:cNvPr>
          <p:cNvSpPr/>
          <p:nvPr/>
        </p:nvSpPr>
        <p:spPr>
          <a:xfrm>
            <a:off x="147549" y="5785995"/>
            <a:ext cx="62432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Single linkage</a:t>
            </a:r>
            <a:r>
              <a:rPr lang="ru-RU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(Одиночная связь)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C4D540B-FDA9-4CBD-A856-3C6386DD138F}"/>
              </a:ext>
            </a:extLst>
          </p:cNvPr>
          <p:cNvSpPr/>
          <p:nvPr/>
        </p:nvSpPr>
        <p:spPr>
          <a:xfrm>
            <a:off x="6489586" y="5716016"/>
            <a:ext cx="69311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Complete linkage</a:t>
            </a:r>
            <a:r>
              <a:rPr lang="ru-RU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(Полная связь)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C7EF5A3-A3DF-4D55-8905-C19B56CEA993}"/>
              </a:ext>
            </a:extLst>
          </p:cNvPr>
          <p:cNvSpPr/>
          <p:nvPr/>
        </p:nvSpPr>
        <p:spPr>
          <a:xfrm>
            <a:off x="6526485" y="6071775"/>
            <a:ext cx="5312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Average</a:t>
            </a:r>
            <a:r>
              <a:rPr lang="tr-TR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linkage</a:t>
            </a:r>
            <a:r>
              <a:rPr lang="ru-RU" sz="20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  <a:cs typeface="Verdana" panose="020B0604030504040204" pitchFamily="34" charset="0"/>
              </a:rPr>
              <a:t> (Средняя связь)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5440" y="1712420"/>
            <a:ext cx="3973398" cy="409421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63675" y="1689401"/>
            <a:ext cx="3932525" cy="405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2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776300" y="134972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285483" y="1244551"/>
            <a:ext cx="1167297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Сильные стороны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Базовая и понятная идея алгоритма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Слабые стороны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Высокая пространственная и временная сложность для иерархической кластеризации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Возможности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Разновидность метрики расстояния (связи) имеет свои достоинства и недостатки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Трудности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иерархической кластеризации нет математической целевой функции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1919536" y="176904"/>
            <a:ext cx="8404866" cy="484915"/>
          </a:xfrm>
          <a:prstGeom prst="rect">
            <a:avLst/>
          </a:prstGeo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S.W.O.T.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524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087" y="1119780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4998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6740" y="923917"/>
            <a:ext cx="11377264" cy="827739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Density-Based Spatial Clustering of Applications with Noise </a:t>
            </a:r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DBSCAN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Овал 15">
            <a:extLst>
              <a:ext uri="{FF2B5EF4-FFF2-40B4-BE49-F238E27FC236}">
                <a16:creationId xmlns:a16="http://schemas.microsoft.com/office/drawing/2014/main" id="{4D4F9298-8F56-435D-BFEC-66C214E6314D}"/>
              </a:ext>
            </a:extLst>
          </p:cNvPr>
          <p:cNvSpPr/>
          <p:nvPr/>
        </p:nvSpPr>
        <p:spPr>
          <a:xfrm rot="6602461" flipH="1">
            <a:off x="10154873" y="4515729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42F662F3-0A87-421B-9762-EEABFF46D598}"/>
              </a:ext>
            </a:extLst>
          </p:cNvPr>
          <p:cNvSpPr/>
          <p:nvPr/>
        </p:nvSpPr>
        <p:spPr>
          <a:xfrm rot="6602461" flipH="1">
            <a:off x="11213064" y="3671447"/>
            <a:ext cx="288000" cy="28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144F8758-343A-4468-81B7-ABCE5FF761AD}"/>
              </a:ext>
            </a:extLst>
          </p:cNvPr>
          <p:cNvSpPr/>
          <p:nvPr/>
        </p:nvSpPr>
        <p:spPr>
          <a:xfrm rot="6602461" flipH="1">
            <a:off x="9785617" y="2858734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F54537E-203B-44E0-B324-7DFACD32E21F}"/>
              </a:ext>
            </a:extLst>
          </p:cNvPr>
          <p:cNvSpPr/>
          <p:nvPr/>
        </p:nvSpPr>
        <p:spPr>
          <a:xfrm rot="6602461" flipH="1">
            <a:off x="10859736" y="4515727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360D536D-3D09-4E9E-B8DB-C53485C84522}"/>
              </a:ext>
            </a:extLst>
          </p:cNvPr>
          <p:cNvSpPr/>
          <p:nvPr/>
        </p:nvSpPr>
        <p:spPr>
          <a:xfrm rot="6602461" flipH="1">
            <a:off x="10800976" y="5096145"/>
            <a:ext cx="288000" cy="288000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D323C588-3A75-4B78-A9B0-20ED1AAA1E8F}"/>
              </a:ext>
            </a:extLst>
          </p:cNvPr>
          <p:cNvSpPr/>
          <p:nvPr/>
        </p:nvSpPr>
        <p:spPr>
          <a:xfrm rot="6602461" flipH="1">
            <a:off x="9336149" y="2085170"/>
            <a:ext cx="288000" cy="2880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8EE3D3F3-825A-4EAF-861E-A99FE2B862E9}"/>
              </a:ext>
            </a:extLst>
          </p:cNvPr>
          <p:cNvSpPr/>
          <p:nvPr/>
        </p:nvSpPr>
        <p:spPr>
          <a:xfrm rot="6602461" flipH="1">
            <a:off x="9389424" y="3302189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FF8B1B0A-F9EF-4C6E-9DBE-13542EDEC04F}"/>
              </a:ext>
            </a:extLst>
          </p:cNvPr>
          <p:cNvSpPr/>
          <p:nvPr/>
        </p:nvSpPr>
        <p:spPr>
          <a:xfrm rot="6602461" flipH="1">
            <a:off x="9898236" y="3466977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974604B0-53CC-4D00-8178-BC0842468D6D}"/>
              </a:ext>
            </a:extLst>
          </p:cNvPr>
          <p:cNvSpPr/>
          <p:nvPr/>
        </p:nvSpPr>
        <p:spPr>
          <a:xfrm>
            <a:off x="416106" y="2166774"/>
            <a:ext cx="845371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В огромном зале толпа людей отмечает чей-то день рождения. Кто-то слоняется один, а большинство - с друзьями. Некоторые компании просто толпятся, некоторые - поют или танцуют.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Мы хотим разделить людей в комнате на группы.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Задача - различать группы таких разных форм и не забывать об одиночках.</a:t>
            </a:r>
          </a:p>
          <a:p>
            <a:pPr algn="just">
              <a:spcAft>
                <a:spcPts val="1200"/>
              </a:spcAft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Определим, что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рядом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 определенным человеком собралась толпа, если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рядом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с ним стоит еще </a:t>
            </a: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несколько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человек.</a:t>
            </a: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0BF4C98C-C7A5-4C43-8C83-B6A60F60D254}"/>
              </a:ext>
            </a:extLst>
          </p:cNvPr>
          <p:cNvSpPr/>
          <p:nvPr/>
        </p:nvSpPr>
        <p:spPr>
          <a:xfrm>
            <a:off x="9984432" y="4260771"/>
            <a:ext cx="1388562" cy="124491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8EE2D7C-C8DC-4528-962B-BA8D237CA4AC}"/>
              </a:ext>
            </a:extLst>
          </p:cNvPr>
          <p:cNvSpPr/>
          <p:nvPr/>
        </p:nvSpPr>
        <p:spPr>
          <a:xfrm>
            <a:off x="9151381" y="2668874"/>
            <a:ext cx="1388562" cy="1244915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06826E-475F-4B88-BEF0-6ABDA46A06D7}"/>
              </a:ext>
            </a:extLst>
          </p:cNvPr>
          <p:cNvSpPr/>
          <p:nvPr/>
        </p:nvSpPr>
        <p:spPr>
          <a:xfrm>
            <a:off x="436164" y="1562442"/>
            <a:ext cx="117634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Пространственная кластеризация на основе плотности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 учетом шума 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0816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Epsilon 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и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Min Points 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D323C588-3A75-4B78-A9B0-20ED1AAA1E8F}"/>
              </a:ext>
            </a:extLst>
          </p:cNvPr>
          <p:cNvSpPr/>
          <p:nvPr/>
        </p:nvSpPr>
        <p:spPr>
          <a:xfrm rot="6602461" flipH="1">
            <a:off x="5349933" y="4910990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8EE2D7C-C8DC-4528-962B-BA8D237CA4AC}"/>
              </a:ext>
            </a:extLst>
          </p:cNvPr>
          <p:cNvSpPr/>
          <p:nvPr/>
        </p:nvSpPr>
        <p:spPr>
          <a:xfrm>
            <a:off x="4079776" y="3686990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9C935B43-894F-4642-BB8E-73DA2276C614}"/>
              </a:ext>
            </a:extLst>
          </p:cNvPr>
          <p:cNvSpPr txBox="1">
            <a:spLocks/>
          </p:cNvSpPr>
          <p:nvPr/>
        </p:nvSpPr>
        <p:spPr>
          <a:xfrm>
            <a:off x="196740" y="923917"/>
            <a:ext cx="11377264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FBD6B5-42FA-485C-A510-1431F1BACCE3}"/>
              </a:ext>
            </a:extLst>
          </p:cNvPr>
          <p:cNvSpPr/>
          <p:nvPr/>
        </p:nvSpPr>
        <p:spPr>
          <a:xfrm>
            <a:off x="328405" y="1803286"/>
            <a:ext cx="10801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Epsilon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— 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Максимальное расстояние, на котором точка может находиться от другой точки, чтобы считаться соседней</a:t>
            </a:r>
            <a:endParaRPr lang="ru-RU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B8033E-FA31-4581-B082-B7A66BB1C93A}"/>
              </a:ext>
            </a:extLst>
          </p:cNvPr>
          <p:cNvSpPr/>
          <p:nvPr/>
        </p:nvSpPr>
        <p:spPr>
          <a:xfrm>
            <a:off x="248796" y="2804839"/>
            <a:ext cx="10965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 Points</a:t>
            </a:r>
            <a:r>
              <a:rPr lang="en-US" sz="24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— 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Количество точек, которое необходимо «собрать» в диапазоне </a:t>
            </a:r>
            <a:r>
              <a:rPr lang="en-US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epsilon</a:t>
            </a:r>
            <a:r>
              <a:rPr lang="ru-RU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чтобы они считались кластером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C3721D3-D590-4970-8CE1-2CF233FCC35F}"/>
                  </a:ext>
                </a:extLst>
              </p:cNvPr>
              <p:cNvSpPr/>
              <p:nvPr/>
            </p:nvSpPr>
            <p:spPr>
              <a:xfrm>
                <a:off x="3210426" y="6253971"/>
                <a:ext cx="5461722" cy="4852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ru-RU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nary>
                          <m:naryPr>
                            <m:chr m:val="∑"/>
                            <m:limLoc m:val="subSup"/>
                            <m:ctrlP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ru-RU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ru-RU" sz="2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ru-RU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ru-RU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 </a:t>
                </a:r>
                <a:endParaRPr lang="ru-RU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3C3721D3-D590-4970-8CE1-2CF233FCC3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426" y="6253971"/>
                <a:ext cx="5461722" cy="4852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442754B5-8449-475B-8E2A-5C28576AEDB7}"/>
              </a:ext>
            </a:extLst>
          </p:cNvPr>
          <p:cNvCxnSpPr>
            <a:cxnSpLocks/>
            <a:stCxn id="22" idx="0"/>
            <a:endCxn id="24" idx="6"/>
          </p:cNvCxnSpPr>
          <p:nvPr/>
        </p:nvCxnSpPr>
        <p:spPr>
          <a:xfrm flipV="1">
            <a:off x="5419753" y="4946990"/>
            <a:ext cx="1180023" cy="12337"/>
          </a:xfrm>
          <a:prstGeom prst="straightConnector1">
            <a:avLst/>
          </a:prstGeom>
          <a:ln w="571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352F553-32C0-4D5B-9B0A-BFC9D392C452}"/>
              </a:ext>
            </a:extLst>
          </p:cNvPr>
          <p:cNvSpPr/>
          <p:nvPr/>
        </p:nvSpPr>
        <p:spPr>
          <a:xfrm>
            <a:off x="4702670" y="4028713"/>
            <a:ext cx="139333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Epsilon 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Radius</a:t>
            </a:r>
            <a:endParaRPr lang="ru-RU" sz="240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8E6B80-309C-407F-B457-8F73E0A7AA4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27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26" grpId="0"/>
      <p:bldP spid="13" grpId="0"/>
      <p:bldP spid="3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DBSCAN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2" name="Овал 21">
            <a:extLst>
              <a:ext uri="{FF2B5EF4-FFF2-40B4-BE49-F238E27FC236}">
                <a16:creationId xmlns:a16="http://schemas.microsoft.com/office/drawing/2014/main" id="{D323C588-3A75-4B78-A9B0-20ED1AAA1E8F}"/>
              </a:ext>
            </a:extLst>
          </p:cNvPr>
          <p:cNvSpPr/>
          <p:nvPr/>
        </p:nvSpPr>
        <p:spPr>
          <a:xfrm rot="6602461" flipH="1">
            <a:off x="9850879" y="3005069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8EE2D7C-C8DC-4528-962B-BA8D237CA4AC}"/>
              </a:ext>
            </a:extLst>
          </p:cNvPr>
          <p:cNvSpPr/>
          <p:nvPr/>
        </p:nvSpPr>
        <p:spPr>
          <a:xfrm>
            <a:off x="8626878" y="1823514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9C935B43-894F-4642-BB8E-73DA2276C614}"/>
              </a:ext>
            </a:extLst>
          </p:cNvPr>
          <p:cNvSpPr txBox="1">
            <a:spLocks/>
          </p:cNvSpPr>
          <p:nvPr/>
        </p:nvSpPr>
        <p:spPr>
          <a:xfrm>
            <a:off x="196740" y="923917"/>
            <a:ext cx="11377264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AB8033E-FA31-4581-B082-B7A66BB1C93A}"/>
              </a:ext>
            </a:extLst>
          </p:cNvPr>
          <p:cNvSpPr/>
          <p:nvPr/>
        </p:nvSpPr>
        <p:spPr>
          <a:xfrm>
            <a:off x="195644" y="1725630"/>
            <a:ext cx="109656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Min Points</a:t>
            </a:r>
            <a:r>
              <a:rPr lang="en-US" sz="24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r>
              <a:rPr lang="en-US" sz="24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4</a:t>
            </a:r>
            <a:endParaRPr lang="ru-RU" sz="2400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4EE9586E-D165-4AB8-8592-A00683F36A68}"/>
              </a:ext>
            </a:extLst>
          </p:cNvPr>
          <p:cNvSpPr/>
          <p:nvPr/>
        </p:nvSpPr>
        <p:spPr>
          <a:xfrm rot="6602461" flipH="1">
            <a:off x="9850574" y="4210938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D7AF9D91-2428-4CFF-95AC-B259757E69A8}"/>
              </a:ext>
            </a:extLst>
          </p:cNvPr>
          <p:cNvSpPr/>
          <p:nvPr/>
        </p:nvSpPr>
        <p:spPr>
          <a:xfrm rot="6602461" flipH="1">
            <a:off x="8678138" y="3007110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88A2C67-FEB1-45F6-94DC-0C6FC6060C5D}"/>
              </a:ext>
            </a:extLst>
          </p:cNvPr>
          <p:cNvSpPr/>
          <p:nvPr/>
        </p:nvSpPr>
        <p:spPr>
          <a:xfrm rot="6602461" flipH="1">
            <a:off x="8773079" y="4498970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DB6828A-77CF-43A7-A6F5-67D90902C15D}"/>
              </a:ext>
            </a:extLst>
          </p:cNvPr>
          <p:cNvSpPr/>
          <p:nvPr/>
        </p:nvSpPr>
        <p:spPr>
          <a:xfrm rot="6602461" flipH="1">
            <a:off x="7918277" y="4600159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F9A09CAE-BC3B-4799-9C56-34A6805A3006}"/>
              </a:ext>
            </a:extLst>
          </p:cNvPr>
          <p:cNvSpPr/>
          <p:nvPr/>
        </p:nvSpPr>
        <p:spPr>
          <a:xfrm rot="6602461" flipH="1">
            <a:off x="7954754" y="3583751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CA105B94-D043-4C16-B4B6-FC102BC171C9}"/>
              </a:ext>
            </a:extLst>
          </p:cNvPr>
          <p:cNvSpPr/>
          <p:nvPr/>
        </p:nvSpPr>
        <p:spPr>
          <a:xfrm rot="6602461" flipH="1">
            <a:off x="10288401" y="6392968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7A371480-BDE5-4943-BAAD-997EC64AFF93}"/>
              </a:ext>
            </a:extLst>
          </p:cNvPr>
          <p:cNvSpPr/>
          <p:nvPr/>
        </p:nvSpPr>
        <p:spPr>
          <a:xfrm rot="6602461" flipH="1">
            <a:off x="1209613" y="2949625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B7C800C1-630C-498E-9AE6-5E70AD80D866}"/>
              </a:ext>
            </a:extLst>
          </p:cNvPr>
          <p:cNvSpPr/>
          <p:nvPr/>
        </p:nvSpPr>
        <p:spPr>
          <a:xfrm rot="6602461" flipH="1">
            <a:off x="1929693" y="3449375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3FFAC8FF-1C2A-4BA0-A5FA-F3482D2947BA}"/>
              </a:ext>
            </a:extLst>
          </p:cNvPr>
          <p:cNvSpPr/>
          <p:nvPr/>
        </p:nvSpPr>
        <p:spPr>
          <a:xfrm rot="6602461" flipH="1">
            <a:off x="2505757" y="2688433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6AA970B6-F76A-4D97-BF78-2E03B7A813FA}"/>
              </a:ext>
            </a:extLst>
          </p:cNvPr>
          <p:cNvSpPr/>
          <p:nvPr/>
        </p:nvSpPr>
        <p:spPr>
          <a:xfrm rot="6602461" flipH="1">
            <a:off x="2793789" y="5393322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358D81CC-75BA-4B14-A1DA-1190D6DA71C8}"/>
              </a:ext>
            </a:extLst>
          </p:cNvPr>
          <p:cNvSpPr/>
          <p:nvPr/>
        </p:nvSpPr>
        <p:spPr>
          <a:xfrm rot="6602461" flipH="1">
            <a:off x="3369853" y="4498968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6F3ECA68-16BC-4A17-8DE8-16AFEB5E2168}"/>
              </a:ext>
            </a:extLst>
          </p:cNvPr>
          <p:cNvSpPr/>
          <p:nvPr/>
        </p:nvSpPr>
        <p:spPr>
          <a:xfrm rot="6602461" flipH="1">
            <a:off x="4161941" y="5439481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65D9CFAB-3CE8-47C2-86B5-FBD5190CBF86}"/>
              </a:ext>
            </a:extLst>
          </p:cNvPr>
          <p:cNvSpPr/>
          <p:nvPr/>
        </p:nvSpPr>
        <p:spPr>
          <a:xfrm rot="6602461" flipH="1">
            <a:off x="1930360" y="6031446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45A65236-6F35-4C9C-BFA6-52E9CDCB79C3}"/>
              </a:ext>
            </a:extLst>
          </p:cNvPr>
          <p:cNvSpPr/>
          <p:nvPr/>
        </p:nvSpPr>
        <p:spPr>
          <a:xfrm rot="6602461" flipH="1">
            <a:off x="3585878" y="6300653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87D98E1D-31DD-4AD7-8382-612CF513E164}"/>
              </a:ext>
            </a:extLst>
          </p:cNvPr>
          <p:cNvSpPr/>
          <p:nvPr/>
        </p:nvSpPr>
        <p:spPr>
          <a:xfrm rot="6602461" flipH="1">
            <a:off x="1779995" y="5023333"/>
            <a:ext cx="72000" cy="72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Овал 34">
            <a:extLst>
              <a:ext uri="{FF2B5EF4-FFF2-40B4-BE49-F238E27FC236}">
                <a16:creationId xmlns:a16="http://schemas.microsoft.com/office/drawing/2014/main" id="{DC61F4D8-4B61-41AE-8170-3585482256A5}"/>
              </a:ext>
            </a:extLst>
          </p:cNvPr>
          <p:cNvSpPr/>
          <p:nvPr/>
        </p:nvSpPr>
        <p:spPr>
          <a:xfrm>
            <a:off x="7454138" y="1823514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Овал 35">
            <a:extLst>
              <a:ext uri="{FF2B5EF4-FFF2-40B4-BE49-F238E27FC236}">
                <a16:creationId xmlns:a16="http://schemas.microsoft.com/office/drawing/2014/main" id="{6BC9180B-9016-4E15-9466-F827CC2252FA}"/>
              </a:ext>
            </a:extLst>
          </p:cNvPr>
          <p:cNvSpPr/>
          <p:nvPr/>
        </p:nvSpPr>
        <p:spPr>
          <a:xfrm>
            <a:off x="8634074" y="2955480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0C16D4BE-7F15-45AE-8586-A9BB01B86440}"/>
              </a:ext>
            </a:extLst>
          </p:cNvPr>
          <p:cNvSpPr/>
          <p:nvPr/>
        </p:nvSpPr>
        <p:spPr>
          <a:xfrm>
            <a:off x="7614408" y="3155228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0E7DDBC7-C06B-4C0D-AB15-5984A050DA53}"/>
              </a:ext>
            </a:extLst>
          </p:cNvPr>
          <p:cNvSpPr/>
          <p:nvPr/>
        </p:nvSpPr>
        <p:spPr>
          <a:xfrm>
            <a:off x="6822320" y="2511225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F83912F-C1D9-4449-8A9E-9EAE078DC30E}"/>
              </a:ext>
            </a:extLst>
          </p:cNvPr>
          <p:cNvSpPr/>
          <p:nvPr/>
        </p:nvSpPr>
        <p:spPr>
          <a:xfrm>
            <a:off x="6658967" y="3419277"/>
            <a:ext cx="2520000" cy="2520000"/>
          </a:xfrm>
          <a:prstGeom prst="ellipse">
            <a:avLst/>
          </a:prstGeom>
          <a:noFill/>
          <a:ln w="5715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53139275-A0A0-48C9-A359-A1A8983E3E65}"/>
              </a:ext>
            </a:extLst>
          </p:cNvPr>
          <p:cNvSpPr/>
          <p:nvPr/>
        </p:nvSpPr>
        <p:spPr>
          <a:xfrm>
            <a:off x="1575001" y="4161096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Овал 41">
            <a:extLst>
              <a:ext uri="{FF2B5EF4-FFF2-40B4-BE49-F238E27FC236}">
                <a16:creationId xmlns:a16="http://schemas.microsoft.com/office/drawing/2014/main" id="{72F9A7E1-D383-45D1-91DB-8975B5768AD5}"/>
              </a:ext>
            </a:extLst>
          </p:cNvPr>
          <p:cNvSpPr/>
          <p:nvPr/>
        </p:nvSpPr>
        <p:spPr>
          <a:xfrm>
            <a:off x="2099695" y="3274968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Овал 42">
            <a:extLst>
              <a:ext uri="{FF2B5EF4-FFF2-40B4-BE49-F238E27FC236}">
                <a16:creationId xmlns:a16="http://schemas.microsoft.com/office/drawing/2014/main" id="{F99E2252-0A1F-447C-9384-EF7C7EC9E9A5}"/>
              </a:ext>
            </a:extLst>
          </p:cNvPr>
          <p:cNvSpPr/>
          <p:nvPr/>
        </p:nvSpPr>
        <p:spPr>
          <a:xfrm>
            <a:off x="2933688" y="4209006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CB4DF24F-7B4C-4790-90C5-B33D6060A1FB}"/>
              </a:ext>
            </a:extLst>
          </p:cNvPr>
          <p:cNvSpPr/>
          <p:nvPr/>
        </p:nvSpPr>
        <p:spPr>
          <a:xfrm>
            <a:off x="2123554" y="4978032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854FBDA2-BA65-4260-8B43-491A4EED5DB6}"/>
              </a:ext>
            </a:extLst>
          </p:cNvPr>
          <p:cNvSpPr/>
          <p:nvPr/>
        </p:nvSpPr>
        <p:spPr>
          <a:xfrm>
            <a:off x="801772" y="4767623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4BDD0B43-5FBB-4D87-997A-2A0764D75F53}"/>
              </a:ext>
            </a:extLst>
          </p:cNvPr>
          <p:cNvSpPr/>
          <p:nvPr/>
        </p:nvSpPr>
        <p:spPr>
          <a:xfrm>
            <a:off x="598055" y="3737874"/>
            <a:ext cx="2520000" cy="25200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C413B03F-6F61-4A06-9BF1-41527A820702}"/>
              </a:ext>
            </a:extLst>
          </p:cNvPr>
          <p:cNvSpPr/>
          <p:nvPr/>
        </p:nvSpPr>
        <p:spPr>
          <a:xfrm>
            <a:off x="1499183" y="2740872"/>
            <a:ext cx="899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Шум</a:t>
            </a:r>
            <a:endParaRPr lang="ru-RU" sz="2400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80571DA7-CC00-41C8-9E5C-A6F548DE66B1}"/>
              </a:ext>
            </a:extLst>
          </p:cNvPr>
          <p:cNvSpPr/>
          <p:nvPr/>
        </p:nvSpPr>
        <p:spPr>
          <a:xfrm>
            <a:off x="9089324" y="6198135"/>
            <a:ext cx="8996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Шум</a:t>
            </a:r>
            <a:endParaRPr lang="ru-RU" sz="240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9FC613A4-017B-4C27-92F7-461D34B2425E}"/>
              </a:ext>
            </a:extLst>
          </p:cNvPr>
          <p:cNvSpPr/>
          <p:nvPr/>
        </p:nvSpPr>
        <p:spPr>
          <a:xfrm>
            <a:off x="2207677" y="3625751"/>
            <a:ext cx="2917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Граничная Точка</a:t>
            </a:r>
            <a:endParaRPr lang="ru-RU" sz="2400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A56F512E-97F2-45EF-8341-A624A0FDA332}"/>
              </a:ext>
            </a:extLst>
          </p:cNvPr>
          <p:cNvSpPr/>
          <p:nvPr/>
        </p:nvSpPr>
        <p:spPr>
          <a:xfrm>
            <a:off x="3325828" y="6246259"/>
            <a:ext cx="2917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Граничная Точка</a:t>
            </a:r>
            <a:endParaRPr lang="ru-RU" sz="2400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5C5EA23B-9C02-4978-8028-0B72E17146D8}"/>
              </a:ext>
            </a:extLst>
          </p:cNvPr>
          <p:cNvSpPr/>
          <p:nvPr/>
        </p:nvSpPr>
        <p:spPr>
          <a:xfrm>
            <a:off x="5914608" y="4864655"/>
            <a:ext cx="2917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Граничная Точка</a:t>
            </a:r>
            <a:endParaRPr lang="ru-RU" sz="2400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88754498-77C8-4D0D-AAF1-4824BDE72FC1}"/>
              </a:ext>
            </a:extLst>
          </p:cNvPr>
          <p:cNvSpPr/>
          <p:nvPr/>
        </p:nvSpPr>
        <p:spPr>
          <a:xfrm>
            <a:off x="8819350" y="2245614"/>
            <a:ext cx="29177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Граничная Точка</a:t>
            </a:r>
            <a:endParaRPr lang="ru-RU" sz="2400" dirty="0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4BBB8D7E-63C7-4E20-82D0-B91488F271B0}"/>
              </a:ext>
            </a:extLst>
          </p:cNvPr>
          <p:cNvSpPr/>
          <p:nvPr/>
        </p:nvSpPr>
        <p:spPr>
          <a:xfrm rot="6602461" flipH="1">
            <a:off x="9735984" y="2887783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75233318-1453-4F90-8BC7-F458F26EF94C}"/>
              </a:ext>
            </a:extLst>
          </p:cNvPr>
          <p:cNvSpPr/>
          <p:nvPr/>
        </p:nvSpPr>
        <p:spPr>
          <a:xfrm rot="6602461" flipH="1">
            <a:off x="9784690" y="4102938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68B134FA-D713-4CE1-A568-01F37744229F}"/>
              </a:ext>
            </a:extLst>
          </p:cNvPr>
          <p:cNvSpPr/>
          <p:nvPr/>
        </p:nvSpPr>
        <p:spPr>
          <a:xfrm rot="6602461" flipH="1">
            <a:off x="7802475" y="4472436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231B3FD4-A6F0-4551-A6CC-29B72831E210}"/>
              </a:ext>
            </a:extLst>
          </p:cNvPr>
          <p:cNvSpPr/>
          <p:nvPr/>
        </p:nvSpPr>
        <p:spPr>
          <a:xfrm rot="6602461" flipH="1">
            <a:off x="8597305" y="2887784"/>
            <a:ext cx="288000" cy="288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61F217E3-AE1E-45E5-A8F6-54FB02EEDF08}"/>
              </a:ext>
            </a:extLst>
          </p:cNvPr>
          <p:cNvSpPr/>
          <p:nvPr/>
        </p:nvSpPr>
        <p:spPr>
          <a:xfrm rot="6602461" flipH="1">
            <a:off x="3494329" y="6258818"/>
            <a:ext cx="288000" cy="288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6F0670E7-F411-4F95-9653-B54073F4B638}"/>
              </a:ext>
            </a:extLst>
          </p:cNvPr>
          <p:cNvSpPr/>
          <p:nvPr/>
        </p:nvSpPr>
        <p:spPr>
          <a:xfrm rot="6602461" flipH="1">
            <a:off x="4066918" y="5325006"/>
            <a:ext cx="288000" cy="288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9E84388E-5531-4829-87E2-8D481D37D3A5}"/>
              </a:ext>
            </a:extLst>
          </p:cNvPr>
          <p:cNvSpPr/>
          <p:nvPr/>
        </p:nvSpPr>
        <p:spPr>
          <a:xfrm rot="6602461" flipH="1">
            <a:off x="3269038" y="4372636"/>
            <a:ext cx="288000" cy="288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7B6D9820-D1CB-400F-8F2A-C23D160445E5}"/>
              </a:ext>
            </a:extLst>
          </p:cNvPr>
          <p:cNvSpPr/>
          <p:nvPr/>
        </p:nvSpPr>
        <p:spPr>
          <a:xfrm rot="6602461" flipH="1">
            <a:off x="1810465" y="5907549"/>
            <a:ext cx="288000" cy="288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04FD0745-D823-46C2-A4A4-DD0015A4EDE3}"/>
              </a:ext>
            </a:extLst>
          </p:cNvPr>
          <p:cNvSpPr/>
          <p:nvPr/>
        </p:nvSpPr>
        <p:spPr>
          <a:xfrm rot="6602461" flipH="1">
            <a:off x="1679008" y="4939928"/>
            <a:ext cx="288000" cy="288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Овал 63">
            <a:extLst>
              <a:ext uri="{FF2B5EF4-FFF2-40B4-BE49-F238E27FC236}">
                <a16:creationId xmlns:a16="http://schemas.microsoft.com/office/drawing/2014/main" id="{2652C721-8ABE-4FCC-B68B-FB1A1A0F6D7F}"/>
              </a:ext>
            </a:extLst>
          </p:cNvPr>
          <p:cNvSpPr/>
          <p:nvPr/>
        </p:nvSpPr>
        <p:spPr>
          <a:xfrm rot="6602461" flipH="1">
            <a:off x="2547594" y="5154584"/>
            <a:ext cx="540000" cy="540000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Овал 64">
            <a:extLst>
              <a:ext uri="{FF2B5EF4-FFF2-40B4-BE49-F238E27FC236}">
                <a16:creationId xmlns:a16="http://schemas.microsoft.com/office/drawing/2014/main" id="{7B19AC3D-995D-440A-9134-31B8B21CEB8E}"/>
              </a:ext>
            </a:extLst>
          </p:cNvPr>
          <p:cNvSpPr/>
          <p:nvPr/>
        </p:nvSpPr>
        <p:spPr>
          <a:xfrm rot="6602461" flipH="1">
            <a:off x="7715718" y="3292590"/>
            <a:ext cx="540000" cy="540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6" name="Овал 65">
            <a:extLst>
              <a:ext uri="{FF2B5EF4-FFF2-40B4-BE49-F238E27FC236}">
                <a16:creationId xmlns:a16="http://schemas.microsoft.com/office/drawing/2014/main" id="{60F597A6-EB15-402D-A483-DFBA3EA30F54}"/>
              </a:ext>
            </a:extLst>
          </p:cNvPr>
          <p:cNvSpPr/>
          <p:nvPr/>
        </p:nvSpPr>
        <p:spPr>
          <a:xfrm rot="6602461" flipH="1">
            <a:off x="8506458" y="4260658"/>
            <a:ext cx="540000" cy="540000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7D28730-D5E7-4613-90EA-5DF3C80926E2}"/>
              </a:ext>
            </a:extLst>
          </p:cNvPr>
          <p:cNvSpPr/>
          <p:nvPr/>
        </p:nvSpPr>
        <p:spPr>
          <a:xfrm>
            <a:off x="4873631" y="3052755"/>
            <a:ext cx="27238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Основная точка</a:t>
            </a:r>
            <a:endParaRPr lang="ru-RU" sz="2400" dirty="0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DA30567-424A-4DF5-AFC8-08B815F4EC0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928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3" grpId="0"/>
      <p:bldP spid="54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/>
      <p:bldP spid="6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Медленный </a:t>
            </a:r>
            <a:r>
              <a:rPr lang="en-US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GIF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DA30567-424A-4DF5-AFC8-08B815F4EC0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098" name="Picture 2" descr="titl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483" y="1628800"/>
            <a:ext cx="4569956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263352" y="6381328"/>
            <a:ext cx="114492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-apple-system"/>
              </a:rPr>
              <a:t>https://github.com/dashee87/blogScripts/blob/master/Jupyter/2017-05-09-Clustering-with-Scikit-with-GIFs.ipynb</a:t>
            </a:r>
            <a:endParaRPr lang="en-US" b="0" i="0" dirty="0">
              <a:solidFill>
                <a:schemeClr val="bg1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34754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Улыбчивый </a:t>
            </a:r>
            <a:r>
              <a:rPr lang="en-US" sz="3200" b="1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GIF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DA30567-424A-4DF5-AFC8-08B815F4EC01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2050" name="Picture 2" descr="Density-Based Spatial Cluster of Applications with Noise (DBSCAN)">
            <a:extLst>
              <a:ext uri="{FF2B5EF4-FFF2-40B4-BE49-F238E27FC236}">
                <a16:creationId xmlns:a16="http://schemas.microsoft.com/office/drawing/2014/main" id="{95813778-4731-4465-B460-FC92D691EC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1129247"/>
            <a:ext cx="5078963" cy="4953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53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S.W.O.T.</a:t>
            </a:r>
            <a:endParaRPr lang="ru-RU" sz="32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1900392" y="1363688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191344" y="1108889"/>
            <a:ext cx="12192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Сильные стороны</a:t>
            </a:r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Требуется минимальное знание для определения входных параметров</a:t>
            </a: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Слабые стороны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неспособность соединять кластеры через «отверстия» и, наоборот, способность (ошибочно) соединять отдельные кластеры через густонаселенные «шумовые» мосты</a:t>
            </a: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Возможности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Может обнаруживать скопления любой формы</a:t>
            </a:r>
          </a:p>
          <a:p>
            <a:r>
              <a:rPr lang="ru-RU" sz="2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Неприятности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Могут возникнуть проблемы с данными более высокой размерности</a:t>
            </a:r>
            <a:endParaRPr lang="en-US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03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Содержание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764042A-EC52-463E-A7A7-164C646B1A2A}"/>
              </a:ext>
            </a:extLst>
          </p:cNvPr>
          <p:cNvSpPr/>
          <p:nvPr/>
        </p:nvSpPr>
        <p:spPr>
          <a:xfrm>
            <a:off x="908087" y="1119780"/>
            <a:ext cx="763284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EM-</a:t>
            </a:r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Кластеризация</a:t>
            </a:r>
          </a:p>
          <a:p>
            <a:endParaRPr lang="en-US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dirty="0">
                <a:solidFill>
                  <a:srgbClr val="36363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endParaRPr lang="ru-RU" sz="3200" dirty="0">
              <a:solidFill>
                <a:srgbClr val="36363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392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8423976" y="1090162"/>
            <a:ext cx="720000" cy="720000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1</a:t>
            </a:r>
            <a:endParaRPr lang="ru-RU" sz="3200" dirty="0">
              <a:latin typeface="Comic Sans MS" panose="030F0702030302020204" pitchFamily="66" charset="0"/>
            </a:endParaRPr>
          </a:p>
        </p:txBody>
      </p:sp>
      <p:sp>
        <p:nvSpPr>
          <p:cNvPr id="26" name="Овал 25"/>
          <p:cNvSpPr/>
          <p:nvPr/>
        </p:nvSpPr>
        <p:spPr>
          <a:xfrm>
            <a:off x="9373080" y="2564369"/>
            <a:ext cx="720000" cy="720000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Comic Sans MS" panose="030F0702030302020204" pitchFamily="66" charset="0"/>
              </a:rPr>
              <a:t>3</a:t>
            </a:r>
            <a:endParaRPr lang="ru-RU" sz="3200" dirty="0">
              <a:latin typeface="Comic Sans MS" panose="030F0702030302020204" pitchFamily="66" charset="0"/>
            </a:endParaRPr>
          </a:p>
        </p:txBody>
      </p:sp>
      <p:sp>
        <p:nvSpPr>
          <p:cNvPr id="27" name="Овал 26"/>
          <p:cNvSpPr/>
          <p:nvPr/>
        </p:nvSpPr>
        <p:spPr>
          <a:xfrm>
            <a:off x="11207915" y="2570403"/>
            <a:ext cx="720000" cy="720000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4</a:t>
            </a:r>
            <a:endParaRPr lang="ru-RU" sz="32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28" name="Овал 27"/>
          <p:cNvSpPr/>
          <p:nvPr/>
        </p:nvSpPr>
        <p:spPr>
          <a:xfrm>
            <a:off x="10663199" y="1174662"/>
            <a:ext cx="720000" cy="720000"/>
          </a:xfrm>
          <a:prstGeom prst="ellipse">
            <a:avLst/>
          </a:prstGeom>
          <a:solidFill>
            <a:srgbClr val="E7E21E"/>
          </a:solidFill>
          <a:ln>
            <a:solidFill>
              <a:srgbClr val="FFC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2</a:t>
            </a:r>
            <a:endParaRPr lang="ru-RU" sz="32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cxnSp>
        <p:nvCxnSpPr>
          <p:cNvPr id="31" name="Прямая соединительная линия 30"/>
          <p:cNvCxnSpPr>
            <a:stCxn id="25" idx="5"/>
            <a:endCxn id="26" idx="1"/>
          </p:cNvCxnSpPr>
          <p:nvPr/>
        </p:nvCxnSpPr>
        <p:spPr>
          <a:xfrm>
            <a:off x="9038534" y="1704720"/>
            <a:ext cx="439988" cy="96509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>
            <a:stCxn id="25" idx="6"/>
            <a:endCxn id="28" idx="2"/>
          </p:cNvCxnSpPr>
          <p:nvPr/>
        </p:nvCxnSpPr>
        <p:spPr>
          <a:xfrm>
            <a:off x="9143976" y="1450162"/>
            <a:ext cx="1519223" cy="845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>
            <a:stCxn id="26" idx="6"/>
            <a:endCxn id="27" idx="2"/>
          </p:cNvCxnSpPr>
          <p:nvPr/>
        </p:nvCxnSpPr>
        <p:spPr>
          <a:xfrm>
            <a:off x="10093080" y="2924369"/>
            <a:ext cx="1114835" cy="6034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>
            <a:stCxn id="28" idx="3"/>
            <a:endCxn id="26" idx="7"/>
          </p:cNvCxnSpPr>
          <p:nvPr/>
        </p:nvCxnSpPr>
        <p:spPr>
          <a:xfrm flipH="1">
            <a:off x="9987638" y="1789220"/>
            <a:ext cx="781003" cy="88059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Прямоугольник 34"/>
              <p:cNvSpPr/>
              <p:nvPr/>
            </p:nvSpPr>
            <p:spPr>
              <a:xfrm>
                <a:off x="9321351" y="692272"/>
                <a:ext cx="1199559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8745">
                  <a:lnSpc>
                    <a:spcPct val="115000"/>
                  </a:lnSpc>
                  <a:spcBef>
                    <a:spcPts val="1330"/>
                  </a:spcBef>
                  <a:buClr>
                    <a:schemeClr val="bg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FFC00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mc:Choice>
        <mc:Fallback xmlns="">
          <p:sp>
            <p:nvSpPr>
              <p:cNvPr id="35" name="Прямоугольник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1351" y="692272"/>
                <a:ext cx="1199559" cy="7574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/>
              <p:cNvSpPr/>
              <p:nvPr/>
            </p:nvSpPr>
            <p:spPr>
              <a:xfrm>
                <a:off x="8142892" y="1994462"/>
                <a:ext cx="1199559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8745">
                  <a:lnSpc>
                    <a:spcPct val="115000"/>
                  </a:lnSpc>
                  <a:spcBef>
                    <a:spcPts val="1330"/>
                  </a:spcBef>
                  <a:buClr>
                    <a:schemeClr val="bg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7030A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mc:Choice>
        <mc:Fallback xmlns="">
          <p:sp>
            <p:nvSpPr>
              <p:cNvPr id="36" name="Прямоугольник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892" y="1994462"/>
                <a:ext cx="1199559" cy="7574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Прямоугольник 36"/>
              <p:cNvSpPr/>
              <p:nvPr/>
            </p:nvSpPr>
            <p:spPr>
              <a:xfrm>
                <a:off x="9426975" y="1540280"/>
                <a:ext cx="1199559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8745">
                  <a:lnSpc>
                    <a:spcPct val="115000"/>
                  </a:lnSpc>
                  <a:spcBef>
                    <a:spcPts val="1330"/>
                  </a:spcBef>
                  <a:buClr>
                    <a:schemeClr val="bg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B05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mc:Choice>
        <mc:Fallback xmlns="">
          <p:sp>
            <p:nvSpPr>
              <p:cNvPr id="37" name="Прямоугольник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6975" y="1540280"/>
                <a:ext cx="1199559" cy="7574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/>
              <p:cNvSpPr/>
              <p:nvPr/>
            </p:nvSpPr>
            <p:spPr>
              <a:xfrm>
                <a:off x="10095422" y="2724775"/>
                <a:ext cx="1210267" cy="7574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98745">
                  <a:lnSpc>
                    <a:spcPct val="115000"/>
                  </a:lnSpc>
                  <a:spcBef>
                    <a:spcPts val="1330"/>
                  </a:spcBef>
                  <a:buClr>
                    <a:schemeClr val="bg1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3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3600" b="0" i="1" dirty="0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3,4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rgbClr val="00B0F0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mc:Choice>
        <mc:Fallback xmlns="">
          <p:sp>
            <p:nvSpPr>
              <p:cNvPr id="38" name="Прямоугольник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422" y="2724775"/>
                <a:ext cx="1210267" cy="7574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9" name="Таблица 38"/>
              <p:cNvGraphicFramePr>
                <a:graphicFrameLocks noGrp="1"/>
              </p:cNvGraphicFramePr>
              <p:nvPr/>
            </p:nvGraphicFramePr>
            <p:xfrm>
              <a:off x="4180809" y="1615275"/>
              <a:ext cx="3337975" cy="1546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30">
                      <a:extLst>
                        <a:ext uri="{9D8B030D-6E8A-4147-A177-3AD203B41FA5}">
                          <a16:colId xmlns:a16="http://schemas.microsoft.com/office/drawing/2014/main" val="733017912"/>
                        </a:ext>
                      </a:extLst>
                    </a:gridCol>
                    <a:gridCol w="690245">
                      <a:extLst>
                        <a:ext uri="{9D8B030D-6E8A-4147-A177-3AD203B41FA5}">
                          <a16:colId xmlns:a16="http://schemas.microsoft.com/office/drawing/2014/main" val="1496531179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19267791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93249767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06572082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858636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862" b="0" i="0" u="none" strike="noStrike" cap="none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0</a:t>
                          </a:r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58444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62" b="0" i="0" u="none" strike="noStrike" cap="none" dirty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  <a:ea typeface="+mn-ea"/>
                                    <a:cs typeface="+mn-cs"/>
                                    <a:sym typeface="Arial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21373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3,4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>
                            <a:solidFill>
                              <a:srgbClr val="00B0F0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93850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>
                                    <a:solidFill>
                                      <a:schemeClr val="bg1"/>
                                    </a:solidFill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3,4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00B0F0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10934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9" name="Таблица 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5917220"/>
                  </p:ext>
                </p:extLst>
              </p:nvPr>
            </p:nvGraphicFramePr>
            <p:xfrm>
              <a:off x="4180809" y="1615275"/>
              <a:ext cx="3337975" cy="1546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30">
                      <a:extLst>
                        <a:ext uri="{9D8B030D-6E8A-4147-A177-3AD203B41FA5}">
                          <a16:colId xmlns:a16="http://schemas.microsoft.com/office/drawing/2014/main" val="733017912"/>
                        </a:ext>
                      </a:extLst>
                    </a:gridCol>
                    <a:gridCol w="690245">
                      <a:extLst>
                        <a:ext uri="{9D8B030D-6E8A-4147-A177-3AD203B41FA5}">
                          <a16:colId xmlns:a16="http://schemas.microsoft.com/office/drawing/2014/main" val="1496531179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19267791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93249767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0657208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858636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142742" t="-107547" r="-204032" b="-3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240800" t="-107547" r="-102400" b="-3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862" b="0" i="0" u="none" strike="noStrike" cap="none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0</a:t>
                          </a:r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584447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55263" t="-211538" r="-330702" b="-2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240800" t="-211538" r="-102400" b="-2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343548" t="-211538" r="-3226" b="-2365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213737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55263" t="-305660" r="-330702" b="-1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142742" t="-305660" r="-204032" b="-1320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343548" t="-305660" r="-3226" b="-1320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9385084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142742" t="-413462" r="-204032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8"/>
                          <a:stretch>
                            <a:fillRect l="-240800" t="-413462" r="-102400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10934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54F444E7-3A5F-4516-A239-E3AEC2A0A7EC}"/>
              </a:ext>
            </a:extLst>
          </p:cNvPr>
          <p:cNvSpPr/>
          <p:nvPr/>
        </p:nvSpPr>
        <p:spPr>
          <a:xfrm>
            <a:off x="755691" y="1117825"/>
            <a:ext cx="56674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Матрица Смежности А (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Adjacency)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1" name="Таблица 40"/>
              <p:cNvGraphicFramePr>
                <a:graphicFrameLocks noGrp="1"/>
              </p:cNvGraphicFramePr>
              <p:nvPr/>
            </p:nvGraphicFramePr>
            <p:xfrm>
              <a:off x="4106868" y="3859026"/>
              <a:ext cx="3403730" cy="1546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30">
                      <a:extLst>
                        <a:ext uri="{9D8B030D-6E8A-4147-A177-3AD203B41FA5}">
                          <a16:colId xmlns:a16="http://schemas.microsoft.com/office/drawing/2014/main" val="733017912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496531179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19267791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93249767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065720820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858636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FFC000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dirty="0" smtClean="0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862" b="0" i="0" u="none" strike="noStrike" cap="none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0</a:t>
                          </a:r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58444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−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FFC00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−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862" b="0" i="0" u="none" strike="noStrike" cap="none" dirty="0" smtClean="0">
                                    <a:solidFill>
                                      <a:schemeClr val="bg1"/>
                                    </a:solidFill>
                                    <a:latin typeface="+mn-lt"/>
                                    <a:ea typeface="+mn-ea"/>
                                    <a:cs typeface="+mn-cs"/>
                                    <a:sym typeface="Arial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521373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−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7030A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−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dirty="0" smtClean="0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  <a:ea typeface="Montserrat"/>
                                    <a:cs typeface="Montserrat"/>
                                    <a:sym typeface="Montserrat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18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3,4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100" dirty="0">
                            <a:solidFill>
                              <a:srgbClr val="00B0F0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393850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2000" dirty="0" smtClean="0">
                                    <a:solidFill>
                                      <a:schemeClr val="bg1"/>
                                    </a:solidFill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ru-RU" sz="200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−</m:t>
                                    </m:r>
                                    <m: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000" b="0" i="1" dirty="0" smtClean="0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  <a:ea typeface="Montserrat"/>
                                        <a:cs typeface="Montserrat"/>
                                        <a:sym typeface="Montserrat"/>
                                      </a:rPr>
                                      <m:t>3,4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200" dirty="0">
                            <a:solidFill>
                              <a:srgbClr val="00B0F0"/>
                            </a:solidFill>
                            <a:latin typeface="Montserrat"/>
                            <a:ea typeface="Montserrat"/>
                            <a:cs typeface="Montserrat"/>
                            <a:sym typeface="Montserrat"/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10934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1" name="Таблица 4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365055"/>
                  </p:ext>
                </p:extLst>
              </p:nvPr>
            </p:nvGraphicFramePr>
            <p:xfrm>
              <a:off x="4106868" y="3859026"/>
              <a:ext cx="3403730" cy="15466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9730">
                      <a:extLst>
                        <a:ext uri="{9D8B030D-6E8A-4147-A177-3AD203B41FA5}">
                          <a16:colId xmlns:a16="http://schemas.microsoft.com/office/drawing/2014/main" val="733017912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496531179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19267791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3493249767"/>
                        </a:ext>
                      </a:extLst>
                    </a:gridCol>
                    <a:gridCol w="756000">
                      <a:extLst>
                        <a:ext uri="{9D8B030D-6E8A-4147-A177-3AD203B41FA5}">
                          <a16:colId xmlns:a16="http://schemas.microsoft.com/office/drawing/2014/main" val="1065720820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</a:t>
                          </a:r>
                          <a:endParaRPr lang="ru-RU" dirty="0"/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3858636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1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50400" t="-111538" r="-301600" b="-3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151613" t="-111538" r="-204032" b="-3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249600" t="-111538" r="-102400" b="-336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R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Font typeface="Arial"/>
                          </a:pPr>
                          <a:r>
                            <a:rPr lang="en-US" sz="1862" b="0" i="0" u="none" strike="noStrike" cap="none" dirty="0">
                              <a:solidFill>
                                <a:schemeClr val="bg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0</a:t>
                          </a:r>
                          <a:endParaRPr lang="ru-RU" sz="1862" b="0" i="0" u="none" strike="noStrike" cap="none" dirty="0">
                            <a:solidFill>
                              <a:schemeClr val="bg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7584447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2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50400" t="-207547" r="-301600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151613" t="-207547" r="-204032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249600" t="-207547" r="-102400" b="-2301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352419" t="-207547" r="-3226" b="-2301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52137370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3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50400" t="-313462" r="-301600" b="-1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151613" t="-313462" r="-204032" b="-1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249600" t="-313462" r="-102400" b="-1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352419" t="-313462" r="-3226" b="-1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9385084"/>
                      </a:ext>
                    </a:extLst>
                  </a:tr>
                  <a:tr h="3180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62" b="1" i="0" u="none" strike="noStrike" cap="none" dirty="0">
                              <a:solidFill>
                                <a:schemeClr val="lt1"/>
                              </a:solidFill>
                              <a:latin typeface="+mn-lt"/>
                              <a:ea typeface="+mn-ea"/>
                              <a:cs typeface="+mn-cs"/>
                              <a:sym typeface="Arial"/>
                            </a:rPr>
                            <a:t>4</a:t>
                          </a:r>
                          <a:endParaRPr lang="ru-RU" sz="1862" b="1" i="0" u="none" strike="noStrike" cap="none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 marT="0" marB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bg1"/>
                              </a:solidFill>
                            </a:rPr>
                            <a:t>0</a:t>
                          </a:r>
                          <a:endParaRPr lang="ru-RU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151613" t="-413462" r="-204032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249600" t="-413462" r="-102400" b="-3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T="0" marB="0">
                        <a:blipFill>
                          <a:blip r:embed="rId9"/>
                          <a:stretch>
                            <a:fillRect l="-352419" t="-413462" r="-3226" b="-3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09347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-4801" y="1741005"/>
                <a:ext cx="4155540" cy="9161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ij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:</m:t>
                              </m:r>
                              <m:r>
                                <a:rPr lang="ru-RU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вес ребра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 :</m:t>
                              </m:r>
                              <m:r>
                                <a:rPr lang="ru-RU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если нет ребра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01" y="1741005"/>
                <a:ext cx="4155540" cy="91614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4F444E7-3A5F-4516-A239-E3AEC2A0A7EC}"/>
              </a:ext>
            </a:extLst>
          </p:cNvPr>
          <p:cNvSpPr/>
          <p:nvPr/>
        </p:nvSpPr>
        <p:spPr>
          <a:xfrm>
            <a:off x="953359" y="3325362"/>
            <a:ext cx="56674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Лапласиан 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L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(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The Laplacian)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111386" y="4274467"/>
                <a:ext cx="4238530" cy="14598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ij</m:t>
                          </m:r>
                        </m:sub>
                      </m:sSub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:</m:t>
                                  </m:r>
                                  <m:r>
                                    <a:rPr lang="ru-RU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если 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=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:</m:t>
                                  </m:r>
                                  <m:r>
                                    <a:rPr lang="ru-RU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вес ребра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𝑗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</a:rPr>
                                    <m:t> </m:t>
                                  </m:r>
                                </m:e>
                              </m:eqAr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0 :</m:t>
                              </m:r>
                              <m:r>
                                <a:rPr lang="ru-RU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если нет ребра 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𝑗</m:t>
                              </m:r>
                            </m:e>
                          </m:eqArr>
                        </m:e>
                      </m:d>
                      <m:r>
                        <a:rPr lang="en-US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ru-RU" sz="24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86" y="4274467"/>
                <a:ext cx="4238530" cy="14598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67627" y="3775017"/>
                <a:ext cx="2181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𝐷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A</m:t>
                      </m:r>
                      <m: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" y="3775017"/>
                <a:ext cx="2181885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7897366" y="3755401"/>
                <a:ext cx="3206435" cy="6581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b="0" dirty="0">
                    <a:solidFill>
                      <a:schemeClr val="bg1"/>
                    </a:solidFill>
                    <a:ea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 </m:t>
                    </m:r>
                    <m:sSub>
                      <m:sSubPr>
                        <m:ctrlPr>
                          <a:rPr lang="en-US" sz="3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sSubPr>
                      <m:e>
                        <m:r>
                          <a:rPr lang="en-US" sz="3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3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𝑖</m:t>
                        </m:r>
                      </m:sub>
                    </m:sSub>
                    <m:r>
                      <a:rPr lang="en-US" sz="32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j</m:t>
                        </m:r>
                        <m: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|</m:t>
                        </m:r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  <m:brk m:alnAt="7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i</m:t>
                            </m:r>
                            <m: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j</m:t>
                            </m:r>
                          </m:e>
                        </m:d>
                        <m:r>
                          <m:rPr>
                            <m:brk m:alnAt="7"/>
                          </m:rPr>
                          <a:rPr lang="en-US" sz="3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  <m:t>}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Verdana" panose="020B0604030504040204" pitchFamily="34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</m:oMath>
                </a14:m>
                <a:endParaRPr lang="ru-RU" sz="3200" dirty="0">
                  <a:solidFill>
                    <a:schemeClr val="bg1"/>
                  </a:solidFill>
                  <a:latin typeface="Cambria Math" panose="02040503050406030204" pitchFamily="18" charset="0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366" y="3755401"/>
                <a:ext cx="3206435" cy="6581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8042222" y="4325770"/>
                <a:ext cx="3523306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2222" y="4325770"/>
                <a:ext cx="3523306" cy="54213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8040713" y="4804095"/>
                <a:ext cx="3523306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0713" y="4804095"/>
                <a:ext cx="3523306" cy="54213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8330426" y="5265823"/>
                <a:ext cx="4013040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3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1,3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2,3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3,4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426" y="5265823"/>
                <a:ext cx="4013040" cy="54213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7634155" y="5754709"/>
                <a:ext cx="3415325" cy="5421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4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ea typeface="Montserrat"/>
                              <a:cs typeface="Montserrat"/>
                              <a:sym typeface="Montserrat"/>
                            </a:rPr>
                            <m:t>3,4</m:t>
                          </m:r>
                        </m:sub>
                      </m:sSub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4155" y="5754709"/>
                <a:ext cx="3415325" cy="54213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1094326" y="5616965"/>
                <a:ext cx="3857645" cy="8059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𝐿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𝑛𝑜𝑟𝑚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  <m:sup>
                          <m:r>
                            <a:rPr lang="en-US" sz="32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32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L</m:t>
                      </m:r>
                      <m:sSup>
                        <m:sSup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𝐷</m:t>
                          </m:r>
                        </m:e>
                        <m:sup>
                          <m:r>
                            <a:rPr lang="en-US" sz="32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3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326" y="5616965"/>
                <a:ext cx="3857645" cy="80599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54F444E7-3A5F-4516-A239-E3AEC2A0A7EC}"/>
              </a:ext>
            </a:extLst>
          </p:cNvPr>
          <p:cNvSpPr/>
          <p:nvPr/>
        </p:nvSpPr>
        <p:spPr>
          <a:xfrm>
            <a:off x="7536160" y="3429000"/>
            <a:ext cx="566746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Степени </a:t>
            </a:r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{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Свободы</a:t>
            </a:r>
            <a:r>
              <a:rPr lang="en-US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}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D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(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Degree)</a:t>
            </a:r>
          </a:p>
        </p:txBody>
      </p:sp>
    </p:spTree>
    <p:extLst>
      <p:ext uri="{BB962C8B-B14F-4D97-AF65-F5344CB8AC3E}">
        <p14:creationId xmlns:p14="http://schemas.microsoft.com/office/powerpoint/2010/main" val="291697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3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Как быть с Реальными данными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8E6B80-309C-407F-B457-8F73E0A7AA4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935760" y="1065471"/>
            <a:ext cx="4662751" cy="4810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(причем тут какие-то графы)</a:t>
            </a:r>
            <a:endParaRPr lang="en-US"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Прямоугольник 19"/>
          <p:cNvSpPr/>
          <p:nvPr/>
        </p:nvSpPr>
        <p:spPr>
          <a:xfrm>
            <a:off x="623392" y="1700808"/>
            <a:ext cx="398538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>
                <a:solidFill>
                  <a:srgbClr val="FF0000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Граф К Ближайших Соседей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1049943" y="2447153"/>
            <a:ext cx="988350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для множества </a:t>
            </a:r>
            <a:r>
              <a:rPr lang="en-US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P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это граф, в котором две вершины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p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и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q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связаны ребром, если расстояние между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p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и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q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находится среди </a:t>
            </a:r>
            <a:r>
              <a:rPr lang="ru-RU" sz="2200" b="1" dirty="0">
                <a:solidFill>
                  <a:srgbClr val="FF0000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k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наименьших расстояний от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p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до других объектов в </a:t>
            </a:r>
            <a:r>
              <a:rPr lang="ru-RU" sz="2200" b="1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P</a:t>
            </a:r>
            <a:r>
              <a:rPr lang="ru-RU" sz="2200" dirty="0">
                <a:solidFill>
                  <a:schemeClr val="bg1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.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30" y="3952677"/>
            <a:ext cx="1021272" cy="235761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528" y="3933056"/>
            <a:ext cx="3448050" cy="236220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65BA2CD-B838-0CD5-B6E5-C4D683329E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064" y="3861048"/>
            <a:ext cx="3671110" cy="25009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2C1ABFE5-85EE-944B-EEEB-6F520C0FDEB1}"/>
                  </a:ext>
                </a:extLst>
              </p:cNvPr>
              <p:cNvSpPr/>
              <p:nvPr/>
            </p:nvSpPr>
            <p:spPr>
              <a:xfrm>
                <a:off x="7320136" y="3284984"/>
                <a:ext cx="254884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А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(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𝐤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𝟐</m:t>
                      </m:r>
                      <m:r>
                        <a:rPr lang="en-US" sz="28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)</m:t>
                      </m:r>
                    </m:oMath>
                  </m:oMathPara>
                </a14:m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2C1ABFE5-85EE-944B-EEEB-6F520C0FDE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3284984"/>
                <a:ext cx="254884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915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0" grpId="0"/>
      <p:bldP spid="21" grpId="0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39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3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Как быть с Реальными данными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8E6B80-309C-407F-B457-8F73E0A7AA4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935760" y="1065471"/>
            <a:ext cx="4662751" cy="4810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(причем тут какие-то графы)</a:t>
            </a:r>
            <a:endParaRPr lang="en-US"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DE55A-0C72-47FF-8D4D-1C6E76B63CD1}"/>
                  </a:ext>
                </a:extLst>
              </p:cNvPr>
              <p:cNvSpPr txBox="1"/>
              <p:nvPr/>
            </p:nvSpPr>
            <p:spPr>
              <a:xfrm>
                <a:off x="546847" y="2326788"/>
                <a:ext cx="5783825" cy="1572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3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(−</m:t>
                          </m:r>
                          <m:sSup>
                            <m:sSupPr>
                              <m:ctrlP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3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3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3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3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sz="3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l-GR" sz="36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sz="36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36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3600" b="1" dirty="0">
                  <a:solidFill>
                    <a:schemeClr val="bg1"/>
                  </a:solidFill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dirty="0">
                    <a:solidFill>
                      <a:schemeClr val="bg1"/>
                    </a:solidFill>
                  </a:rPr>
                  <a:t> </a:t>
                </a:r>
                <a:endParaRPr lang="ru-RU" sz="3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DE55A-0C72-47FF-8D4D-1C6E76B63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47" y="2326788"/>
                <a:ext cx="5783825" cy="15724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Прямоугольник 16"/>
          <p:cNvSpPr/>
          <p:nvPr/>
        </p:nvSpPr>
        <p:spPr>
          <a:xfrm>
            <a:off x="479376" y="1844824"/>
            <a:ext cx="703910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b="1" dirty="0">
                <a:solidFill>
                  <a:srgbClr val="FF0000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Радиально-базисная функция</a:t>
            </a:r>
            <a:r>
              <a:rPr lang="en-US" sz="2200" b="1" dirty="0">
                <a:solidFill>
                  <a:srgbClr val="FF0000"/>
                </a:solidFill>
                <a:latin typeface="Montserrat" panose="00000500000000000000" pitchFamily="2" charset="-52"/>
                <a:ea typeface="Verdana" panose="020B0604030504040204" pitchFamily="34" charset="0"/>
              </a:rPr>
              <a:t> (Radial basis function)</a:t>
            </a:r>
            <a:endParaRPr lang="ru-RU" sz="2200" b="1" dirty="0">
              <a:solidFill>
                <a:srgbClr val="FF0000"/>
              </a:solidFill>
              <a:latin typeface="Montserrat" panose="00000500000000000000" pitchFamily="2" charset="-52"/>
              <a:ea typeface="Verdana" panose="020B0604030504040204" pitchFamily="34" charset="0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30" y="3952677"/>
            <a:ext cx="1021272" cy="2357617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764" y="4421956"/>
            <a:ext cx="3235834" cy="2201179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4232" y="1844824"/>
            <a:ext cx="3287078" cy="22116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/>
              <p:cNvSpPr/>
              <p:nvPr/>
            </p:nvSpPr>
            <p:spPr>
              <a:xfrm>
                <a:off x="8760296" y="1196752"/>
                <a:ext cx="2139047" cy="633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А(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ru-RU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296" y="1196752"/>
                <a:ext cx="2139047" cy="6336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Прямоугольник 26"/>
              <p:cNvSpPr/>
              <p:nvPr/>
            </p:nvSpPr>
            <p:spPr>
              <a:xfrm>
                <a:off x="8976320" y="3933056"/>
                <a:ext cx="1960793" cy="5959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</a:rPr>
                            <m:t>А</m:t>
                          </m:r>
                          <m:r>
                            <m:rPr>
                              <m:nor/>
                            </m:rPr>
                            <a:rPr lang="ru-RU" sz="2800" dirty="0">
                              <a:solidFill>
                                <a:schemeClr val="bg1"/>
                              </a:solidFill>
                            </a:rPr>
                            <m:t> </m:t>
                          </m:r>
                          <m:r>
                            <a:rPr lang="ru-RU" sz="2800" b="1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l-GR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28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m:rPr>
                          <m:nor/>
                        </m:rPr>
                        <a:rPr lang="ru-RU" sz="2400" dirty="0">
                          <a:solidFill>
                            <a:schemeClr val="bg1"/>
                          </a:solidFill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Прямоугольник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6320" y="3933056"/>
                <a:ext cx="1960793" cy="5959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BE866A-6C97-6849-A559-144F16E2385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528" y="3933056"/>
            <a:ext cx="34480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1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6" grpId="0"/>
      <p:bldP spid="26" grpId="0"/>
      <p:bldP spid="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40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32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Как быть с Реальными данными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8E6B80-309C-407F-B457-8F73E0A7AA40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935760" y="1065471"/>
            <a:ext cx="4662751" cy="4810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24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(причем тут какие-то графы)</a:t>
            </a:r>
            <a:endParaRPr lang="en-US" sz="24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830" y="3952677"/>
            <a:ext cx="1021272" cy="2357617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528" y="3933056"/>
            <a:ext cx="3448050" cy="2362200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232" y="1844824"/>
            <a:ext cx="3287078" cy="22116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Прямоугольник 25"/>
              <p:cNvSpPr/>
              <p:nvPr/>
            </p:nvSpPr>
            <p:spPr>
              <a:xfrm>
                <a:off x="8832304" y="1196752"/>
                <a:ext cx="2139047" cy="633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А(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ru-RU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Прямоугольник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304" y="1196752"/>
                <a:ext cx="2139047" cy="6336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Рисунок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0216" y="4221088"/>
            <a:ext cx="3634360" cy="22727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Прямоугольник 18"/>
              <p:cNvSpPr/>
              <p:nvPr/>
            </p:nvSpPr>
            <p:spPr>
              <a:xfrm>
                <a:off x="5447928" y="4797152"/>
                <a:ext cx="2548553" cy="6336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𝑳</m:t>
                      </m:r>
                      <m:r>
                        <a:rPr lang="ru-RU" sz="36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l-GR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sz="32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ru-RU" sz="32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Прямоугольник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928" y="4797152"/>
                <a:ext cx="2548553" cy="6336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/>
              <p:nvPr/>
            </p:nvSpPr>
            <p:spPr>
              <a:xfrm>
                <a:off x="983432" y="2060848"/>
                <a:ext cx="2181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𝐿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𝐷</m:t>
                      </m:r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A</m:t>
                      </m:r>
                      <m:r>
                        <a:rPr lang="en-US" sz="32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Verdan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ru-RU" sz="3200" dirty="0">
                  <a:solidFill>
                    <a:schemeClr val="bg1"/>
                  </a:solidFill>
                  <a:latin typeface="Montserrat" panose="00000500000000000000" pitchFamily="2" charset="-52"/>
                  <a:ea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54F444E7-3A5F-4516-A239-E3AEC2A0A7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32" y="2060848"/>
                <a:ext cx="218188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49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6" grpId="0"/>
      <p:bldP spid="19" grpId="0"/>
      <p:bldP spid="2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41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/>
              <p:nvPr/>
            </p:nvSpPr>
            <p:spPr>
              <a:xfrm>
                <a:off x="2796620" y="1224905"/>
                <a:ext cx="2582951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acc>
                        <m:accPr>
                          <m:chr m:val="⃗"/>
                          <m:ctrl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  <m:r>
                        <a:rPr lang="ru-RU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4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acc>
                        <m:accPr>
                          <m:chr m:val="⃗"/>
                          <m:ctrl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4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ν</m:t>
                          </m:r>
                        </m:e>
                      </m:acc>
                    </m:oMath>
                  </m:oMathPara>
                </a14:m>
                <a:endParaRPr lang="ru-RU" sz="4400" dirty="0"/>
              </a:p>
            </p:txBody>
          </p:sp>
        </mc:Choice>
        <mc:Fallback xmlns=""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F716DBDD-C416-414C-93E3-C04B559AC2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620" y="1224905"/>
                <a:ext cx="2582951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/>
              <p:nvPr/>
            </p:nvSpPr>
            <p:spPr>
              <a:xfrm>
                <a:off x="507767" y="2521630"/>
                <a:ext cx="7453387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3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ru-RU" sz="2800" dirty="0"/>
                  <a:t>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Собственные значения (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Eigenvalues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ru-RU" sz="2800" dirty="0"/>
              </a:p>
            </p:txBody>
          </p:sp>
        </mc:Choice>
        <mc:Fallback xmlns=""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67" y="2521630"/>
                <a:ext cx="7453387" cy="573427"/>
              </a:xfrm>
              <a:prstGeom prst="rect">
                <a:avLst/>
              </a:prstGeom>
              <a:blipFill>
                <a:blip r:embed="rId5"/>
                <a:stretch>
                  <a:fillRect t="-6383" r="-409" b="-255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6C315FCB-3AE6-43BB-910A-110713D9F3D1}"/>
                  </a:ext>
                </a:extLst>
              </p:cNvPr>
              <p:cNvSpPr/>
              <p:nvPr/>
            </p:nvSpPr>
            <p:spPr>
              <a:xfrm>
                <a:off x="551384" y="2006048"/>
                <a:ext cx="738990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l-GR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sz="3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ν</m:t>
                        </m:r>
                      </m:e>
                    </m:acc>
                  </m:oMath>
                </a14:m>
                <a:r>
                  <a:rPr lang="en-US" sz="3200" b="1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 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Собственные векторы (</a:t>
                </a:r>
                <a:r>
                  <a:rPr lang="en-US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Eigenvectors</a:t>
                </a:r>
                <a:r>
                  <a:rPr lang="ru-RU" sz="2800" dirty="0">
                    <a:solidFill>
                      <a:schemeClr val="bg1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)</a:t>
                </a:r>
                <a:endParaRPr lang="ru-RU" sz="3200" dirty="0"/>
              </a:p>
            </p:txBody>
          </p:sp>
        </mc:Choice>
        <mc:Fallback xmlns="">
          <p:sp>
            <p:nvSpPr>
              <p:cNvPr id="9" name="Прямоугольник 8">
                <a:extLst>
                  <a:ext uri="{FF2B5EF4-FFF2-40B4-BE49-F238E27FC236}">
                    <a16:creationId xmlns:a16="http://schemas.microsoft.com/office/drawing/2014/main" id="{6C315FCB-3AE6-43BB-910A-110713D9F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84" y="2006048"/>
                <a:ext cx="7389908" cy="584775"/>
              </a:xfrm>
              <a:prstGeom prst="rect">
                <a:avLst/>
              </a:prstGeom>
              <a:blipFill>
                <a:blip r:embed="rId6"/>
                <a:stretch>
                  <a:fillRect t="-3125" r="-330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1967" y="1284065"/>
            <a:ext cx="3634360" cy="2272784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383051" y="3418405"/>
            <a:ext cx="536092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800" b="1" dirty="0">
                <a:solidFill>
                  <a:srgbClr val="D5D5D5"/>
                </a:solidFill>
                <a:latin typeface="Courier New" panose="02070309020205020404" pitchFamily="49" charset="0"/>
              </a:rPr>
              <a:t>λ</a:t>
            </a:r>
            <a:r>
              <a:rPr lang="en-US" dirty="0">
                <a:solidFill>
                  <a:srgbClr val="D5D5D5"/>
                </a:solidFill>
                <a:latin typeface="Courier New" panose="02070309020205020404" pitchFamily="49" charset="0"/>
              </a:rPr>
              <a:t> </a:t>
            </a:r>
            <a:r>
              <a:rPr lang="ru-RU" sz="1400" dirty="0">
                <a:solidFill>
                  <a:srgbClr val="D5D5D5"/>
                </a:solidFill>
                <a:latin typeface="Courier New" panose="02070309020205020404" pitchFamily="49" charset="0"/>
              </a:rPr>
              <a:t>[0. , 0.4112, 2.4521, 2.7642, 2.9216, 3.053 ]</a:t>
            </a:r>
            <a:endParaRPr lang="ru-RU" sz="1400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5033" y="3945350"/>
            <a:ext cx="4617149" cy="22458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/>
              <p:nvPr/>
            </p:nvSpPr>
            <p:spPr>
              <a:xfrm>
                <a:off x="1492271" y="2966638"/>
                <a:ext cx="4046813" cy="5734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0=</m:t>
                          </m:r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λ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6" name="Прямоугольник 15">
                <a:extLst>
                  <a:ext uri="{FF2B5EF4-FFF2-40B4-BE49-F238E27FC236}">
                    <a16:creationId xmlns:a16="http://schemas.microsoft.com/office/drawing/2014/main" id="{548B6936-62AE-419B-87EB-72C0EC7FD2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2271" y="2966638"/>
                <a:ext cx="4046813" cy="5734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0602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1" grpId="0"/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42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07" y="1580454"/>
            <a:ext cx="796593" cy="256047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18013" y="1808102"/>
            <a:ext cx="2657732" cy="1820767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9956" y="1736061"/>
            <a:ext cx="3707509" cy="229822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4991" y="4134605"/>
            <a:ext cx="4908567" cy="237462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51396" y="4212200"/>
            <a:ext cx="3597973" cy="2392561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2279576" y="1210790"/>
            <a:ext cx="7321876" cy="4462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8745">
              <a:lnSpc>
                <a:spcPct val="115000"/>
              </a:lnSpc>
              <a:spcBef>
                <a:spcPts val="1330"/>
              </a:spcBef>
              <a:buClr>
                <a:schemeClr val="bg1"/>
              </a:buClr>
            </a:pPr>
            <a:r>
              <a:rPr lang="ru-RU" sz="20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(а если потенциальных кластеров больше чем 2?)</a:t>
            </a:r>
            <a:endParaRPr lang="en-US" sz="2000" b="1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669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43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4E1CD8-41DD-4E05-97A5-E2D5DD76EF3B}"/>
              </a:ext>
            </a:extLst>
          </p:cNvPr>
          <p:cNvSpPr/>
          <p:nvPr/>
        </p:nvSpPr>
        <p:spPr>
          <a:xfrm>
            <a:off x="2275534" y="1240508"/>
            <a:ext cx="70693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Montserrat" panose="020B0604020202020204" charset="-52"/>
              </a:rPr>
              <a:t>Алгоритм</a:t>
            </a:r>
            <a:endParaRPr lang="en-US" sz="2800" dirty="0">
              <a:solidFill>
                <a:schemeClr val="bg1"/>
              </a:solidFill>
              <a:latin typeface="Montserrat" panose="020B0604020202020204" charset="-52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A4E1CD8-41DD-4E05-97A5-E2D5DD76EF3B}"/>
              </a:ext>
            </a:extLst>
          </p:cNvPr>
          <p:cNvSpPr/>
          <p:nvPr/>
        </p:nvSpPr>
        <p:spPr>
          <a:xfrm>
            <a:off x="509078" y="1916832"/>
            <a:ext cx="106022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Посчитайте Лапласиан на данных. Нормализуйте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Найдите собственные значения и собственные вектора Лапласиана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Отсортируйте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собственные вектора по собственным значениям (по возрастанию)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кластеров возьмите первые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 </a:t>
            </a: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собственных векторов и сделайте из них матрицу данных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Примените алгоритм К-Средних на новых данных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????</a:t>
            </a:r>
          </a:p>
          <a:p>
            <a:pPr marL="457200" indent="-457200">
              <a:buClr>
                <a:schemeClr val="bg2"/>
              </a:buClr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Profit</a:t>
            </a:r>
          </a:p>
        </p:txBody>
      </p:sp>
    </p:spTree>
    <p:extLst>
      <p:ext uri="{BB962C8B-B14F-4D97-AF65-F5344CB8AC3E}">
        <p14:creationId xmlns:p14="http://schemas.microsoft.com/office/powerpoint/2010/main" val="34351459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44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1B570F-A873-4E30-BE1E-643E48383C5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52" t="7995" r="6810" b="2237"/>
          <a:stretch/>
        </p:blipFill>
        <p:spPr>
          <a:xfrm>
            <a:off x="2764159" y="1311738"/>
            <a:ext cx="5962261" cy="4498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E1F101-A9EA-4EAC-A0EF-19728D0460EC}"/>
              </a:ext>
            </a:extLst>
          </p:cNvPr>
          <p:cNvSpPr txBox="1"/>
          <p:nvPr/>
        </p:nvSpPr>
        <p:spPr>
          <a:xfrm>
            <a:off x="921272" y="5901826"/>
            <a:ext cx="9856722" cy="66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Montserrat" panose="00000500000000000000" pitchFamily="2" charset="-52"/>
              </a:rPr>
              <a:t>Ng, Andrew</a:t>
            </a:r>
            <a:r>
              <a:rPr lang="en-US" dirty="0">
                <a:solidFill>
                  <a:schemeClr val="bg1"/>
                </a:solidFill>
                <a:latin typeface="Montserrat" panose="00000500000000000000" pitchFamily="2" charset="-52"/>
              </a:rPr>
              <a:t>, Michael Jordan, and Yair Weiss. "On spectral clustering: Analysis and an algorithm." Advances in neural information processing systems 14 (2001).</a:t>
            </a:r>
            <a:endParaRPr lang="ru-RU" dirty="0">
              <a:solidFill>
                <a:schemeClr val="bg1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09408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45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</a:t>
            </a: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5" name="Прямая соединительная линия 14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616CD1-815E-4AA9-84FA-F231C1EA9C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1272" y="3303038"/>
            <a:ext cx="3670824" cy="34202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FE617D-98CE-49A4-9EBA-F376F226DF1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40750" y="1299161"/>
            <a:ext cx="3001552" cy="200387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623FE0B-F6B6-4603-8A6C-387A6B28D1E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27129" y="3318992"/>
            <a:ext cx="3570698" cy="342026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A0B6DB-4FC9-4776-B866-BAD5DF53CF3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99753" y="1299161"/>
            <a:ext cx="3025449" cy="20198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B886FF-6343-4715-9ACA-7EE11F77551D}"/>
                  </a:ext>
                </a:extLst>
              </p:cNvPr>
              <p:cNvSpPr txBox="1"/>
              <p:nvPr/>
            </p:nvSpPr>
            <p:spPr>
              <a:xfrm>
                <a:off x="4481422" y="2301099"/>
                <a:ext cx="7557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B886FF-6343-4715-9ACA-7EE11F775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22" y="2301099"/>
                <a:ext cx="755779" cy="584775"/>
              </a:xfrm>
              <a:prstGeom prst="rect">
                <a:avLst/>
              </a:prstGeom>
              <a:blipFill>
                <a:blip r:embed="rId8"/>
                <a:stretch>
                  <a:fillRect r="-4354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5E6353-1B40-4AC0-A43F-527A77546EB8}"/>
                  </a:ext>
                </a:extLst>
              </p:cNvPr>
              <p:cNvSpPr txBox="1"/>
              <p:nvPr/>
            </p:nvSpPr>
            <p:spPr>
              <a:xfrm>
                <a:off x="10141158" y="2301099"/>
                <a:ext cx="75577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3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ru-RU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B5E6353-1B40-4AC0-A43F-527A77546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1158" y="2301099"/>
                <a:ext cx="755779" cy="584775"/>
              </a:xfrm>
              <a:prstGeom prst="rect">
                <a:avLst/>
              </a:prstGeom>
              <a:blipFill>
                <a:blip r:embed="rId9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89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46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7DA0CA1-74EB-40CF-9E51-E165A13A71BD}"/>
              </a:ext>
            </a:extLst>
          </p:cNvPr>
          <p:cNvSpPr/>
          <p:nvPr/>
        </p:nvSpPr>
        <p:spPr>
          <a:xfrm>
            <a:off x="11556540" y="138599"/>
            <a:ext cx="3145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ru-RU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E7C54A35-195B-4975-A56D-732B75DA7B4B}"/>
              </a:ext>
            </a:extLst>
          </p:cNvPr>
          <p:cNvSpPr txBox="1">
            <a:spLocks/>
          </p:cNvSpPr>
          <p:nvPr/>
        </p:nvSpPr>
        <p:spPr>
          <a:xfrm>
            <a:off x="1900392" y="1363688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DAF5494B-9DB4-4570-A506-3A786F1C86BB}"/>
              </a:ext>
            </a:extLst>
          </p:cNvPr>
          <p:cNvSpPr/>
          <p:nvPr/>
        </p:nvSpPr>
        <p:spPr>
          <a:xfrm>
            <a:off x="133981" y="1028487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Сильные стороны</a:t>
            </a: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мощный метод кластеризации данных, который может идентифицировать кластеры, даже если они не могут быть четко разделены.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подход на основе графа, который позволяет зафиксировать базовую структуру данных, делая ее более гибкой, чем традиционные методы кластеризации.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Слабые стороны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Спектральная кластеризация может потребовать значительных вычислительных ресурсов, особенно для больших наборов данных или многомерных пространственных объектов.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Может зависеть от выбора метрики сходства и количества кластеров, что может потребовать нескольких запусков с разными настройками параметров.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Возможности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Его можно использовать для извлечения признаков и уменьшения размерности в других алгоритмах машинного обучения.</a:t>
            </a:r>
          </a:p>
          <a:p>
            <a:r>
              <a:rPr lang="ru-RU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Неприятности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Для больших наборов данных нужно еще посчитать собственные значения и вектора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Надо разбираться с </a:t>
            </a:r>
            <a:r>
              <a:rPr lang="ru-RU" sz="20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гиперпараметрами</a:t>
            </a:r>
            <a:r>
              <a:rPr lang="ru-RU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11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2135560" y="176904"/>
            <a:ext cx="8188842" cy="484915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S.W.O.T. (</a:t>
            </a:r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совместно с </a:t>
            </a:r>
            <a:r>
              <a:rPr lang="en-US" sz="32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ChatGPT</a:t>
            </a:r>
            <a:r>
              <a:rPr lang="en-US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16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42266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47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Резюме Лекции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5" name="Заголовок 1"/>
          <p:cNvSpPr txBox="1">
            <a:spLocks/>
          </p:cNvSpPr>
          <p:nvPr/>
        </p:nvSpPr>
        <p:spPr>
          <a:xfrm>
            <a:off x="1769838" y="981165"/>
            <a:ext cx="7920880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32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04D002-3332-EB2E-5865-0E51FC5BBD98}"/>
              </a:ext>
            </a:extLst>
          </p:cNvPr>
          <p:cNvSpPr/>
          <p:nvPr/>
        </p:nvSpPr>
        <p:spPr>
          <a:xfrm>
            <a:off x="722423" y="1231542"/>
            <a:ext cx="105131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ЕМ-кластеризация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Метод к-Средних 2.0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Не только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круги</a:t>
            </a: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, но и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эллипсы</a:t>
            </a: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Иерархическая кластеризация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Связи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Дендрограмма</a:t>
            </a:r>
            <a:endParaRPr lang="en-US" sz="24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Clr>
                <a:schemeClr val="bg1"/>
              </a:buClr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DBSCAN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epsilon, min points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шум и не шум</a:t>
            </a:r>
            <a:endParaRPr lang="ru-RU" sz="2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ru-RU" sz="24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Спектральная кластеризация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Какие-то графы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Какие-то </a:t>
            </a:r>
            <a:r>
              <a:rPr lang="ru-RU" sz="2400" dirty="0">
                <a:solidFill>
                  <a:srgbClr val="FF0000"/>
                </a:solidFill>
                <a:latin typeface="Montserrat" panose="020B0604020202020204" charset="-52"/>
                <a:ea typeface="Verdana" panose="020B0604030504040204" pitchFamily="34" charset="0"/>
              </a:rPr>
              <a:t>матрицы близости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Туда-сюда </a:t>
            </a:r>
            <a:r>
              <a:rPr lang="ru-RU" sz="2400" dirty="0">
                <a:solidFill>
                  <a:srgbClr val="00B0F0"/>
                </a:solidFill>
                <a:latin typeface="Montserrat" panose="020B0604020202020204" charset="-52"/>
                <a:ea typeface="Verdana" panose="020B0604030504040204" pitchFamily="34" charset="0"/>
              </a:rPr>
              <a:t>собственные значения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chemeClr val="bg1"/>
                </a:solidFill>
                <a:latin typeface="Montserrat" panose="020B0604020202020204" charset="-52"/>
                <a:ea typeface="Verdana" panose="020B0604030504040204" pitchFamily="34" charset="0"/>
              </a:rPr>
              <a:t>Зачем-то внутри к-Средние</a:t>
            </a:r>
          </a:p>
        </p:txBody>
      </p:sp>
    </p:spTree>
    <p:extLst>
      <p:ext uri="{BB962C8B-B14F-4D97-AF65-F5344CB8AC3E}">
        <p14:creationId xmlns:p14="http://schemas.microsoft.com/office/powerpoint/2010/main" val="209270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7"/>
          <p:cNvSpPr>
            <a:spLocks noGrp="1"/>
          </p:cNvSpPr>
          <p:nvPr>
            <p:ph type="sldNum" idx="4294967295"/>
          </p:nvPr>
        </p:nvSpPr>
        <p:spPr>
          <a:xfrm>
            <a:off x="11235591" y="6475125"/>
            <a:ext cx="956409" cy="382875"/>
          </a:xfrm>
          <a:prstGeom prst="rect">
            <a:avLst/>
          </a:prstGeom>
        </p:spPr>
        <p:txBody>
          <a:bodyPr/>
          <a:lstStyle/>
          <a:p>
            <a:fld id="{3CD50FA3-7693-4AD1-9E83-82DEDF06D4CE}" type="slidenum">
              <a:rPr lang="ru-RU" sz="2400" spc="-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48</a:t>
            </a:fld>
            <a:endParaRPr lang="ru-RU" sz="2400" spc="-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Нижний колонтитул 6"/>
          <p:cNvSpPr>
            <a:spLocks noGrp="1"/>
          </p:cNvSpPr>
          <p:nvPr>
            <p:ph type="ftr" idx="4294967295"/>
          </p:nvPr>
        </p:nvSpPr>
        <p:spPr>
          <a:xfrm>
            <a:off x="3143672" y="176904"/>
            <a:ext cx="7180730" cy="48491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ru-RU" sz="2400" spc="-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Кластеризация 2. Антон Долганов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69838" cy="1121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Прямая соединительная линия 13"/>
          <p:cNvCxnSpPr>
            <a:cxnSpLocks/>
          </p:cNvCxnSpPr>
          <p:nvPr/>
        </p:nvCxnSpPr>
        <p:spPr>
          <a:xfrm>
            <a:off x="0" y="884681"/>
            <a:ext cx="12192000" cy="21704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E2865-C550-491F-BD64-B31C7A88213A}"/>
              </a:ext>
            </a:extLst>
          </p:cNvPr>
          <p:cNvSpPr txBox="1"/>
          <p:nvPr/>
        </p:nvSpPr>
        <p:spPr>
          <a:xfrm>
            <a:off x="2567608" y="4010997"/>
            <a:ext cx="7299434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115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9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8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r>
              <a:rPr lang="en-US" sz="7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ru-RU" sz="6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EA569C7-0387-4145-9D9C-1711F780F398}"/>
              </a:ext>
            </a:extLst>
          </p:cNvPr>
          <p:cNvSpPr txBox="1">
            <a:spLocks/>
          </p:cNvSpPr>
          <p:nvPr/>
        </p:nvSpPr>
        <p:spPr>
          <a:xfrm>
            <a:off x="2063552" y="2188876"/>
            <a:ext cx="8568952" cy="8277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6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Вопросы, пожелания, предложения</a:t>
            </a:r>
          </a:p>
        </p:txBody>
      </p:sp>
    </p:spTree>
    <p:extLst>
      <p:ext uri="{BB962C8B-B14F-4D97-AF65-F5344CB8AC3E}">
        <p14:creationId xmlns:p14="http://schemas.microsoft.com/office/powerpoint/2010/main" val="219456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9903</TotalTime>
  <Words>1783</Words>
  <Application>Microsoft Office PowerPoint</Application>
  <PresentationFormat>Широкоэкранный</PresentationFormat>
  <Paragraphs>553</Paragraphs>
  <Slides>48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48</vt:i4>
      </vt:variant>
    </vt:vector>
  </HeadingPairs>
  <TitlesOfParts>
    <vt:vector size="58" baseType="lpstr">
      <vt:lpstr>-apple-system</vt:lpstr>
      <vt:lpstr>Arial</vt:lpstr>
      <vt:lpstr>Calibri</vt:lpstr>
      <vt:lpstr>Cambria Math</vt:lpstr>
      <vt:lpstr>Comic Sans MS</vt:lpstr>
      <vt:lpstr>Courier New</vt:lpstr>
      <vt:lpstr>Montserrat</vt:lpstr>
      <vt:lpstr>Times New Roman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</vt:lpstr>
      <vt:lpstr>Как выбрать метрику расстояния для групп точек?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Density-Based Spatial Clustering of Applications with Noise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Атоша</dc:creator>
  <cp:lastModifiedBy>Антон Юрьевич Долганов</cp:lastModifiedBy>
  <cp:revision>345</cp:revision>
  <dcterms:created xsi:type="dcterms:W3CDTF">2019-05-20T04:53:11Z</dcterms:created>
  <dcterms:modified xsi:type="dcterms:W3CDTF">2025-10-16T06:52:58Z</dcterms:modified>
</cp:coreProperties>
</file>