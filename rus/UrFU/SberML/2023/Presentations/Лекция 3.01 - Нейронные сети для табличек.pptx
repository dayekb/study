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642" r:id="rId2"/>
    <p:sldId id="718" r:id="rId3"/>
    <p:sldId id="644" r:id="rId4"/>
    <p:sldId id="692" r:id="rId5"/>
    <p:sldId id="721" r:id="rId6"/>
    <p:sldId id="688" r:id="rId7"/>
    <p:sldId id="689" r:id="rId8"/>
    <p:sldId id="719" r:id="rId9"/>
    <p:sldId id="690" r:id="rId10"/>
    <p:sldId id="722" r:id="rId11"/>
    <p:sldId id="723" r:id="rId12"/>
    <p:sldId id="724" r:id="rId13"/>
    <p:sldId id="691" r:id="rId14"/>
    <p:sldId id="693" r:id="rId15"/>
    <p:sldId id="720" r:id="rId16"/>
    <p:sldId id="646" r:id="rId17"/>
    <p:sldId id="726" r:id="rId18"/>
    <p:sldId id="727" r:id="rId19"/>
    <p:sldId id="729" r:id="rId20"/>
    <p:sldId id="730" r:id="rId21"/>
    <p:sldId id="728" r:id="rId22"/>
    <p:sldId id="725" r:id="rId23"/>
    <p:sldId id="695" r:id="rId24"/>
    <p:sldId id="696" r:id="rId25"/>
    <p:sldId id="731" r:id="rId26"/>
    <p:sldId id="716" r:id="rId27"/>
    <p:sldId id="681" r:id="rId28"/>
    <p:sldId id="683" r:id="rId29"/>
    <p:sldId id="677" r:id="rId30"/>
    <p:sldId id="685" r:id="rId31"/>
    <p:sldId id="679" r:id="rId32"/>
    <p:sldId id="687" r:id="rId33"/>
    <p:sldId id="686" r:id="rId34"/>
    <p:sldId id="717" r:id="rId35"/>
    <p:sldId id="448" r:id="rId36"/>
    <p:sldId id="261" r:id="rId3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7878"/>
    <a:srgbClr val="FF0000"/>
    <a:srgbClr val="E6D2D2"/>
    <a:srgbClr val="D95151"/>
    <a:srgbClr val="00FFFF"/>
    <a:srgbClr val="0000FF"/>
    <a:srgbClr val="FF00FF"/>
    <a:srgbClr val="00FF00"/>
    <a:srgbClr val="FFFF00"/>
    <a:srgbClr val="2728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94" autoAdjust="0"/>
    <p:restoredTop sz="96510" autoAdjust="0"/>
  </p:normalViewPr>
  <p:slideViewPr>
    <p:cSldViewPr>
      <p:cViewPr>
        <p:scale>
          <a:sx n="75" d="100"/>
          <a:sy n="75" d="100"/>
        </p:scale>
        <p:origin x="1638" y="8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905E3C-4BAB-4A96-A922-7BFAEF974B87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A539B-A58A-4F9A-84CC-CDDBAB2611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0886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bc613ab3f7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bc613ab3f7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643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0225" y="749300"/>
            <a:ext cx="6565900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3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12683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0225" y="749300"/>
            <a:ext cx="6565900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4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53784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0225" y="749300"/>
            <a:ext cx="6565900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5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006168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6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87817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7</a:t>
            </a:fld>
            <a:endParaRPr lang="ru-RU" sz="14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19094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8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70066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9</a:t>
            </a:fld>
            <a:endParaRPr lang="ru-RU" sz="14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331496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10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441202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11</a:t>
            </a:fld>
            <a:endParaRPr lang="ru-RU" sz="14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833445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12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774039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0225" y="749300"/>
            <a:ext cx="6565900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13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554377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0225" y="749300"/>
            <a:ext cx="6565900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14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105686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15</a:t>
            </a:fld>
            <a:endParaRPr lang="ru-RU" sz="14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57429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0225" y="749300"/>
            <a:ext cx="6565900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16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307748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17</a:t>
            </a:fld>
            <a:endParaRPr lang="ru-RU" sz="14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610781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18</a:t>
            </a:fld>
            <a:endParaRPr lang="ru-RU" sz="14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324779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19</a:t>
            </a:fld>
            <a:endParaRPr lang="ru-RU" sz="14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723901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20</a:t>
            </a:fld>
            <a:endParaRPr lang="ru-RU" sz="14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609890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21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625296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22</a:t>
            </a:fld>
            <a:endParaRPr lang="ru-RU" sz="14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265931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23</a:t>
            </a:fld>
            <a:endParaRPr lang="ru-RU" sz="14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18129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24</a:t>
            </a:fld>
            <a:endParaRPr lang="ru-RU" sz="14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932276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0225" y="749300"/>
            <a:ext cx="6565900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25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33200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0225" y="749300"/>
            <a:ext cx="6565900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26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823822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27</a:t>
            </a:fld>
            <a:endParaRPr lang="ru-RU" sz="14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234793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0225" y="749300"/>
            <a:ext cx="6565900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28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9278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29</a:t>
            </a:fld>
            <a:endParaRPr lang="ru-RU" sz="14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891140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0225" y="749300"/>
            <a:ext cx="6565900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30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911957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31</a:t>
            </a:fld>
            <a:endParaRPr lang="ru-RU" sz="14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5535506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0225" y="749300"/>
            <a:ext cx="6565900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32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375655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0225" y="749300"/>
            <a:ext cx="6565900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33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0824186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0225" y="749300"/>
            <a:ext cx="6565900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34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585551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35</a:t>
            </a:fld>
            <a:endParaRPr lang="ru-RU" sz="14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078795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36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08930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DC46B-BE05-4BFD-B423-064840840BFA}" type="datetime1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70952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348AA-79BF-4139-A06A-CBB83AB35ED8}" type="datetime1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8911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4D8A0-D245-487E-91D0-4E85F7E4C938}" type="datetime1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644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A015B-A8C5-4989-91DF-1952A51BE74A}" type="datetime1">
              <a:rPr lang="ru-RU" smtClean="0"/>
              <a:t>15.09.2025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05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E829D-FE7F-4E08-8C17-836F1E75160C}" type="datetime1">
              <a:rPr lang="ru-RU" smtClean="0"/>
              <a:t>15.09.2025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4606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2B254-7C8B-44F4-81CD-A499FFA04CF2}" type="datetime1">
              <a:rPr lang="ru-RU" smtClean="0"/>
              <a:t>15.09.2025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9915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69827-04C1-4807-AC18-1CB4161CCF17}" type="datetime1">
              <a:rPr lang="ru-RU" smtClean="0"/>
              <a:t>15.09.2025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165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68002-C01E-4F6E-AEFA-57C696E61DDA}" type="datetime1">
              <a:rPr lang="ru-RU" smtClean="0"/>
              <a:t>15.09.2025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806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90BDF-3380-4A56-A9A6-4B3946EE38FF}" type="datetime1">
              <a:rPr lang="ru-RU" smtClean="0"/>
              <a:t>15.09.2025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8544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28CBF-D277-4BD9-A99E-71FCF837E7D5}" type="datetime1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532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2D099-AD14-4929-9C93-1ACCC971F1C7}" type="datetime1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53755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4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08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2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171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713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25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79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34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5F0B6-3BFF-4BEE-A94F-245D60A7DD22}" type="datetime1">
              <a:rPr lang="ru-RU" smtClean="0"/>
              <a:t>15.09.2025</a:t>
            </a:fld>
            <a:endParaRPr lang="ru-RU"/>
          </a:p>
        </p:txBody>
      </p:sp>
      <p:sp>
        <p:nvSpPr>
          <p:cNvPr id="7" name="Нижний колонтитул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40727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782"/>
            </a:lvl1pPr>
            <a:lvl2pPr>
              <a:defRPr sz="2385"/>
            </a:lvl2pPr>
            <a:lvl3pPr>
              <a:defRPr sz="1987"/>
            </a:lvl3pPr>
            <a:lvl4pPr>
              <a:defRPr sz="1788"/>
            </a:lvl4pPr>
            <a:lvl5pPr>
              <a:defRPr sz="1788"/>
            </a:lvl5pPr>
            <a:lvl6pPr>
              <a:defRPr sz="1788"/>
            </a:lvl6pPr>
            <a:lvl7pPr>
              <a:defRPr sz="1788"/>
            </a:lvl7pPr>
            <a:lvl8pPr>
              <a:defRPr sz="1788"/>
            </a:lvl8pPr>
            <a:lvl9pPr>
              <a:defRPr sz="1788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782"/>
            </a:lvl1pPr>
            <a:lvl2pPr>
              <a:defRPr sz="2385"/>
            </a:lvl2pPr>
            <a:lvl3pPr>
              <a:defRPr sz="1987"/>
            </a:lvl3pPr>
            <a:lvl4pPr>
              <a:defRPr sz="1788"/>
            </a:lvl4pPr>
            <a:lvl5pPr>
              <a:defRPr sz="1788"/>
            </a:lvl5pPr>
            <a:lvl6pPr>
              <a:defRPr sz="1788"/>
            </a:lvl6pPr>
            <a:lvl7pPr>
              <a:defRPr sz="1788"/>
            </a:lvl7pPr>
            <a:lvl8pPr>
              <a:defRPr sz="1788"/>
            </a:lvl8pPr>
            <a:lvl9pPr>
              <a:defRPr sz="1788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52461-FDC2-4D86-9028-7C154E87B033}" type="datetime1">
              <a:rPr lang="ru-RU" smtClean="0"/>
              <a:t>15.09.2025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817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782"/>
            </a:lvl1pPr>
            <a:lvl2pPr>
              <a:defRPr sz="2385"/>
            </a:lvl2pPr>
            <a:lvl3pPr>
              <a:defRPr sz="1987"/>
            </a:lvl3pPr>
            <a:lvl4pPr>
              <a:defRPr sz="1788"/>
            </a:lvl4pPr>
            <a:lvl5pPr>
              <a:defRPr sz="1788"/>
            </a:lvl5pPr>
            <a:lvl6pPr>
              <a:defRPr sz="1788"/>
            </a:lvl6pPr>
            <a:lvl7pPr>
              <a:defRPr sz="1788"/>
            </a:lvl7pPr>
            <a:lvl8pPr>
              <a:defRPr sz="1788"/>
            </a:lvl8pPr>
            <a:lvl9pPr>
              <a:defRPr sz="1788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782"/>
            </a:lvl1pPr>
            <a:lvl2pPr>
              <a:defRPr sz="2385"/>
            </a:lvl2pPr>
            <a:lvl3pPr>
              <a:defRPr sz="1987"/>
            </a:lvl3pPr>
            <a:lvl4pPr>
              <a:defRPr sz="1788"/>
            </a:lvl4pPr>
            <a:lvl5pPr>
              <a:defRPr sz="1788"/>
            </a:lvl5pPr>
            <a:lvl6pPr>
              <a:defRPr sz="1788"/>
            </a:lvl6pPr>
            <a:lvl7pPr>
              <a:defRPr sz="1788"/>
            </a:lvl7pPr>
            <a:lvl8pPr>
              <a:defRPr sz="1788"/>
            </a:lvl8pPr>
            <a:lvl9pPr>
              <a:defRPr sz="1788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823E3-769E-4913-ADEF-6192F155A76A}" type="datetime1">
              <a:rPr lang="ru-RU" smtClean="0"/>
              <a:t>15.09.2025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46566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782"/>
            </a:lvl1pPr>
            <a:lvl2pPr>
              <a:defRPr sz="2385"/>
            </a:lvl2pPr>
            <a:lvl3pPr>
              <a:defRPr sz="1987"/>
            </a:lvl3pPr>
            <a:lvl4pPr>
              <a:defRPr sz="1788"/>
            </a:lvl4pPr>
            <a:lvl5pPr>
              <a:defRPr sz="1788"/>
            </a:lvl5pPr>
            <a:lvl6pPr>
              <a:defRPr sz="1788"/>
            </a:lvl6pPr>
            <a:lvl7pPr>
              <a:defRPr sz="1788"/>
            </a:lvl7pPr>
            <a:lvl8pPr>
              <a:defRPr sz="1788"/>
            </a:lvl8pPr>
            <a:lvl9pPr>
              <a:defRPr sz="1788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782"/>
            </a:lvl1pPr>
            <a:lvl2pPr>
              <a:defRPr sz="2385"/>
            </a:lvl2pPr>
            <a:lvl3pPr>
              <a:defRPr sz="1987"/>
            </a:lvl3pPr>
            <a:lvl4pPr>
              <a:defRPr sz="1788"/>
            </a:lvl4pPr>
            <a:lvl5pPr>
              <a:defRPr sz="1788"/>
            </a:lvl5pPr>
            <a:lvl6pPr>
              <a:defRPr sz="1788"/>
            </a:lvl6pPr>
            <a:lvl7pPr>
              <a:defRPr sz="1788"/>
            </a:lvl7pPr>
            <a:lvl8pPr>
              <a:defRPr sz="1788"/>
            </a:lvl8pPr>
            <a:lvl9pPr>
              <a:defRPr sz="1788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CAAFC-97F3-45E4-989B-5174E3276456}" type="datetime1">
              <a:rPr lang="ru-RU" smtClean="0"/>
              <a:t>15.09.2025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59353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 txBox="1">
            <a:spLocks noGrp="1"/>
          </p:cNvSpPr>
          <p:nvPr>
            <p:ph type="body" idx="1"/>
          </p:nvPr>
        </p:nvSpPr>
        <p:spPr>
          <a:xfrm>
            <a:off x="415600" y="1536634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605659" lvl="0" indent="-42059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1211318" lvl="1" indent="-420596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16977" lvl="2" indent="-420596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22636" lvl="3" indent="-42059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28294" lvl="4" indent="-420596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33954" lvl="5" indent="-420596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39613" lvl="6" indent="-42059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45271" lvl="7" indent="-420596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50931" lvl="8" indent="-420596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693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16FB6D-7311-4EE3-8937-70ACAE5F4E44}" type="datetime1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A88F4C9D-76F1-44A5-8E0D-429814420D9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6352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4" r:id="rId15"/>
    <p:sldLayoutId id="2147483665" r:id="rId16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5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0.png"/><Relationship Id="rId5" Type="http://schemas.openxmlformats.org/officeDocument/2006/relationships/image" Target="../media/image110.png"/><Relationship Id="rId4" Type="http://schemas.openxmlformats.org/officeDocument/2006/relationships/image" Target="../media/image10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6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0.png"/><Relationship Id="rId5" Type="http://schemas.openxmlformats.org/officeDocument/2006/relationships/image" Target="../media/image140.png"/><Relationship Id="rId4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NUL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NULL"/><Relationship Id="rId4" Type="http://schemas.openxmlformats.org/officeDocument/2006/relationships/image" Target="../media/image11.png"/><Relationship Id="rId9" Type="http://schemas.openxmlformats.org/officeDocument/2006/relationships/image" Target="NUL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2.png"/><Relationship Id="rId5" Type="http://schemas.openxmlformats.org/officeDocument/2006/relationships/image" Target="../media/image4.sv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0.png"/><Relationship Id="rId18" Type="http://schemas.openxmlformats.org/officeDocument/2006/relationships/image" Target="../media/image19.emf"/><Relationship Id="rId3" Type="http://schemas.openxmlformats.org/officeDocument/2006/relationships/image" Target="../media/image3.png"/><Relationship Id="rId21" Type="http://schemas.openxmlformats.org/officeDocument/2006/relationships/image" Target="../media/image22.emf"/><Relationship Id="rId12" Type="http://schemas.openxmlformats.org/officeDocument/2006/relationships/image" Target="../media/image320.png"/><Relationship Id="rId17" Type="http://schemas.openxmlformats.org/officeDocument/2006/relationships/image" Target="../media/image18.emf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17.emf"/><Relationship Id="rId20" Type="http://schemas.openxmlformats.org/officeDocument/2006/relationships/image" Target="../media/image21.emf"/><Relationship Id="rId1" Type="http://schemas.openxmlformats.org/officeDocument/2006/relationships/slideLayout" Target="../slideLayouts/slideLayout4.xml"/><Relationship Id="rId11" Type="http://schemas.openxmlformats.org/officeDocument/2006/relationships/image" Target="../media/image310.png"/><Relationship Id="rId15" Type="http://schemas.openxmlformats.org/officeDocument/2006/relationships/image" Target="../media/image16.emf"/><Relationship Id="rId23" Type="http://schemas.openxmlformats.org/officeDocument/2006/relationships/image" Target="../media/image44.png"/><Relationship Id="rId10" Type="http://schemas.openxmlformats.org/officeDocument/2006/relationships/image" Target="../media/image300.png"/><Relationship Id="rId19" Type="http://schemas.openxmlformats.org/officeDocument/2006/relationships/image" Target="../media/image20.emf"/><Relationship Id="rId4" Type="http://schemas.openxmlformats.org/officeDocument/2006/relationships/image" Target="../media/image35.png"/><Relationship Id="rId9" Type="http://schemas.openxmlformats.org/officeDocument/2006/relationships/image" Target="../media/image290.png"/><Relationship Id="rId14" Type="http://schemas.openxmlformats.org/officeDocument/2006/relationships/image" Target="../media/image340.png"/><Relationship Id="rId22" Type="http://schemas.openxmlformats.org/officeDocument/2006/relationships/image" Target="../media/image23.emf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0.png"/><Relationship Id="rId18" Type="http://schemas.openxmlformats.org/officeDocument/2006/relationships/image" Target="../media/image19.emf"/><Relationship Id="rId3" Type="http://schemas.openxmlformats.org/officeDocument/2006/relationships/image" Target="../media/image3.png"/><Relationship Id="rId21" Type="http://schemas.openxmlformats.org/officeDocument/2006/relationships/image" Target="../media/image22.emf"/><Relationship Id="rId12" Type="http://schemas.openxmlformats.org/officeDocument/2006/relationships/image" Target="../media/image320.png"/><Relationship Id="rId17" Type="http://schemas.openxmlformats.org/officeDocument/2006/relationships/image" Target="../media/image18.emf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17.emf"/><Relationship Id="rId20" Type="http://schemas.openxmlformats.org/officeDocument/2006/relationships/image" Target="../media/image21.emf"/><Relationship Id="rId1" Type="http://schemas.openxmlformats.org/officeDocument/2006/relationships/slideLayout" Target="../slideLayouts/slideLayout4.xml"/><Relationship Id="rId11" Type="http://schemas.openxmlformats.org/officeDocument/2006/relationships/image" Target="../media/image310.png"/><Relationship Id="rId15" Type="http://schemas.openxmlformats.org/officeDocument/2006/relationships/image" Target="../media/image16.emf"/><Relationship Id="rId23" Type="http://schemas.openxmlformats.org/officeDocument/2006/relationships/image" Target="../media/image44.png"/><Relationship Id="rId10" Type="http://schemas.openxmlformats.org/officeDocument/2006/relationships/image" Target="../media/image300.png"/><Relationship Id="rId19" Type="http://schemas.openxmlformats.org/officeDocument/2006/relationships/image" Target="../media/image20.emf"/><Relationship Id="rId4" Type="http://schemas.openxmlformats.org/officeDocument/2006/relationships/image" Target="../media/image27.png"/><Relationship Id="rId9" Type="http://schemas.openxmlformats.org/officeDocument/2006/relationships/image" Target="../media/image290.png"/><Relationship Id="rId14" Type="http://schemas.openxmlformats.org/officeDocument/2006/relationships/image" Target="../media/image340.png"/><Relationship Id="rId22" Type="http://schemas.openxmlformats.org/officeDocument/2006/relationships/image" Target="../media/image23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0.png"/><Relationship Id="rId3" Type="http://schemas.openxmlformats.org/officeDocument/2006/relationships/image" Target="../media/image3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10.png"/><Relationship Id="rId5" Type="http://schemas.openxmlformats.org/officeDocument/2006/relationships/image" Target="../media/image14.sv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svg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.png"/><Relationship Id="rId7" Type="http://schemas.openxmlformats.org/officeDocument/2006/relationships/image" Target="../media/image37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5" Type="http://schemas.openxmlformats.org/officeDocument/2006/relationships/image" Target="../media/image20.svg"/><Relationship Id="rId4" Type="http://schemas.openxmlformats.org/officeDocument/2006/relationships/image" Target="../media/image32.png"/><Relationship Id="rId9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3.png"/><Relationship Id="rId7" Type="http://schemas.openxmlformats.org/officeDocument/2006/relationships/image" Target="NUL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6A859E78-5F82-4E88-96C1-6B761C77A910}"/>
              </a:ext>
            </a:extLst>
          </p:cNvPr>
          <p:cNvSpPr txBox="1">
            <a:spLocks/>
          </p:cNvSpPr>
          <p:nvPr/>
        </p:nvSpPr>
        <p:spPr>
          <a:xfrm>
            <a:off x="1" y="2149659"/>
            <a:ext cx="12113637" cy="3086672"/>
          </a:xfrm>
          <a:prstGeom prst="rect">
            <a:avLst/>
          </a:prstGeom>
        </p:spPr>
        <p:txBody>
          <a:bodyPr vert="horz" lIns="90852" tIns="45427" rIns="90852" bIns="45427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372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Машинное Обучение</a:t>
            </a:r>
          </a:p>
          <a:p>
            <a:endParaRPr lang="ru-RU" sz="4372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4372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Лекция </a:t>
            </a:r>
            <a:r>
              <a:rPr lang="ru-RU" sz="4372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3.01</a:t>
            </a:r>
            <a:endParaRPr lang="ru-RU" sz="4372" b="1" dirty="0" smtClean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4372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 которой мы попытаемся </a:t>
            </a:r>
            <a:r>
              <a:rPr lang="ru-RU" sz="4372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соединить </a:t>
            </a:r>
            <a:r>
              <a:rPr lang="ru-RU" sz="4372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сюжетные линии про таблички и про </a:t>
            </a:r>
            <a:r>
              <a:rPr lang="ru-RU" sz="4372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нейронки</a:t>
            </a:r>
            <a:endParaRPr lang="ru-RU" sz="4372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Текст 2">
            <a:extLst>
              <a:ext uri="{FF2B5EF4-FFF2-40B4-BE49-F238E27FC236}">
                <a16:creationId xmlns:a16="http://schemas.microsoft.com/office/drawing/2014/main" id="{5B114D4F-8D97-4878-A5F6-1201613995E0}"/>
              </a:ext>
            </a:extLst>
          </p:cNvPr>
          <p:cNvSpPr txBox="1">
            <a:spLocks/>
          </p:cNvSpPr>
          <p:nvPr/>
        </p:nvSpPr>
        <p:spPr>
          <a:xfrm>
            <a:off x="3377284" y="5002994"/>
            <a:ext cx="4988988" cy="873543"/>
          </a:xfrm>
          <a:prstGeom prst="rect">
            <a:avLst/>
          </a:prstGeom>
        </p:spPr>
        <p:txBody>
          <a:bodyPr vert="horz" lIns="90852" tIns="45427" rIns="90852" bIns="45427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385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Долганов Антон Юрьевич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30CE8CB-C355-8D2A-5A9C-5A5ABAC59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600" y="32730"/>
            <a:ext cx="3340963" cy="2116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3602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8" name="Google Shape;138;p26"/>
          <p:cNvCxnSpPr/>
          <p:nvPr/>
        </p:nvCxnSpPr>
        <p:spPr>
          <a:xfrm>
            <a:off x="647911" y="571850"/>
            <a:ext cx="10957118" cy="0"/>
          </a:xfrm>
          <a:prstGeom prst="straightConnector1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9" name="Google Shape;139;p26"/>
          <p:cNvSpPr txBox="1"/>
          <p:nvPr/>
        </p:nvSpPr>
        <p:spPr>
          <a:xfrm>
            <a:off x="647910" y="696345"/>
            <a:ext cx="10264158" cy="87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117" rIns="121117" bIns="121117" anchor="t" anchorCtr="0">
            <a:noAutofit/>
          </a:bodyPr>
          <a:lstStyle/>
          <a:p>
            <a:r>
              <a:rPr lang="ru-RU" sz="3974" b="1" dirty="0" smtClean="0">
                <a:solidFill>
                  <a:srgbClr val="F3F3F3"/>
                </a:solidFill>
                <a:latin typeface="Montserrat" panose="020B0604020202020204" charset="-52"/>
                <a:ea typeface="Montserrat Black"/>
                <a:cs typeface="Montserrat Black"/>
                <a:sym typeface="Montserrat Black"/>
              </a:rPr>
              <a:t>Ранее</a:t>
            </a:r>
            <a:endParaRPr sz="3974" dirty="0">
              <a:solidFill>
                <a:srgbClr val="FFC000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40" name="Google Shape;140;p26"/>
          <p:cNvSpPr txBox="1"/>
          <p:nvPr/>
        </p:nvSpPr>
        <p:spPr>
          <a:xfrm>
            <a:off x="263352" y="2060848"/>
            <a:ext cx="4642294" cy="1028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117" bIns="121117" anchor="t" anchorCtr="0">
            <a:noAutofit/>
          </a:bodyPr>
          <a:lstStyle/>
          <a:p>
            <a:pPr algn="ctr"/>
            <a:r>
              <a:rPr lang="ru-RU" sz="3586" b="1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Классический </a:t>
            </a:r>
            <a:r>
              <a:rPr lang="en-US" sz="3586" b="1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ML</a:t>
            </a:r>
            <a:endParaRPr sz="3586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1" name="Google Shape;141;p26"/>
          <p:cNvCxnSpPr/>
          <p:nvPr/>
        </p:nvCxnSpPr>
        <p:spPr>
          <a:xfrm>
            <a:off x="647911" y="2955132"/>
            <a:ext cx="10957118" cy="0"/>
          </a:xfrm>
          <a:prstGeom prst="straightConnector1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2" name="Google Shape;142;p26"/>
          <p:cNvSpPr txBox="1"/>
          <p:nvPr/>
        </p:nvSpPr>
        <p:spPr>
          <a:xfrm>
            <a:off x="3219211" y="108116"/>
            <a:ext cx="5753580" cy="362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117" tIns="121117" rIns="121117" bIns="121117" anchor="t" anchorCtr="0">
            <a:noAutofit/>
          </a:bodyPr>
          <a:lstStyle/>
          <a:p>
            <a:pPr algn="ctr"/>
            <a:r>
              <a:rPr lang="en-US" sz="106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Вебинар от ментора</a:t>
            </a:r>
            <a:endParaRPr sz="106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/>
            <a:endParaRPr sz="106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26"/>
          <p:cNvSpPr/>
          <p:nvPr/>
        </p:nvSpPr>
        <p:spPr>
          <a:xfrm>
            <a:off x="1513959" y="2816231"/>
            <a:ext cx="277803" cy="277803"/>
          </a:xfrm>
          <a:prstGeom prst="ellipse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txBody>
          <a:bodyPr spcFirstLastPara="1" wrap="square" lIns="121117" tIns="121117" rIns="121117" bIns="121117" anchor="ctr" anchorCtr="0">
            <a:noAutofit/>
          </a:bodyPr>
          <a:lstStyle/>
          <a:p>
            <a:pPr algn="ctr"/>
            <a:r>
              <a:rPr lang="ru-RU" sz="2477" dirty="0">
                <a:solidFill>
                  <a:srgbClr val="FF0000"/>
                </a:solidFill>
              </a:rPr>
              <a:t>1</a:t>
            </a:r>
            <a:endParaRPr sz="2477" dirty="0">
              <a:solidFill>
                <a:srgbClr val="FF0000"/>
              </a:solidFill>
            </a:endParaRPr>
          </a:p>
        </p:txBody>
      </p:sp>
      <p:sp>
        <p:nvSpPr>
          <p:cNvPr id="150" name="Google Shape;150;p26"/>
          <p:cNvSpPr/>
          <p:nvPr/>
        </p:nvSpPr>
        <p:spPr>
          <a:xfrm>
            <a:off x="5830833" y="2816231"/>
            <a:ext cx="277803" cy="277803"/>
          </a:xfrm>
          <a:prstGeom prst="ellipse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txBody>
          <a:bodyPr spcFirstLastPara="1" wrap="square" lIns="121117" tIns="121117" rIns="121117" bIns="121117" anchor="ctr" anchorCtr="0">
            <a:noAutofit/>
          </a:bodyPr>
          <a:lstStyle/>
          <a:p>
            <a:pPr algn="ctr"/>
            <a:r>
              <a:rPr lang="ru-RU" sz="2477" dirty="0">
                <a:solidFill>
                  <a:srgbClr val="FF0000"/>
                </a:solidFill>
              </a:rPr>
              <a:t>2</a:t>
            </a:r>
            <a:endParaRPr sz="2477" dirty="0">
              <a:solidFill>
                <a:srgbClr val="FF0000"/>
              </a:solidFill>
            </a:endParaRPr>
          </a:p>
        </p:txBody>
      </p:sp>
      <p:sp>
        <p:nvSpPr>
          <p:cNvPr id="152" name="Google Shape;152;p26"/>
          <p:cNvSpPr txBox="1"/>
          <p:nvPr/>
        </p:nvSpPr>
        <p:spPr>
          <a:xfrm>
            <a:off x="695400" y="3122277"/>
            <a:ext cx="3888432" cy="3717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117" bIns="121117" anchor="t" anchorCtr="0">
            <a:noAutofit/>
          </a:bodyPr>
          <a:lstStyle/>
          <a:p>
            <a:pPr marL="284636" indent="-284636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ru-RU" sz="1992" dirty="0">
                <a:solidFill>
                  <a:srgbClr val="F0F0F0"/>
                </a:solidFill>
                <a:latin typeface="Montserrat"/>
                <a:ea typeface="Montserrat"/>
                <a:cs typeface="Montserrat"/>
                <a:sym typeface="Montserrat"/>
              </a:rPr>
              <a:t>Введение</a:t>
            </a:r>
          </a:p>
          <a:p>
            <a:pPr marL="284636" indent="-284636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ru-RU" sz="1992" dirty="0">
                <a:solidFill>
                  <a:srgbClr val="F0F0F0"/>
                </a:solidFill>
                <a:latin typeface="Montserrat"/>
                <a:ea typeface="Montserrat"/>
                <a:cs typeface="Montserrat"/>
                <a:sym typeface="Montserrat"/>
              </a:rPr>
              <a:t>Ключевые понятия </a:t>
            </a:r>
            <a:endParaRPr lang="en-US" sz="1992" dirty="0" smtClean="0">
              <a:solidFill>
                <a:srgbClr val="F0F0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4636" indent="-284636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ru-RU" sz="1992" dirty="0" smtClean="0">
                <a:solidFill>
                  <a:srgbClr val="F0F0F0"/>
                </a:solidFill>
                <a:latin typeface="Montserrat"/>
                <a:ea typeface="Montserrat"/>
                <a:cs typeface="Montserrat"/>
                <a:sym typeface="Montserrat"/>
              </a:rPr>
              <a:t>Основы </a:t>
            </a:r>
            <a:r>
              <a:rPr lang="ru-RU" sz="1992" dirty="0">
                <a:solidFill>
                  <a:srgbClr val="F0F0F0"/>
                </a:solidFill>
                <a:latin typeface="Montserrat"/>
                <a:ea typeface="Montserrat"/>
                <a:cs typeface="Montserrat"/>
                <a:sym typeface="Montserrat"/>
              </a:rPr>
              <a:t>работы с Данными</a:t>
            </a:r>
          </a:p>
          <a:p>
            <a:pPr marL="284636" indent="-284636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ru-RU" sz="1992" dirty="0">
                <a:solidFill>
                  <a:srgbClr val="F0F0F0"/>
                </a:solidFill>
                <a:latin typeface="Montserrat"/>
                <a:ea typeface="Montserrat"/>
                <a:cs typeface="Montserrat"/>
                <a:sym typeface="Montserrat"/>
              </a:rPr>
              <a:t>Линейные модели </a:t>
            </a:r>
            <a:r>
              <a:rPr lang="en-US" sz="1992" dirty="0" smtClean="0">
                <a:solidFill>
                  <a:srgbClr val="F0F0F0"/>
                </a:solidFill>
                <a:latin typeface="Montserrat"/>
                <a:ea typeface="Montserrat"/>
                <a:cs typeface="Montserrat"/>
                <a:sym typeface="Montserrat"/>
              </a:rPr>
              <a:t>ML</a:t>
            </a:r>
            <a:endParaRPr lang="ru-RU" sz="1992" dirty="0">
              <a:solidFill>
                <a:srgbClr val="F0F0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4636" lvl="1" indent="-284636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ru-RU" sz="1992" dirty="0">
                <a:solidFill>
                  <a:srgbClr val="F0F0F0"/>
                </a:solidFill>
                <a:latin typeface="Montserrat"/>
                <a:ea typeface="Montserrat"/>
                <a:cs typeface="Montserrat"/>
                <a:sym typeface="Montserrat"/>
              </a:rPr>
              <a:t>Регрессия</a:t>
            </a:r>
          </a:p>
          <a:p>
            <a:pPr marL="284636" lvl="1" indent="-284636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ru-RU" sz="1992" dirty="0">
                <a:solidFill>
                  <a:srgbClr val="F0F0F0"/>
                </a:solidFill>
                <a:latin typeface="Montserrat"/>
                <a:ea typeface="Montserrat"/>
                <a:cs typeface="Montserrat"/>
                <a:sym typeface="Montserrat"/>
              </a:rPr>
              <a:t>Классификация</a:t>
            </a:r>
          </a:p>
          <a:p>
            <a:pPr marL="284636" lvl="1" indent="-284636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ru-RU" sz="1992" dirty="0" smtClean="0">
                <a:solidFill>
                  <a:srgbClr val="F0F0F0"/>
                </a:solidFill>
                <a:latin typeface="Montserrat"/>
                <a:ea typeface="Montserrat"/>
                <a:cs typeface="Montserrat"/>
                <a:sym typeface="Montserrat"/>
              </a:rPr>
              <a:t>Кластеризация</a:t>
            </a:r>
          </a:p>
          <a:p>
            <a:pPr marL="284636" indent="-284636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ru-RU" sz="2391" dirty="0">
                <a:solidFill>
                  <a:srgbClr val="F0F0F0"/>
                </a:solidFill>
                <a:latin typeface="Montserrat"/>
                <a:ea typeface="Montserrat"/>
                <a:cs typeface="Montserrat"/>
                <a:sym typeface="Montserrat"/>
              </a:rPr>
              <a:t>Разные</a:t>
            </a:r>
            <a:r>
              <a:rPr lang="ru-RU" sz="1992" dirty="0">
                <a:solidFill>
                  <a:srgbClr val="F0F0F0"/>
                </a:solidFill>
                <a:latin typeface="Montserrat"/>
                <a:ea typeface="Montserrat"/>
                <a:cs typeface="Montserrat"/>
                <a:sym typeface="Montserrat"/>
              </a:rPr>
              <a:t> модели </a:t>
            </a:r>
            <a:r>
              <a:rPr lang="en-US" sz="1992" dirty="0">
                <a:solidFill>
                  <a:srgbClr val="F0F0F0"/>
                </a:solidFill>
                <a:latin typeface="Montserrat"/>
                <a:ea typeface="Montserrat"/>
                <a:cs typeface="Montserrat"/>
                <a:sym typeface="Montserrat"/>
              </a:rPr>
              <a:t>ML</a:t>
            </a:r>
            <a:endParaRPr lang="ru-RU" sz="1992" dirty="0">
              <a:solidFill>
                <a:srgbClr val="F0F0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4636" indent="-284636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ru-RU" sz="1992" dirty="0" smtClean="0">
                <a:solidFill>
                  <a:srgbClr val="F0F0F0"/>
                </a:solidFill>
                <a:latin typeface="Montserrat"/>
                <a:ea typeface="Montserrat"/>
                <a:cs typeface="Montserrat"/>
                <a:sym typeface="Montserrat"/>
              </a:rPr>
              <a:t>Метрические </a:t>
            </a:r>
            <a:endParaRPr lang="ru-RU" sz="1992" dirty="0">
              <a:solidFill>
                <a:srgbClr val="F0F0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4636" indent="-284636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ru-RU" sz="1992" dirty="0">
                <a:solidFill>
                  <a:srgbClr val="F0F0F0"/>
                </a:solidFill>
                <a:latin typeface="Montserrat"/>
                <a:ea typeface="Montserrat"/>
                <a:cs typeface="Montserrat"/>
                <a:sym typeface="Montserrat"/>
              </a:rPr>
              <a:t>Вероятностные</a:t>
            </a:r>
          </a:p>
          <a:p>
            <a:pPr marL="284636" indent="-284636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ru-RU" sz="1992" dirty="0">
                <a:solidFill>
                  <a:srgbClr val="F0F0F0"/>
                </a:solidFill>
                <a:latin typeface="Montserrat"/>
                <a:ea typeface="Montserrat"/>
                <a:cs typeface="Montserrat"/>
                <a:sym typeface="Montserrat"/>
              </a:rPr>
              <a:t>Деревья решений</a:t>
            </a:r>
          </a:p>
          <a:p>
            <a:pPr marL="284636" indent="-284636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ru-RU" sz="1992" dirty="0">
                <a:solidFill>
                  <a:srgbClr val="F0F0F0"/>
                </a:solidFill>
                <a:latin typeface="Montserrat"/>
                <a:ea typeface="Montserrat"/>
                <a:cs typeface="Montserrat"/>
                <a:sym typeface="Montserrat"/>
              </a:rPr>
              <a:t>Ансамбли</a:t>
            </a:r>
          </a:p>
          <a:p>
            <a:pPr marL="0" lvl="1">
              <a:buClr>
                <a:srgbClr val="FFC000"/>
              </a:buClr>
            </a:pPr>
            <a:endParaRPr sz="1992" dirty="0">
              <a:solidFill>
                <a:srgbClr val="F0F0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26"/>
          <p:cNvSpPr/>
          <p:nvPr/>
        </p:nvSpPr>
        <p:spPr>
          <a:xfrm>
            <a:off x="10400239" y="2816231"/>
            <a:ext cx="277803" cy="277803"/>
          </a:xfrm>
          <a:prstGeom prst="ellipse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txBody>
          <a:bodyPr spcFirstLastPara="1" wrap="square" lIns="121117" tIns="121117" rIns="121117" bIns="121117" anchor="ctr" anchorCtr="0">
            <a:noAutofit/>
          </a:bodyPr>
          <a:lstStyle/>
          <a:p>
            <a:pPr algn="ctr"/>
            <a:r>
              <a:rPr lang="ru-RU" sz="2477" dirty="0">
                <a:solidFill>
                  <a:srgbClr val="FF0000"/>
                </a:solidFill>
              </a:rPr>
              <a:t>3</a:t>
            </a:r>
            <a:endParaRPr sz="2477" dirty="0">
              <a:solidFill>
                <a:srgbClr val="FF0000"/>
              </a:solidFill>
            </a:endParaRPr>
          </a:p>
        </p:txBody>
      </p:sp>
      <p:sp>
        <p:nvSpPr>
          <p:cNvPr id="24" name="Google Shape;140;p26"/>
          <p:cNvSpPr txBox="1"/>
          <p:nvPr/>
        </p:nvSpPr>
        <p:spPr>
          <a:xfrm>
            <a:off x="4572428" y="1766740"/>
            <a:ext cx="3552283" cy="615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117" bIns="121117" anchor="t" anchorCtr="0">
            <a:noAutofit/>
          </a:bodyPr>
          <a:lstStyle/>
          <a:p>
            <a:pPr algn="ctr">
              <a:lnSpc>
                <a:spcPct val="141818"/>
              </a:lnSpc>
              <a:spcBef>
                <a:spcPts val="1325"/>
              </a:spcBef>
            </a:pPr>
            <a:r>
              <a:rPr lang="ru-RU" sz="3586" b="1" dirty="0" err="1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Нейронки</a:t>
            </a:r>
            <a:r>
              <a:rPr lang="ru-RU" sz="3586" b="1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3586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" name="Google Shape;140;p26"/>
          <p:cNvSpPr txBox="1"/>
          <p:nvPr/>
        </p:nvSpPr>
        <p:spPr>
          <a:xfrm>
            <a:off x="8971794" y="1964923"/>
            <a:ext cx="2455099" cy="81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117" bIns="121117" anchor="t" anchorCtr="0">
            <a:noAutofit/>
          </a:bodyPr>
          <a:lstStyle/>
          <a:p>
            <a:pPr algn="ctr">
              <a:spcBef>
                <a:spcPts val="1325"/>
              </a:spcBef>
            </a:pPr>
            <a:r>
              <a:rPr lang="en-US" sz="3586" b="1" strike="sngStrike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MLOPs</a:t>
            </a:r>
            <a:endParaRPr sz="3586" b="1" strike="sngStrik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" name="Google Shape;152;p26"/>
          <p:cNvSpPr txBox="1"/>
          <p:nvPr/>
        </p:nvSpPr>
        <p:spPr>
          <a:xfrm>
            <a:off x="5144069" y="3249651"/>
            <a:ext cx="3052609" cy="1965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117" bIns="121117" anchor="t" anchorCtr="0">
            <a:noAutofit/>
          </a:bodyPr>
          <a:lstStyle/>
          <a:p>
            <a:pPr marL="284636" indent="-284636">
              <a:buClr>
                <a:srgbClr val="FFC000"/>
              </a:buClr>
              <a:buFont typeface="Arial" panose="020B0604020202020204" pitchFamily="34" charset="0"/>
              <a:buChar char="•"/>
            </a:pPr>
            <a:endParaRPr lang="ru-RU" sz="1992" dirty="0">
              <a:solidFill>
                <a:srgbClr val="F0F0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" name="Google Shape;152;p26"/>
          <p:cNvSpPr txBox="1"/>
          <p:nvPr/>
        </p:nvSpPr>
        <p:spPr>
          <a:xfrm>
            <a:off x="8855279" y="3342580"/>
            <a:ext cx="2869561" cy="1512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117" bIns="121117" anchor="t" anchorCtr="0">
            <a:noAutofit/>
          </a:bodyPr>
          <a:lstStyle/>
          <a:p>
            <a:pPr marL="284636" indent="-284636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ru-RU" sz="1992" strike="sngStrike" dirty="0" smtClean="0">
                <a:solidFill>
                  <a:srgbClr val="F0F0F0"/>
                </a:solidFill>
                <a:latin typeface="Montserrat"/>
                <a:ea typeface="Montserrat"/>
                <a:cs typeface="Montserrat"/>
                <a:sym typeface="Montserrat"/>
              </a:rPr>
              <a:t>Про то как сделать из модели полезный продукт</a:t>
            </a:r>
            <a:endParaRPr sz="1992" strike="sngStrike" dirty="0">
              <a:solidFill>
                <a:srgbClr val="F0F0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B7D6AF76-7094-4E24-B563-1428F736C371}"/>
              </a:ext>
            </a:extLst>
          </p:cNvPr>
          <p:cNvSpPr/>
          <p:nvPr/>
        </p:nvSpPr>
        <p:spPr>
          <a:xfrm>
            <a:off x="11580175" y="-207752"/>
            <a:ext cx="356398" cy="662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709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3709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6" name="Picture 2">
            <a:extLst>
              <a:ext uri="{FF2B5EF4-FFF2-40B4-BE49-F238E27FC236}">
                <a16:creationId xmlns:a16="http://schemas.microsoft.com/office/drawing/2014/main" id="{64951F6B-99C0-405D-A10F-E177FD9B4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272827"/>
              </a:clrFrom>
              <a:clrTo>
                <a:srgbClr val="27282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6" y="-41719"/>
            <a:ext cx="1099702" cy="696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Google Shape;152;p26"/>
          <p:cNvSpPr txBox="1"/>
          <p:nvPr/>
        </p:nvSpPr>
        <p:spPr>
          <a:xfrm>
            <a:off x="4943872" y="3112803"/>
            <a:ext cx="3888432" cy="233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117" bIns="121117" anchor="t" anchorCtr="0">
            <a:noAutofit/>
          </a:bodyPr>
          <a:lstStyle/>
          <a:p>
            <a:pPr marL="284636" indent="-284636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ru-RU" sz="1992" dirty="0" smtClean="0">
                <a:solidFill>
                  <a:srgbClr val="F0F0F0"/>
                </a:solidFill>
                <a:latin typeface="Montserrat"/>
                <a:ea typeface="Montserrat"/>
                <a:cs typeface="Montserrat"/>
                <a:sym typeface="Montserrat"/>
              </a:rPr>
              <a:t>Почему </a:t>
            </a:r>
            <a:r>
              <a:rPr lang="ru-RU" sz="1992" dirty="0" err="1" smtClean="0">
                <a:solidFill>
                  <a:srgbClr val="F0F0F0"/>
                </a:solidFill>
                <a:latin typeface="Montserrat"/>
                <a:ea typeface="Montserrat"/>
                <a:cs typeface="Montserrat"/>
                <a:sym typeface="Montserrat"/>
              </a:rPr>
              <a:t>нейронки</a:t>
            </a:r>
            <a:r>
              <a:rPr lang="ru-RU" sz="1992" dirty="0" smtClean="0">
                <a:solidFill>
                  <a:srgbClr val="F0F0F0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lang="ru-RU" sz="1992" dirty="0">
              <a:solidFill>
                <a:srgbClr val="F0F0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4636" indent="-284636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ru-RU" sz="1992" dirty="0" smtClean="0">
                <a:solidFill>
                  <a:srgbClr val="F0F0F0"/>
                </a:solidFill>
                <a:latin typeface="Montserrat"/>
                <a:ea typeface="Montserrat"/>
                <a:cs typeface="Montserrat"/>
                <a:sym typeface="Montserrat"/>
              </a:rPr>
              <a:t>НС для КЗ</a:t>
            </a:r>
          </a:p>
          <a:p>
            <a:pPr marL="342900" indent="-34290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ru-RU" sz="1992" dirty="0" smtClean="0">
                <a:solidFill>
                  <a:srgbClr val="F0F0F0"/>
                </a:solidFill>
                <a:latin typeface="Montserrat"/>
                <a:ea typeface="Montserrat"/>
                <a:cs typeface="Montserrat"/>
                <a:sym typeface="Montserrat"/>
              </a:rPr>
              <a:t>Модели </a:t>
            </a:r>
            <a:r>
              <a:rPr lang="en-US" sz="1992" dirty="0" smtClean="0">
                <a:solidFill>
                  <a:srgbClr val="F0F0F0"/>
                </a:solidFill>
                <a:latin typeface="Montserrat"/>
                <a:ea typeface="Montserrat"/>
                <a:cs typeface="Montserrat"/>
                <a:sym typeface="Montserrat"/>
              </a:rPr>
              <a:t>Text2Img</a:t>
            </a:r>
            <a:endParaRPr lang="ru-RU" sz="1992" dirty="0">
              <a:solidFill>
                <a:srgbClr val="F0F0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4636" indent="-284636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ru-RU" sz="1992" dirty="0" smtClean="0">
                <a:solidFill>
                  <a:srgbClr val="F0F0F0"/>
                </a:solidFill>
                <a:latin typeface="Montserrat"/>
                <a:ea typeface="Montserrat"/>
                <a:cs typeface="Montserrat"/>
                <a:sym typeface="Montserrat"/>
              </a:rPr>
              <a:t>НС </a:t>
            </a:r>
            <a:r>
              <a:rPr lang="ru-RU" sz="1992" dirty="0">
                <a:solidFill>
                  <a:srgbClr val="F0F0F0"/>
                </a:solidFill>
                <a:latin typeface="Montserrat"/>
                <a:ea typeface="Montserrat"/>
                <a:cs typeface="Montserrat"/>
                <a:sym typeface="Montserrat"/>
              </a:rPr>
              <a:t>для </a:t>
            </a:r>
            <a:r>
              <a:rPr lang="en-US" sz="1992" dirty="0" smtClean="0">
                <a:solidFill>
                  <a:srgbClr val="F0F0F0"/>
                </a:solidFill>
                <a:latin typeface="Montserrat"/>
                <a:ea typeface="Montserrat"/>
                <a:cs typeface="Montserrat"/>
                <a:sym typeface="Montserrat"/>
              </a:rPr>
              <a:t>NLP</a:t>
            </a:r>
            <a:endParaRPr lang="ru-RU" sz="1992" dirty="0" smtClean="0">
              <a:solidFill>
                <a:srgbClr val="F0F0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indent="-34290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ru-RU" sz="1992" dirty="0" err="1" smtClean="0">
                <a:solidFill>
                  <a:srgbClr val="F0F0F0"/>
                </a:solidFill>
                <a:latin typeface="Montserrat"/>
                <a:ea typeface="Montserrat"/>
                <a:cs typeface="Montserrat"/>
                <a:sym typeface="Montserrat"/>
              </a:rPr>
              <a:t>Трансформеры</a:t>
            </a:r>
            <a:endParaRPr lang="ru-RU" sz="1992" dirty="0" smtClean="0">
              <a:solidFill>
                <a:srgbClr val="F0F0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indent="-34290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ru-RU" sz="1992" dirty="0" smtClean="0">
                <a:solidFill>
                  <a:srgbClr val="F0F0F0"/>
                </a:solidFill>
                <a:latin typeface="Montserrat"/>
                <a:ea typeface="Montserrat"/>
                <a:cs typeface="Montserrat"/>
                <a:sym typeface="Montserrat"/>
              </a:rPr>
              <a:t>Немного о </a:t>
            </a:r>
            <a:r>
              <a:rPr lang="ru-RU" sz="1992" dirty="0" err="1" smtClean="0">
                <a:solidFill>
                  <a:srgbClr val="F0F0F0"/>
                </a:solidFill>
                <a:latin typeface="Montserrat"/>
                <a:ea typeface="Montserrat"/>
                <a:cs typeface="Montserrat"/>
                <a:sym typeface="Montserrat"/>
              </a:rPr>
              <a:t>промпт-инжениренге</a:t>
            </a:r>
            <a:r>
              <a:rPr lang="ru-RU" sz="1992" dirty="0" smtClean="0">
                <a:solidFill>
                  <a:srgbClr val="F0F0F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992" dirty="0">
              <a:solidFill>
                <a:srgbClr val="F0F0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749919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" grpId="0"/>
      <p:bldP spid="152" grpId="0"/>
      <p:bldP spid="24" grpId="0"/>
      <p:bldP spid="26" grpId="0"/>
      <p:bldP spid="30" grpId="0"/>
      <p:bldP spid="34" grpId="0"/>
      <p:bldP spid="37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2" y="22040"/>
            <a:ext cx="1758462" cy="111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39182" y="901034"/>
            <a:ext cx="12113637" cy="2156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Заголовок 1"/>
          <p:cNvSpPr txBox="1">
            <a:spLocks/>
          </p:cNvSpPr>
          <p:nvPr/>
        </p:nvSpPr>
        <p:spPr>
          <a:xfrm>
            <a:off x="1797645" y="996900"/>
            <a:ext cx="7869969" cy="822418"/>
          </a:xfrm>
          <a:prstGeom prst="rect">
            <a:avLst/>
          </a:prstGeom>
        </p:spPr>
        <p:txBody>
          <a:bodyPr vert="horz" lIns="90852" tIns="45427" rIns="90852" bIns="45427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18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764042A-EC52-463E-A7A7-164C646B1A2A}"/>
              </a:ext>
            </a:extLst>
          </p:cNvPr>
          <p:cNvSpPr/>
          <p:nvPr/>
        </p:nvSpPr>
        <p:spPr>
          <a:xfrm>
            <a:off x="918413" y="1711917"/>
            <a:ext cx="10603030" cy="2238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789" spc="-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Табличные данные</a:t>
            </a:r>
            <a:endParaRPr lang="en-US" sz="2789" spc="-1" dirty="0" smtClean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US" sz="2789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2789" spc="-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 нейронные сети</a:t>
            </a:r>
            <a:r>
              <a:rPr lang="en-US" sz="2789" spc="-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endParaRPr lang="en-US" sz="2789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ru-RU" sz="2789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2789" spc="-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 табличные методы в обработке картинок / текста</a:t>
            </a:r>
            <a:endParaRPr lang="en-US" sz="2789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242802B-4644-4E88-AA5E-0EA6F0887BE9}"/>
              </a:ext>
            </a:extLst>
          </p:cNvPr>
          <p:cNvSpPr/>
          <p:nvPr/>
        </p:nvSpPr>
        <p:spPr>
          <a:xfrm>
            <a:off x="11521444" y="159748"/>
            <a:ext cx="312488" cy="519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82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782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Нижний колонтитул 6">
            <a:extLst>
              <a:ext uri="{FF2B5EF4-FFF2-40B4-BE49-F238E27FC236}">
                <a16:creationId xmlns:a16="http://schemas.microsoft.com/office/drawing/2014/main" id="{31B83413-42AB-9665-7583-E8047FDC61C5}"/>
              </a:ext>
            </a:extLst>
          </p:cNvPr>
          <p:cNvSpPr txBox="1">
            <a:spLocks/>
          </p:cNvSpPr>
          <p:nvPr/>
        </p:nvSpPr>
        <p:spPr>
          <a:xfrm>
            <a:off x="3131440" y="198256"/>
            <a:ext cx="7674876" cy="48302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3188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Содержание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4464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2" y="22040"/>
            <a:ext cx="1758462" cy="111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39182" y="901034"/>
            <a:ext cx="12113637" cy="2156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Заголовок 1"/>
          <p:cNvSpPr txBox="1">
            <a:spLocks/>
          </p:cNvSpPr>
          <p:nvPr/>
        </p:nvSpPr>
        <p:spPr>
          <a:xfrm>
            <a:off x="1797645" y="996900"/>
            <a:ext cx="7869969" cy="822418"/>
          </a:xfrm>
          <a:prstGeom prst="rect">
            <a:avLst/>
          </a:prstGeom>
        </p:spPr>
        <p:txBody>
          <a:bodyPr vert="horz" lIns="90852" tIns="45427" rIns="90852" bIns="45427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18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764042A-EC52-463E-A7A7-164C646B1A2A}"/>
              </a:ext>
            </a:extLst>
          </p:cNvPr>
          <p:cNvSpPr/>
          <p:nvPr/>
        </p:nvSpPr>
        <p:spPr>
          <a:xfrm>
            <a:off x="918413" y="1711917"/>
            <a:ext cx="10603030" cy="2667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789" b="1" spc="-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Табличные данные</a:t>
            </a:r>
            <a:endParaRPr lang="en-US" sz="2789" b="1" spc="-1" dirty="0" smtClean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US" sz="2789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2789" spc="-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 нейронные сети</a:t>
            </a:r>
            <a:r>
              <a:rPr lang="en-US" sz="2789" spc="-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endParaRPr lang="en-US" sz="2789" spc="-1" dirty="0">
              <a:solidFill>
                <a:schemeClr val="tx1">
                  <a:lumMod val="50000"/>
                  <a:lumOff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US" sz="2789" spc="-1" dirty="0">
              <a:solidFill>
                <a:schemeClr val="tx1">
                  <a:lumMod val="50000"/>
                  <a:lumOff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2789" spc="-1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 табличные методы в обработке картинок / текста</a:t>
            </a:r>
          </a:p>
          <a:p>
            <a:endParaRPr lang="en-US" sz="2789" spc="-1" dirty="0">
              <a:solidFill>
                <a:schemeClr val="tx1">
                  <a:lumMod val="50000"/>
                  <a:lumOff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242802B-4644-4E88-AA5E-0EA6F0887BE9}"/>
              </a:ext>
            </a:extLst>
          </p:cNvPr>
          <p:cNvSpPr/>
          <p:nvPr/>
        </p:nvSpPr>
        <p:spPr>
          <a:xfrm>
            <a:off x="11521444" y="159748"/>
            <a:ext cx="312488" cy="519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82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782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Нижний колонтитул 6">
            <a:extLst>
              <a:ext uri="{FF2B5EF4-FFF2-40B4-BE49-F238E27FC236}">
                <a16:creationId xmlns:a16="http://schemas.microsoft.com/office/drawing/2014/main" id="{31B83413-42AB-9665-7583-E8047FDC61C5}"/>
              </a:ext>
            </a:extLst>
          </p:cNvPr>
          <p:cNvSpPr txBox="1">
            <a:spLocks/>
          </p:cNvSpPr>
          <p:nvPr/>
        </p:nvSpPr>
        <p:spPr>
          <a:xfrm>
            <a:off x="3131440" y="198256"/>
            <a:ext cx="7674876" cy="48302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3188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Содержание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221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2" y="22039"/>
            <a:ext cx="1758462" cy="111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39182" y="901034"/>
            <a:ext cx="12113637" cy="2156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242802B-4644-4E88-AA5E-0EA6F0887BE9}"/>
              </a:ext>
            </a:extLst>
          </p:cNvPr>
          <p:cNvSpPr/>
          <p:nvPr/>
        </p:nvSpPr>
        <p:spPr>
          <a:xfrm>
            <a:off x="11521444" y="159748"/>
            <a:ext cx="312488" cy="519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82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782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5" name="Нижний колонтитул 6">
            <a:extLst>
              <a:ext uri="{FF2B5EF4-FFF2-40B4-BE49-F238E27FC236}">
                <a16:creationId xmlns:a16="http://schemas.microsoft.com/office/drawing/2014/main" id="{C750D80A-1143-7B59-FA36-CC82C2739814}"/>
              </a:ext>
            </a:extLst>
          </p:cNvPr>
          <p:cNvSpPr txBox="1">
            <a:spLocks/>
          </p:cNvSpPr>
          <p:nvPr/>
        </p:nvSpPr>
        <p:spPr>
          <a:xfrm>
            <a:off x="1439763" y="35138"/>
            <a:ext cx="10490460" cy="48302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3188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Формальные определения</a:t>
            </a:r>
            <a:endParaRPr lang="ru-RU" sz="3188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5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F4FB922-9C99-4902-866F-E190E05E0337}"/>
              </a:ext>
            </a:extLst>
          </p:cNvPr>
          <p:cNvSpPr/>
          <p:nvPr/>
        </p:nvSpPr>
        <p:spPr>
          <a:xfrm>
            <a:off x="663543" y="938452"/>
            <a:ext cx="108872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Гетерогенные данные</a:t>
            </a:r>
            <a:endParaRPr lang="ru-RU" sz="2800" dirty="0" smtClean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Которые содержат разные типы признаков 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Непрерывные и дискретные (в </a:t>
            </a:r>
            <a:r>
              <a:rPr lang="ru-RU" sz="28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т.ч</a:t>
            </a: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бинарные, порядковые, номинальные)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F4FB922-9C99-4902-866F-E190E05E0337}"/>
              </a:ext>
            </a:extLst>
          </p:cNvPr>
          <p:cNvSpPr/>
          <p:nvPr/>
        </p:nvSpPr>
        <p:spPr>
          <a:xfrm>
            <a:off x="663543" y="2861435"/>
            <a:ext cx="108872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Гомогенные данные</a:t>
            </a:r>
            <a:endParaRPr lang="ru-RU" sz="2800" dirty="0" smtClean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Где только один тип признаков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Изображения, аудио, текст</a:t>
            </a:r>
            <a:endParaRPr lang="ru-RU" sz="2800" dirty="0" smtClean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F4FB922-9C99-4902-866F-E190E05E0337}"/>
              </a:ext>
            </a:extLst>
          </p:cNvPr>
          <p:cNvSpPr/>
          <p:nvPr/>
        </p:nvSpPr>
        <p:spPr>
          <a:xfrm>
            <a:off x="695200" y="5594959"/>
            <a:ext cx="108872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Структурные </a:t>
            </a: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данные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Где есть организация в виде строк и столбцов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F4FB922-9C99-4902-866F-E190E05E0337}"/>
              </a:ext>
            </a:extLst>
          </p:cNvPr>
          <p:cNvSpPr/>
          <p:nvPr/>
        </p:nvSpPr>
        <p:spPr>
          <a:xfrm>
            <a:off x="652400" y="4297091"/>
            <a:ext cx="108872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Категориальные </a:t>
            </a: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данные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Дискретные данные, которые не подразумевают связь с числовыми порядками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123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" grpId="0"/>
      <p:bldP spid="8" grpId="0"/>
      <p:bldP spid="10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83233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6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Табличные Данные</a:t>
            </a:r>
            <a:endParaRPr lang="ru-RU" altLang="ru-RU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9" name="Прямая соединительная линия 18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1DBAC8D8-9DD9-4FB1-A952-F515B93E9D84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3" name="Заголовок 1"/>
          <p:cNvSpPr txBox="1">
            <a:spLocks/>
          </p:cNvSpPr>
          <p:nvPr/>
        </p:nvSpPr>
        <p:spPr>
          <a:xfrm>
            <a:off x="1991544" y="980728"/>
            <a:ext cx="7920880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altLang="ru-RU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65A207B0-BDBB-4793-A21E-4A1A3558A2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400" y="2276872"/>
            <a:ext cx="11332200" cy="325198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749340B5-6E64-4EFF-BD09-20F26B0A2FFC}"/>
              </a:ext>
            </a:extLst>
          </p:cNvPr>
          <p:cNvSpPr txBox="1"/>
          <p:nvPr/>
        </p:nvSpPr>
        <p:spPr>
          <a:xfrm>
            <a:off x="1199456" y="1772816"/>
            <a:ext cx="24208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IBM Plex Mono" panose="020B0509050203000203" pitchFamily="49" charset="-52"/>
              </a:rPr>
              <a:t>Номинальные 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89FFBE5-DBE0-4EF5-AB91-617831320F3A}"/>
              </a:ext>
            </a:extLst>
          </p:cNvPr>
          <p:cNvSpPr txBox="1"/>
          <p:nvPr/>
        </p:nvSpPr>
        <p:spPr>
          <a:xfrm>
            <a:off x="3719736" y="1772816"/>
            <a:ext cx="24208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IBM Plex Mono" panose="020B0509050203000203" pitchFamily="49" charset="-52"/>
              </a:rPr>
              <a:t>Номинальные 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C770CE9-9F47-4E75-A90C-546E32949810}"/>
              </a:ext>
            </a:extLst>
          </p:cNvPr>
          <p:cNvSpPr txBox="1"/>
          <p:nvPr/>
        </p:nvSpPr>
        <p:spPr>
          <a:xfrm>
            <a:off x="5951984" y="5589240"/>
            <a:ext cx="24956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IBM Plex Mono" panose="020B0509050203000203" pitchFamily="49" charset="-52"/>
              </a:rPr>
              <a:t>Бинарные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CF2DBA-F323-4308-BB5D-4233A7401122}"/>
              </a:ext>
            </a:extLst>
          </p:cNvPr>
          <p:cNvSpPr txBox="1"/>
          <p:nvPr/>
        </p:nvSpPr>
        <p:spPr>
          <a:xfrm>
            <a:off x="10200456" y="5661248"/>
            <a:ext cx="20635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IBM Plex Mono" panose="020B0509050203000203" pitchFamily="49" charset="-52"/>
              </a:rPr>
              <a:t>Порядковые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8B1F42E-937D-46A2-A1D3-DD550559579C}"/>
              </a:ext>
            </a:extLst>
          </p:cNvPr>
          <p:cNvSpPr txBox="1"/>
          <p:nvPr/>
        </p:nvSpPr>
        <p:spPr>
          <a:xfrm>
            <a:off x="2423592" y="5445224"/>
            <a:ext cx="21096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IBM Plex Mono" panose="020B0509050203000203" pitchFamily="49" charset="-52"/>
              </a:rPr>
              <a:t>Дискретные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82B867D-AC6E-40B9-BECA-BEFCDAF719A6}"/>
              </a:ext>
            </a:extLst>
          </p:cNvPr>
          <p:cNvSpPr txBox="1"/>
          <p:nvPr/>
        </p:nvSpPr>
        <p:spPr>
          <a:xfrm>
            <a:off x="7536160" y="1772816"/>
            <a:ext cx="42995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IBM Plex Mono" panose="020B0509050203000203" pitchFamily="49" charset="-52"/>
              </a:rPr>
              <a:t>Непрерывные/Дискретные</a:t>
            </a:r>
          </a:p>
        </p:txBody>
      </p:sp>
    </p:spTree>
    <p:extLst>
      <p:ext uri="{BB962C8B-B14F-4D97-AF65-F5344CB8AC3E}">
        <p14:creationId xmlns:p14="http://schemas.microsoft.com/office/powerpoint/2010/main" val="859467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7" grpId="0"/>
      <p:bldP spid="42" grpId="0"/>
      <p:bldP spid="43" grpId="0"/>
      <p:bldP spid="44" grpId="0"/>
      <p:bldP spid="45" grpId="0"/>
      <p:bldP spid="4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7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D5CE526A-265B-4435-8BB0-007C8CA52B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E9BC6C6F-9DFC-4DD3-B111-0AA26A0484C7}"/>
              </a:ext>
            </a:extLst>
          </p:cNvPr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E07F5286-6B99-4CA3-B78B-0EB43FC213A1}"/>
                  </a:ext>
                </a:extLst>
              </p:cNvPr>
              <p:cNvSpPr/>
              <p:nvPr/>
            </p:nvSpPr>
            <p:spPr>
              <a:xfrm>
                <a:off x="4007768" y="1196752"/>
                <a:ext cx="302433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𝑿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8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p>
                      </m:sSup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E07F5286-6B99-4CA3-B78B-0EB43FC213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7768" y="1196752"/>
                <a:ext cx="302433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>
                <a:extLst>
                  <a:ext uri="{FF2B5EF4-FFF2-40B4-BE49-F238E27FC236}">
                    <a16:creationId xmlns:a16="http://schemas.microsoft.com/office/drawing/2014/main" id="{FB1490D7-899B-4D3F-91BE-266133ECE0D2}"/>
                  </a:ext>
                </a:extLst>
              </p:cNvPr>
              <p:cNvSpPr/>
              <p:nvPr/>
            </p:nvSpPr>
            <p:spPr>
              <a:xfrm>
                <a:off x="8492548" y="2008018"/>
                <a:ext cx="3563924" cy="15696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sz="2400" dirty="0">
                    <a:solidFill>
                      <a:schemeClr val="bg1"/>
                    </a:solidFill>
                  </a:rPr>
                  <a:t> – высота изображения</a:t>
                </a:r>
                <a:r>
                  <a:rPr lang="en-US" sz="2400" dirty="0">
                    <a:solidFill>
                      <a:schemeClr val="bg1"/>
                    </a:solidFill>
                  </a:rPr>
                  <a:t>,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2400" dirty="0">
                    <a:solidFill>
                      <a:schemeClr val="bg1"/>
                    </a:solidFill>
                  </a:rPr>
                  <a:t> – ширина изображения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</a:t>
                </a:r>
                <a:r>
                  <a:rPr lang="ru-RU" sz="2400" dirty="0">
                    <a:solidFill>
                      <a:schemeClr val="bg1"/>
                    </a:solidFill>
                  </a:rPr>
                  <a:t>– количество каналов </a:t>
                </a:r>
                <a:endParaRPr lang="en-US" sz="2400" dirty="0">
                  <a:solidFill>
                    <a:schemeClr val="bg1"/>
                  </a:solidFill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</a:rPr>
                  <a:t>(</a:t>
                </a:r>
                <a:r>
                  <a:rPr lang="ru-RU" sz="2400" dirty="0">
                    <a:solidFill>
                      <a:schemeClr val="bg1"/>
                    </a:solidFill>
                  </a:rPr>
                  <a:t>как правило 3)</a:t>
                </a:r>
              </a:p>
            </p:txBody>
          </p:sp>
        </mc:Choice>
        <mc:Fallback xmlns="">
          <p:sp>
            <p:nvSpPr>
              <p:cNvPr id="3" name="Прямоугольник 2">
                <a:extLst>
                  <a:ext uri="{FF2B5EF4-FFF2-40B4-BE49-F238E27FC236}">
                    <a16:creationId xmlns:a16="http://schemas.microsoft.com/office/drawing/2014/main" id="{FB1490D7-899B-4D3F-91BE-266133ECE0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2548" y="2008018"/>
                <a:ext cx="3563924" cy="1569660"/>
              </a:xfrm>
              <a:prstGeom prst="rect">
                <a:avLst/>
              </a:prstGeom>
              <a:blipFill>
                <a:blip r:embed="rId5"/>
                <a:stretch>
                  <a:fillRect l="-2564" t="-3101" r="-1538" b="-77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>
                <a:extLst>
                  <a:ext uri="{FF2B5EF4-FFF2-40B4-BE49-F238E27FC236}">
                    <a16:creationId xmlns:a16="http://schemas.microsoft.com/office/drawing/2014/main" id="{155998C1-7727-4363-8371-76DFF55FD563}"/>
                  </a:ext>
                </a:extLst>
              </p:cNvPr>
              <p:cNvSpPr/>
              <p:nvPr/>
            </p:nvSpPr>
            <p:spPr>
              <a:xfrm>
                <a:off x="1039904" y="3814146"/>
                <a:ext cx="8128700" cy="5579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𝑖𝑗𝑘</m:t>
                        </m:r>
                      </m:sub>
                    </m:sSub>
                    <m:r>
                      <a:rPr lang="en-US" sz="2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ℕ</a:t>
                </a:r>
                <a:r>
                  <a:rPr lang="ru-RU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ru-RU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,1,…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</a:t>
                </a:r>
                <a:r>
                  <a:rPr lang="en-US" sz="28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– </a:t>
                </a:r>
                <a:r>
                  <a:rPr lang="ru-RU" sz="28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битность</a:t>
                </a:r>
                <a:r>
                  <a:rPr lang="ru-RU" sz="28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/разрядность </a:t>
                </a:r>
                <a:endParaRPr lang="ru-RU" sz="2800" dirty="0"/>
              </a:p>
            </p:txBody>
          </p:sp>
        </mc:Choice>
        <mc:Fallback xmlns="">
          <p:sp>
            <p:nvSpPr>
              <p:cNvPr id="4" name="Прямоугольник 3">
                <a:extLst>
                  <a:ext uri="{FF2B5EF4-FFF2-40B4-BE49-F238E27FC236}">
                    <a16:creationId xmlns:a16="http://schemas.microsoft.com/office/drawing/2014/main" id="{155998C1-7727-4363-8371-76DFF55FD5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904" y="3814146"/>
                <a:ext cx="8128700" cy="557910"/>
              </a:xfrm>
              <a:prstGeom prst="rect">
                <a:avLst/>
              </a:prstGeom>
              <a:blipFill>
                <a:blip r:embed="rId6"/>
                <a:stretch>
                  <a:fillRect t="-12088" b="-2417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8E8DB6E2-0CB4-458E-8193-166F2FAA392B}"/>
                  </a:ext>
                </a:extLst>
              </p:cNvPr>
              <p:cNvSpPr/>
              <p:nvPr/>
            </p:nvSpPr>
            <p:spPr>
              <a:xfrm>
                <a:off x="1039904" y="4444736"/>
                <a:ext cx="290541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</a:t>
                </a:r>
                <a:r>
                  <a:rPr lang="ru-RU" sz="28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=8 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,1,…,</m:t>
                    </m:r>
                    <m:r>
                      <a:rPr lang="ru-RU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255</m:t>
                    </m:r>
                  </m:oMath>
                </a14:m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endParaRPr lang="ru-RU" sz="2800" dirty="0"/>
              </a:p>
            </p:txBody>
          </p:sp>
        </mc:Choice>
        <mc:Fallback xmlns=""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8E8DB6E2-0CB4-458E-8193-166F2FAA39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904" y="4444736"/>
                <a:ext cx="2905411" cy="523220"/>
              </a:xfrm>
              <a:prstGeom prst="rect">
                <a:avLst/>
              </a:prstGeom>
              <a:blipFill>
                <a:blip r:embed="rId7"/>
                <a:stretch>
                  <a:fillRect l="-4412" t="-12791" r="-3151" b="-302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Прямоугольник 19">
                <a:extLst>
                  <a:ext uri="{FF2B5EF4-FFF2-40B4-BE49-F238E27FC236}">
                    <a16:creationId xmlns:a16="http://schemas.microsoft.com/office/drawing/2014/main" id="{98362BC3-2D9A-4D56-B41F-3B3EC9CBA7E3}"/>
                  </a:ext>
                </a:extLst>
              </p:cNvPr>
              <p:cNvSpPr/>
              <p:nvPr/>
            </p:nvSpPr>
            <p:spPr>
              <a:xfrm>
                <a:off x="4260934" y="4451111"/>
                <a:ext cx="342266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</a:t>
                </a:r>
                <a:r>
                  <a:rPr lang="ru-RU" sz="28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=16 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2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,1,…</m:t>
                    </m:r>
                    <m:r>
                      <m:rPr>
                        <m:nor/>
                      </m:rPr>
                      <a:rPr lang="en-US" sz="28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ru-RU" sz="28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6553</m:t>
                    </m:r>
                    <m:r>
                      <m:rPr>
                        <m:nor/>
                      </m:rPr>
                      <a:rPr lang="en-US" sz="28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endParaRPr lang="ru-RU" sz="2800" dirty="0"/>
              </a:p>
            </p:txBody>
          </p:sp>
        </mc:Choice>
        <mc:Fallback xmlns="">
          <p:sp>
            <p:nvSpPr>
              <p:cNvPr id="20" name="Прямоугольник 19">
                <a:extLst>
                  <a:ext uri="{FF2B5EF4-FFF2-40B4-BE49-F238E27FC236}">
                    <a16:creationId xmlns:a16="http://schemas.microsoft.com/office/drawing/2014/main" id="{98362BC3-2D9A-4D56-B41F-3B3EC9CBA7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0934" y="4451111"/>
                <a:ext cx="3422668" cy="523220"/>
              </a:xfrm>
              <a:prstGeom prst="rect">
                <a:avLst/>
              </a:prstGeom>
              <a:blipFill>
                <a:blip r:embed="rId8"/>
                <a:stretch>
                  <a:fillRect l="-3743" t="-12791" r="-2317" b="-302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Прямоугольник 20">
                <a:extLst>
                  <a:ext uri="{FF2B5EF4-FFF2-40B4-BE49-F238E27FC236}">
                    <a16:creationId xmlns:a16="http://schemas.microsoft.com/office/drawing/2014/main" id="{16E2AD47-BFA6-471E-9E94-285658163381}"/>
                  </a:ext>
                </a:extLst>
              </p:cNvPr>
              <p:cNvSpPr/>
              <p:nvPr/>
            </p:nvSpPr>
            <p:spPr>
              <a:xfrm>
                <a:off x="957417" y="5069987"/>
                <a:ext cx="2991653" cy="5579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𝑖𝑗𝑘</m:t>
                        </m:r>
                      </m:sub>
                    </m:sSub>
                    <m:r>
                      <a:rPr lang="en-US" sz="2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ℝ</m:t>
                    </m:r>
                  </m:oMath>
                </a14:m>
                <a:r>
                  <a:rPr lang="ru-RU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ru-RU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…,1</m:t>
                    </m:r>
                  </m:oMath>
                </a14:m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endParaRPr lang="ru-RU" sz="2800" dirty="0"/>
              </a:p>
            </p:txBody>
          </p:sp>
        </mc:Choice>
        <mc:Fallback xmlns="">
          <p:sp>
            <p:nvSpPr>
              <p:cNvPr id="21" name="Прямоугольник 20">
                <a:extLst>
                  <a:ext uri="{FF2B5EF4-FFF2-40B4-BE49-F238E27FC236}">
                    <a16:creationId xmlns:a16="http://schemas.microsoft.com/office/drawing/2014/main" id="{16E2AD47-BFA6-471E-9E94-2856581633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417" y="5069987"/>
                <a:ext cx="2991653" cy="557910"/>
              </a:xfrm>
              <a:prstGeom prst="rect">
                <a:avLst/>
              </a:prstGeom>
              <a:blipFill>
                <a:blip r:embed="rId9"/>
                <a:stretch>
                  <a:fillRect t="-12088" r="-2851" b="-2417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8">
            <a:extLst>
              <a:ext uri="{FF2B5EF4-FFF2-40B4-BE49-F238E27FC236}">
                <a16:creationId xmlns:a16="http://schemas.microsoft.com/office/drawing/2014/main" id="{19BE5389-8106-4252-88E6-9F419D6135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"/>
          <a:stretch/>
        </p:blipFill>
        <p:spPr bwMode="auto">
          <a:xfrm>
            <a:off x="119336" y="1700808"/>
            <a:ext cx="8422823" cy="2151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E9A235C2-7C91-48CC-A91F-FD8BAE6B5F80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4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1775520" y="404664"/>
            <a:ext cx="9433048" cy="278008"/>
          </a:xfrm>
          <a:prstGeom prst="rect">
            <a:avLst/>
          </a:prstGeom>
        </p:spPr>
        <p:txBody>
          <a:bodyPr/>
          <a:lstStyle/>
          <a:p>
            <a:r>
              <a:rPr lang="ru-RU" sz="3200" b="1" spc="-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2068831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9" grpId="0"/>
      <p:bldP spid="20" grpId="0"/>
      <p:bldP spid="21" grpId="0"/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83233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8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9" name="Прямая соединительная линия 18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1DBAC8D8-9DD9-4FB1-A952-F515B93E9D84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143672" y="116632"/>
            <a:ext cx="54601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Изображение / Видео</a:t>
            </a:r>
            <a:endParaRPr lang="ru-RU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147488" y="1378868"/>
            <a:ext cx="11942624" cy="288032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993795" y="4259188"/>
            <a:ext cx="2592288" cy="2225557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6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162147" y="4259188"/>
            <a:ext cx="2592288" cy="2225557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186484" y="4259188"/>
            <a:ext cx="2592288" cy="2225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697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38904" y="-14324"/>
            <a:ext cx="8856984" cy="827739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Word </a:t>
            </a:r>
            <a:r>
              <a:rPr lang="en-US" sz="32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Embeddings</a:t>
            </a:r>
            <a:r>
              <a:rPr lang="en-US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(Вложения)</a:t>
            </a:r>
          </a:p>
        </p:txBody>
      </p:sp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2227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9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27A984BF-0715-455F-ACF0-596F386AC3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9C77609C-789B-41B1-A98A-B2F2172E0401}"/>
              </a:ext>
            </a:extLst>
          </p:cNvPr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A83C4F8-60B1-485E-A55A-6F234F59B9E1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>
            <a:off x="481875" y="862308"/>
            <a:ext cx="11691801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EBC21C9-E003-4D20-8463-50E2E64D0863}"/>
              </a:ext>
            </a:extLst>
          </p:cNvPr>
          <p:cNvSpPr/>
          <p:nvPr/>
        </p:nvSpPr>
        <p:spPr>
          <a:xfrm>
            <a:off x="3338328" y="1217078"/>
            <a:ext cx="840764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Happy, I study machine learning at </a:t>
            </a:r>
            <a:r>
              <a:rPr lang="en-US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UrFU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Study ! :) </a:t>
            </a:r>
            <a:endParaRPr lang="ru-RU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7936AAB-AA49-4A03-AFD2-9C33AFD950BE}"/>
              </a:ext>
            </a:extLst>
          </p:cNvPr>
          <p:cNvSpPr/>
          <p:nvPr/>
        </p:nvSpPr>
        <p:spPr>
          <a:xfrm>
            <a:off x="3282143" y="2670011"/>
            <a:ext cx="840764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D5D5D5"/>
                </a:solidFill>
                <a:latin typeface="Courier New" panose="02070309020205020404" pitchFamily="49" charset="0"/>
              </a:rPr>
              <a:t>['happy', ',', '</a:t>
            </a:r>
            <a:r>
              <a:rPr lang="en-US" sz="2400" dirty="0" err="1">
                <a:solidFill>
                  <a:srgbClr val="D5D5D5"/>
                </a:solidFill>
                <a:latin typeface="Courier New" panose="02070309020205020404" pitchFamily="49" charset="0"/>
              </a:rPr>
              <a:t>i</a:t>
            </a:r>
            <a:r>
              <a:rPr lang="en-US" sz="2400" dirty="0">
                <a:solidFill>
                  <a:srgbClr val="D5D5D5"/>
                </a:solidFill>
                <a:latin typeface="Courier New" panose="02070309020205020404" pitchFamily="49" charset="0"/>
              </a:rPr>
              <a:t>', 'study', 'machine', 'learning', 'at', '</a:t>
            </a:r>
            <a:r>
              <a:rPr lang="en-US" sz="2400" dirty="0" err="1">
                <a:solidFill>
                  <a:srgbClr val="D5D5D5"/>
                </a:solidFill>
                <a:latin typeface="Courier New" panose="02070309020205020404" pitchFamily="49" charset="0"/>
              </a:rPr>
              <a:t>urfu</a:t>
            </a:r>
            <a:r>
              <a:rPr lang="en-US" sz="2400" dirty="0">
                <a:solidFill>
                  <a:srgbClr val="D5D5D5"/>
                </a:solidFill>
                <a:latin typeface="Courier New" panose="02070309020205020404" pitchFamily="49" charset="0"/>
              </a:rPr>
              <a:t>', 'study', '!', ':)']</a:t>
            </a:r>
            <a:endParaRPr lang="ru-R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088BAF7-35D8-4364-A428-D33B9C2E2BA3}"/>
                  </a:ext>
                </a:extLst>
              </p:cNvPr>
              <p:cNvSpPr txBox="1"/>
              <p:nvPr/>
            </p:nvSpPr>
            <p:spPr>
              <a:xfrm>
                <a:off x="3852865" y="4653559"/>
                <a:ext cx="781944" cy="15874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ru-RU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15</m:t>
                                    </m:r>
                                  </m:e>
                                  <m:e>
                                    <m:r>
                                      <a:rPr lang="ru-RU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088BAF7-35D8-4364-A428-D33B9C2E2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2865" y="4653559"/>
                <a:ext cx="781944" cy="158742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E6A5B81-8D15-436D-8D74-8D72682FF0D4}"/>
                  </a:ext>
                </a:extLst>
              </p:cNvPr>
              <p:cNvSpPr txBox="1"/>
              <p:nvPr/>
            </p:nvSpPr>
            <p:spPr>
              <a:xfrm>
                <a:off x="5276499" y="4653559"/>
                <a:ext cx="772456" cy="13762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ru-RU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2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ru-RU" sz="28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42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ru-RU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E6A5B81-8D15-436D-8D74-8D72682FF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6499" y="4653559"/>
                <a:ext cx="772456" cy="13762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5791767-09EB-44F9-92AB-E5C20F65EF18}"/>
                  </a:ext>
                </a:extLst>
              </p:cNvPr>
              <p:cNvSpPr txBox="1"/>
              <p:nvPr/>
            </p:nvSpPr>
            <p:spPr>
              <a:xfrm>
                <a:off x="8194684" y="4653559"/>
                <a:ext cx="1169999" cy="13790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ru-RU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2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ru-RU" sz="28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69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420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1337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ru-RU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5791767-09EB-44F9-92AB-E5C20F65E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4684" y="4653559"/>
                <a:ext cx="1169999" cy="13790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E6C0387-27F4-414C-BAD2-E3CEA4CBB0A2}"/>
                  </a:ext>
                </a:extLst>
              </p:cNvPr>
              <p:cNvSpPr txBox="1"/>
              <p:nvPr/>
            </p:nvSpPr>
            <p:spPr>
              <a:xfrm>
                <a:off x="6843690" y="4558183"/>
                <a:ext cx="698461" cy="11747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ru-RU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ru-RU" sz="28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28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ru-RU" sz="28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ru-RU" sz="28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>
                                    <m:r>
                                      <a:rPr lang="ru-RU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E6C0387-27F4-414C-BAD2-E3CEA4CBB0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3690" y="4558183"/>
                <a:ext cx="698461" cy="117474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87E824BB-EB46-4D13-BA95-6DD133889EAB}"/>
              </a:ext>
            </a:extLst>
          </p:cNvPr>
          <p:cNvSpPr/>
          <p:nvPr/>
        </p:nvSpPr>
        <p:spPr>
          <a:xfrm>
            <a:off x="719198" y="1124744"/>
            <a:ext cx="22804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Текст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E216B4D-7AE2-4840-A7D2-B8A5E032AE3D}"/>
              </a:ext>
            </a:extLst>
          </p:cNvPr>
          <p:cNvSpPr/>
          <p:nvPr/>
        </p:nvSpPr>
        <p:spPr>
          <a:xfrm>
            <a:off x="623392" y="2702615"/>
            <a:ext cx="22322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Токены</a:t>
            </a:r>
            <a:endParaRPr lang="ru-RU" sz="3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C44A82B-B3A8-4A65-A2D1-8E709996E4CF}"/>
              </a:ext>
            </a:extLst>
          </p:cNvPr>
          <p:cNvSpPr/>
          <p:nvPr/>
        </p:nvSpPr>
        <p:spPr>
          <a:xfrm>
            <a:off x="473120" y="5066935"/>
            <a:ext cx="28928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Векторы</a:t>
            </a:r>
            <a:r>
              <a:rPr lang="en-US" sz="3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endParaRPr lang="ru-RU" sz="3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693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0" grpId="0"/>
      <p:bldP spid="12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83233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10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9" name="Прямая соединительная линия 18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1DBAC8D8-9DD9-4FB1-A952-F515B93E9D84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A9CF147-7883-41B1-A661-ED8116E63073}"/>
              </a:ext>
            </a:extLst>
          </p:cNvPr>
          <p:cNvSpPr/>
          <p:nvPr/>
        </p:nvSpPr>
        <p:spPr>
          <a:xfrm>
            <a:off x="1055440" y="2348880"/>
            <a:ext cx="878497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Семантика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Позиция слова (относительная и абсолютная)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Грамматические связи (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“</a:t>
            </a: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внимание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”)</a:t>
            </a:r>
            <a:endParaRPr lang="ru-RU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Естественный Язык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A9CF147-7883-41B1-A661-ED8116E63073}"/>
              </a:ext>
            </a:extLst>
          </p:cNvPr>
          <p:cNvSpPr/>
          <p:nvPr/>
        </p:nvSpPr>
        <p:spPr>
          <a:xfrm>
            <a:off x="3071664" y="1124744"/>
            <a:ext cx="79928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Проблемы «</a:t>
            </a:r>
            <a:r>
              <a:rPr lang="ru-RU" sz="2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цифровизации</a:t>
            </a: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» слов</a:t>
            </a:r>
          </a:p>
        </p:txBody>
      </p:sp>
    </p:spTree>
    <p:extLst>
      <p:ext uri="{BB962C8B-B14F-4D97-AF65-F5344CB8AC3E}">
        <p14:creationId xmlns:p14="http://schemas.microsoft.com/office/powerpoint/2010/main" val="2811793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88980" y="25665"/>
            <a:ext cx="7920880" cy="827739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Какие </a:t>
            </a:r>
            <a:r>
              <a:rPr lang="ru-RU" sz="3200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вектора слов </a:t>
            </a:r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бывают</a:t>
            </a:r>
          </a:p>
        </p:txBody>
      </p:sp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461575" y="6475125"/>
            <a:ext cx="730425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/>
              <a:t>11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FA4B6046-830F-4561-A951-D2BD5821A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F4501FB7-026F-48A5-8EA6-43CD2469107D}"/>
              </a:ext>
            </a:extLst>
          </p:cNvPr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F537AF6-99A8-4318-B87B-1271A83892B4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159610-6689-40E2-98AB-5679FD69EF90}"/>
              </a:ext>
            </a:extLst>
          </p:cNvPr>
          <p:cNvSpPr txBox="1"/>
          <p:nvPr/>
        </p:nvSpPr>
        <p:spPr>
          <a:xfrm>
            <a:off x="-113681" y="3022808"/>
            <a:ext cx="172819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Количество </a:t>
            </a:r>
            <a:r>
              <a:rPr lang="ru-RU" sz="20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токенов</a:t>
            </a:r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в словаре</a:t>
            </a:r>
            <a:endParaRPr lang="en-US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Vocab Size</a:t>
            </a:r>
            <a:endParaRPr lang="ru-RU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159610-6689-40E2-98AB-5679FD69EF90}"/>
              </a:ext>
            </a:extLst>
          </p:cNvPr>
          <p:cNvSpPr txBox="1"/>
          <p:nvPr/>
        </p:nvSpPr>
        <p:spPr>
          <a:xfrm>
            <a:off x="865794" y="921400"/>
            <a:ext cx="433160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Количество векторов для каждого </a:t>
            </a:r>
            <a:r>
              <a:rPr lang="ru-RU" sz="20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токена</a:t>
            </a:r>
            <a:r>
              <a:rPr lang="en-US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d_model</a:t>
            </a:r>
            <a:endParaRPr lang="ru-RU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Левая фигурная скобка 2"/>
          <p:cNvSpPr/>
          <p:nvPr/>
        </p:nvSpPr>
        <p:spPr>
          <a:xfrm>
            <a:off x="1311100" y="2293998"/>
            <a:ext cx="432048" cy="4299427"/>
          </a:xfrm>
          <a:prstGeom prst="leftBrace">
            <a:avLst>
              <a:gd name="adj1" fmla="val 51069"/>
              <a:gd name="adj2" fmla="val 49705"/>
            </a:avLst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13" name="Левая фигурная скобка 12"/>
          <p:cNvSpPr/>
          <p:nvPr/>
        </p:nvSpPr>
        <p:spPr>
          <a:xfrm rot="5400000">
            <a:off x="3252307" y="646076"/>
            <a:ext cx="432048" cy="2377512"/>
          </a:xfrm>
          <a:prstGeom prst="leftBrace">
            <a:avLst>
              <a:gd name="adj1" fmla="val 51069"/>
              <a:gd name="adj2" fmla="val 50000"/>
            </a:avLst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/>
          </p:nvPr>
        </p:nvGraphicFramePr>
        <p:xfrm>
          <a:off x="4936263" y="1129247"/>
          <a:ext cx="5742637" cy="4267200"/>
        </p:xfrm>
        <a:graphic>
          <a:graphicData uri="http://schemas.openxmlformats.org/drawingml/2006/table">
            <a:tbl>
              <a:tblPr firstRow="1" firstCol="1">
                <a:tableStyleId>{073A0DAA-6AF3-43AB-8588-CEC1D06C72B9}</a:tableStyleId>
              </a:tblPr>
              <a:tblGrid>
                <a:gridCol w="1945130">
                  <a:extLst>
                    <a:ext uri="{9D8B030D-6E8A-4147-A177-3AD203B41FA5}">
                      <a16:colId xmlns:a16="http://schemas.microsoft.com/office/drawing/2014/main" val="715467217"/>
                    </a:ext>
                  </a:extLst>
                </a:gridCol>
                <a:gridCol w="1247375">
                  <a:extLst>
                    <a:ext uri="{9D8B030D-6E8A-4147-A177-3AD203B41FA5}">
                      <a16:colId xmlns:a16="http://schemas.microsoft.com/office/drawing/2014/main" val="1302080258"/>
                    </a:ext>
                  </a:extLst>
                </a:gridCol>
                <a:gridCol w="1247938">
                  <a:extLst>
                    <a:ext uri="{9D8B030D-6E8A-4147-A177-3AD203B41FA5}">
                      <a16:colId xmlns:a16="http://schemas.microsoft.com/office/drawing/2014/main" val="3423265530"/>
                    </a:ext>
                  </a:extLst>
                </a:gridCol>
                <a:gridCol w="1302194">
                  <a:extLst>
                    <a:ext uri="{9D8B030D-6E8A-4147-A177-3AD203B41FA5}">
                      <a16:colId xmlns:a16="http://schemas.microsoft.com/office/drawing/2014/main" val="9828254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Модель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 err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d_model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Vocab Size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Год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8670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Word2Vec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300</a:t>
                      </a:r>
                      <a:endParaRPr lang="ru-RU" sz="16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3 000 000</a:t>
                      </a:r>
                      <a:endParaRPr lang="ru-RU" sz="16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2013</a:t>
                      </a:r>
                      <a:endParaRPr lang="ru-RU" sz="16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1919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 err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GloVe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300</a:t>
                      </a:r>
                      <a:endParaRPr lang="ru-RU" sz="16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400 000</a:t>
                      </a:r>
                      <a:endParaRPr lang="ru-RU" sz="16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2014</a:t>
                      </a:r>
                      <a:endParaRPr lang="ru-RU" sz="16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8867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 err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FastText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300</a:t>
                      </a:r>
                      <a:endParaRPr lang="ru-RU" sz="16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2 000 000</a:t>
                      </a:r>
                      <a:endParaRPr lang="ru-RU" sz="16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2016</a:t>
                      </a:r>
                      <a:endParaRPr lang="ru-RU" sz="16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649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Transformer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512</a:t>
                      </a:r>
                      <a:endParaRPr lang="ru-RU" sz="16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37 000</a:t>
                      </a:r>
                      <a:endParaRPr lang="ru-RU" sz="16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2017</a:t>
                      </a:r>
                      <a:endParaRPr lang="ru-RU" sz="16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98674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BERT-Base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768</a:t>
                      </a:r>
                      <a:endParaRPr lang="ru-RU" sz="16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30 000</a:t>
                      </a:r>
                      <a:endParaRPr lang="ru-RU" sz="16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2018</a:t>
                      </a:r>
                      <a:endParaRPr lang="ru-RU" sz="16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5961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GPT-2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1 024</a:t>
                      </a:r>
                      <a:endParaRPr lang="ru-RU" sz="16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50 257</a:t>
                      </a:r>
                      <a:endParaRPr lang="ru-RU" sz="16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2019</a:t>
                      </a:r>
                      <a:endParaRPr lang="ru-RU" sz="16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0927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GPT-3 175B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12 288</a:t>
                      </a:r>
                      <a:endParaRPr lang="ru-RU" sz="16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50 257</a:t>
                      </a:r>
                      <a:endParaRPr lang="ru-RU" sz="16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2020</a:t>
                      </a:r>
                      <a:endParaRPr lang="ru-RU" sz="16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6149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GPT-4*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16 384*</a:t>
                      </a:r>
                      <a:endParaRPr lang="ru-RU" sz="16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100 000*</a:t>
                      </a:r>
                      <a:endParaRPr lang="ru-RU" sz="16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2023</a:t>
                      </a:r>
                      <a:endParaRPr lang="ru-RU" sz="16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6886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 err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Mixtral</a:t>
                      </a:r>
                      <a:r>
                        <a:rPr lang="en-US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8x7B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4 096</a:t>
                      </a:r>
                      <a:endParaRPr lang="ru-RU" sz="16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32 000</a:t>
                      </a:r>
                      <a:endParaRPr lang="ru-RU" sz="16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2023</a:t>
                      </a:r>
                      <a:endParaRPr lang="ru-RU" sz="16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2963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LLaMA3 70B**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8 192</a:t>
                      </a:r>
                      <a:endParaRPr lang="ru-RU" sz="16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128 000</a:t>
                      </a:r>
                      <a:endParaRPr lang="ru-RU" sz="16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2024</a:t>
                      </a:r>
                      <a:endParaRPr lang="ru-RU" sz="16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0716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Qwen-72B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8 192</a:t>
                      </a:r>
                      <a:endParaRPr lang="ru-RU" sz="16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151 643</a:t>
                      </a:r>
                      <a:endParaRPr lang="ru-RU" sz="16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2025</a:t>
                      </a:r>
                      <a:endParaRPr lang="ru-RU" sz="16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619282"/>
                  </a:ext>
                </a:extLst>
              </a:tr>
            </a:tbl>
          </a:graphicData>
        </a:graphic>
      </p:graphicFrame>
      <p:sp>
        <p:nvSpPr>
          <p:cNvPr id="15" name="Левая фигурная скобка 14"/>
          <p:cNvSpPr/>
          <p:nvPr/>
        </p:nvSpPr>
        <p:spPr>
          <a:xfrm flipH="1">
            <a:off x="10650654" y="1691367"/>
            <a:ext cx="363312" cy="1023552"/>
          </a:xfrm>
          <a:prstGeom prst="leftBrace">
            <a:avLst>
              <a:gd name="adj1" fmla="val 51069"/>
              <a:gd name="adj2" fmla="val 50859"/>
            </a:avLst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19" name="Левая фигурная скобка 18"/>
          <p:cNvSpPr/>
          <p:nvPr/>
        </p:nvSpPr>
        <p:spPr>
          <a:xfrm flipH="1">
            <a:off x="10650654" y="2704360"/>
            <a:ext cx="363312" cy="2692087"/>
          </a:xfrm>
          <a:prstGeom prst="leftBrace">
            <a:avLst>
              <a:gd name="adj1" fmla="val 51069"/>
              <a:gd name="adj2" fmla="val 50859"/>
            </a:avLst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159610-6689-40E2-98AB-5679FD69EF90}"/>
              </a:ext>
            </a:extLst>
          </p:cNvPr>
          <p:cNvSpPr txBox="1"/>
          <p:nvPr/>
        </p:nvSpPr>
        <p:spPr>
          <a:xfrm>
            <a:off x="10464962" y="1849200"/>
            <a:ext cx="21831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Древние вложения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159610-6689-40E2-98AB-5679FD69EF90}"/>
              </a:ext>
            </a:extLst>
          </p:cNvPr>
          <p:cNvSpPr txBox="1"/>
          <p:nvPr/>
        </p:nvSpPr>
        <p:spPr>
          <a:xfrm>
            <a:off x="11013966" y="3838508"/>
            <a:ext cx="131777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Всякие </a:t>
            </a:r>
            <a:r>
              <a:rPr lang="en-US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LLM</a:t>
            </a:r>
            <a:endParaRPr lang="ru-RU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/>
          </p:nvPr>
        </p:nvGraphicFramePr>
        <p:xfrm>
          <a:off x="1694657" y="1993691"/>
          <a:ext cx="2962430" cy="4663440"/>
        </p:xfrm>
        <a:graphic>
          <a:graphicData uri="http://schemas.openxmlformats.org/drawingml/2006/table">
            <a:tbl>
              <a:tblPr firstRow="1" firstCol="1">
                <a:tableStyleId>{073A0DAA-6AF3-43AB-8588-CEC1D06C72B9}</a:tableStyleId>
              </a:tblPr>
              <a:tblGrid>
                <a:gridCol w="592486">
                  <a:extLst>
                    <a:ext uri="{9D8B030D-6E8A-4147-A177-3AD203B41FA5}">
                      <a16:colId xmlns:a16="http://schemas.microsoft.com/office/drawing/2014/main" val="1932276779"/>
                    </a:ext>
                  </a:extLst>
                </a:gridCol>
                <a:gridCol w="592486">
                  <a:extLst>
                    <a:ext uri="{9D8B030D-6E8A-4147-A177-3AD203B41FA5}">
                      <a16:colId xmlns:a16="http://schemas.microsoft.com/office/drawing/2014/main" val="298526838"/>
                    </a:ext>
                  </a:extLst>
                </a:gridCol>
                <a:gridCol w="592486">
                  <a:extLst>
                    <a:ext uri="{9D8B030D-6E8A-4147-A177-3AD203B41FA5}">
                      <a16:colId xmlns:a16="http://schemas.microsoft.com/office/drawing/2014/main" val="4292848912"/>
                    </a:ext>
                  </a:extLst>
                </a:gridCol>
                <a:gridCol w="592486">
                  <a:extLst>
                    <a:ext uri="{9D8B030D-6E8A-4147-A177-3AD203B41FA5}">
                      <a16:colId xmlns:a16="http://schemas.microsoft.com/office/drawing/2014/main" val="4183472065"/>
                    </a:ext>
                  </a:extLst>
                </a:gridCol>
                <a:gridCol w="592486">
                  <a:extLst>
                    <a:ext uri="{9D8B030D-6E8A-4147-A177-3AD203B41FA5}">
                      <a16:colId xmlns:a16="http://schemas.microsoft.com/office/drawing/2014/main" val="4114114698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token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d_1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d_2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d_3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d_4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0297312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0.08</a:t>
                      </a:r>
                      <a:endParaRPr lang="ru-RU" sz="14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0.03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-0.01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-0.03</a:t>
                      </a:r>
                      <a:endParaRPr lang="ru-RU" sz="14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02967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-0.01</a:t>
                      </a:r>
                      <a:endParaRPr lang="ru-RU" sz="14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0.08</a:t>
                      </a:r>
                      <a:endParaRPr lang="ru-RU" sz="14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-0.08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0.03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513566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-0.08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-0.02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0.00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0.04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61334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0.03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-0.03</a:t>
                      </a:r>
                      <a:endParaRPr lang="ru-RU" sz="14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0.03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-0.05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11598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-0.09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-0.06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0.09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0.05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114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-0.07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-0.09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-0.09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0.04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62038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0.00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-0.06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-0.06</a:t>
                      </a:r>
                      <a:endParaRPr lang="ru-RU" sz="14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0.08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4423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-0.09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0.06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0.10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0.05</a:t>
                      </a:r>
                      <a:endParaRPr lang="ru-RU" sz="14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456998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8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-0.05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0.02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-0.05</a:t>
                      </a:r>
                      <a:endParaRPr lang="ru-RU" sz="14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-0.01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187736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0.01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0.01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0.05</a:t>
                      </a:r>
                      <a:endParaRPr lang="ru-RU" sz="14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-0.04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0.10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-0.05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0.02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-0.08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89387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11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0.03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0.08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0.09</a:t>
                      </a:r>
                      <a:endParaRPr lang="ru-RU" sz="14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-0.04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79012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0.00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-0.06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-0.05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-0.09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422049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13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0.07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-0.06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-0.05</a:t>
                      </a:r>
                      <a:endParaRPr lang="ru-RU" sz="14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0.05</a:t>
                      </a:r>
                      <a:endParaRPr lang="ru-RU" sz="14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557581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14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0.07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0.09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0.09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-0.06</a:t>
                      </a:r>
                      <a:endParaRPr lang="ru-RU" sz="14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7575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15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0.06</a:t>
                      </a:r>
                      <a:endParaRPr lang="ru-RU" sz="14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0.00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-0.01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-0.06</a:t>
                      </a:r>
                      <a:endParaRPr lang="ru-RU" sz="14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7724925"/>
                  </a:ext>
                </a:extLst>
              </a:tr>
            </a:tbl>
          </a:graphicData>
        </a:graphic>
      </p:graphicFrame>
      <p:sp>
        <p:nvSpPr>
          <p:cNvPr id="10" name="Прямоугольник 9"/>
          <p:cNvSpPr/>
          <p:nvPr/>
        </p:nvSpPr>
        <p:spPr>
          <a:xfrm>
            <a:off x="5169134" y="5619309"/>
            <a:ext cx="527689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ctr"/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**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разработаны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META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которые признаны </a:t>
            </a:r>
            <a:r>
              <a:rPr lang="ru-RU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террористами 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 экстремистами 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7442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  <p:bldP spid="17" grpId="0"/>
      <p:bldP spid="3" grpId="0" animBg="1"/>
      <p:bldP spid="13" grpId="0" animBg="1"/>
      <p:bldP spid="15" grpId="0" animBg="1"/>
      <p:bldP spid="19" grpId="0" animBg="1"/>
      <p:bldP spid="20" grpId="0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83233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12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Временные ряды</a:t>
            </a:r>
            <a:endParaRPr lang="ru-RU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9" name="Прямая соединительная линия 18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1DBAC8D8-9DD9-4FB1-A952-F515B93E9D84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9" name="Рисунок 8" descr="Изображение выглядит как текст, карта&#10;&#10;Автоматически созданное описание">
            <a:extLst>
              <a:ext uri="{FF2B5EF4-FFF2-40B4-BE49-F238E27FC236}">
                <a16:creationId xmlns:a16="http://schemas.microsoft.com/office/drawing/2014/main" id="{3C62B584-36B4-44BC-BA3D-09761070ACE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6" t="-1" b="50680"/>
          <a:stretch/>
        </p:blipFill>
        <p:spPr>
          <a:xfrm>
            <a:off x="2711624" y="1196752"/>
            <a:ext cx="6843903" cy="17047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3DF9C633-3F22-4A1A-9D93-A2CB6EB979B1}"/>
                  </a:ext>
                </a:extLst>
              </p:cNvPr>
              <p:cNvSpPr/>
              <p:nvPr/>
            </p:nvSpPr>
            <p:spPr>
              <a:xfrm>
                <a:off x="983432" y="3645024"/>
                <a:ext cx="4080348" cy="21873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𝑿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∗(</m:t>
                                </m:r>
                                <m:r>
                                  <a:rPr lang="en-US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−1)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en-US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3DF9C633-3F22-4A1A-9D93-A2CB6EB979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432" y="3645024"/>
                <a:ext cx="4080348" cy="21873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A9CF147-7883-41B1-A661-ED8116E63073}"/>
              </a:ext>
            </a:extLst>
          </p:cNvPr>
          <p:cNvSpPr/>
          <p:nvPr/>
        </p:nvSpPr>
        <p:spPr>
          <a:xfrm>
            <a:off x="551384" y="3140968"/>
            <a:ext cx="70090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Эквидистантный временной ряд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Прямоугольник 11">
                <a:extLst>
                  <a:ext uri="{FF2B5EF4-FFF2-40B4-BE49-F238E27FC236}">
                    <a16:creationId xmlns:a16="http://schemas.microsoft.com/office/drawing/2014/main" id="{5674377A-83E1-4798-9778-F1F279F4F7EB}"/>
                  </a:ext>
                </a:extLst>
              </p:cNvPr>
              <p:cNvSpPr/>
              <p:nvPr/>
            </p:nvSpPr>
            <p:spPr>
              <a:xfrm>
                <a:off x="7464152" y="4221088"/>
                <a:ext cx="3058914" cy="21636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𝑿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Прямоугольник 11">
                <a:extLst>
                  <a:ext uri="{FF2B5EF4-FFF2-40B4-BE49-F238E27FC236}">
                    <a16:creationId xmlns:a16="http://schemas.microsoft.com/office/drawing/2014/main" id="{5674377A-83E1-4798-9778-F1F279F4F7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4152" y="4221088"/>
                <a:ext cx="3058914" cy="21636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7273772-C73D-4CAA-BF0B-1A72EDA86C46}"/>
              </a:ext>
            </a:extLst>
          </p:cNvPr>
          <p:cNvSpPr/>
          <p:nvPr/>
        </p:nvSpPr>
        <p:spPr>
          <a:xfrm>
            <a:off x="5639272" y="3645024"/>
            <a:ext cx="69127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Не эквидистантный временной ряд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Прямоугольник 13">
                <a:extLst>
                  <a:ext uri="{FF2B5EF4-FFF2-40B4-BE49-F238E27FC236}">
                    <a16:creationId xmlns:a16="http://schemas.microsoft.com/office/drawing/2014/main" id="{DFA60148-72DC-4DE4-9283-37A95B9BFA58}"/>
                  </a:ext>
                </a:extLst>
              </p:cNvPr>
              <p:cNvSpPr/>
              <p:nvPr/>
            </p:nvSpPr>
            <p:spPr>
              <a:xfrm>
                <a:off x="695400" y="5805264"/>
                <a:ext cx="478381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16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ru-RU" sz="28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частота дискретизации</a:t>
                </a:r>
              </a:p>
            </p:txBody>
          </p:sp>
        </mc:Choice>
        <mc:Fallback xmlns="">
          <p:sp>
            <p:nvSpPr>
              <p:cNvPr id="14" name="Прямоугольник 13">
                <a:extLst>
                  <a:ext uri="{FF2B5EF4-FFF2-40B4-BE49-F238E27FC236}">
                    <a16:creationId xmlns:a16="http://schemas.microsoft.com/office/drawing/2014/main" id="{DFA60148-72DC-4DE4-9283-37A95B9BFA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00" y="5805264"/>
                <a:ext cx="4783810" cy="523220"/>
              </a:xfrm>
              <a:prstGeom prst="rect">
                <a:avLst/>
              </a:prstGeom>
              <a:blipFill>
                <a:blip r:embed="rId7"/>
                <a:stretch>
                  <a:fillRect t="-11628" r="-1146" b="-3139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9369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2" y="22039"/>
            <a:ext cx="1758462" cy="111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39182" y="901034"/>
            <a:ext cx="12113637" cy="2156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242802B-4644-4E88-AA5E-0EA6F0887BE9}"/>
              </a:ext>
            </a:extLst>
          </p:cNvPr>
          <p:cNvSpPr/>
          <p:nvPr/>
        </p:nvSpPr>
        <p:spPr>
          <a:xfrm>
            <a:off x="11521444" y="159748"/>
            <a:ext cx="312488" cy="519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82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782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5" name="Нижний колонтитул 6">
            <a:extLst>
              <a:ext uri="{FF2B5EF4-FFF2-40B4-BE49-F238E27FC236}">
                <a16:creationId xmlns:a16="http://schemas.microsoft.com/office/drawing/2014/main" id="{C750D80A-1143-7B59-FA36-CC82C2739814}"/>
              </a:ext>
            </a:extLst>
          </p:cNvPr>
          <p:cNvSpPr txBox="1">
            <a:spLocks/>
          </p:cNvSpPr>
          <p:nvPr/>
        </p:nvSpPr>
        <p:spPr>
          <a:xfrm>
            <a:off x="1439763" y="35138"/>
            <a:ext cx="10490460" cy="48302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3188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Что делает табличные данные особенными</a:t>
            </a:r>
            <a:endParaRPr lang="ru-RU" sz="3188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13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F4FB922-9C99-4902-866F-E190E05E0337}"/>
              </a:ext>
            </a:extLst>
          </p:cNvPr>
          <p:cNvSpPr/>
          <p:nvPr/>
        </p:nvSpPr>
        <p:spPr>
          <a:xfrm>
            <a:off x="663543" y="938452"/>
            <a:ext cx="108872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Гетерогенность</a:t>
            </a:r>
            <a:endParaRPr lang="ru-RU" sz="2800" dirty="0" smtClean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Числовые (причем каждый в своём диапазоне)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Категориальные (номинальные и порядковые, которые ещё надо «цифровать»)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F4FB922-9C99-4902-866F-E190E05E0337}"/>
              </a:ext>
            </a:extLst>
          </p:cNvPr>
          <p:cNvSpPr/>
          <p:nvPr/>
        </p:nvSpPr>
        <p:spPr>
          <a:xfrm>
            <a:off x="616561" y="2691047"/>
            <a:ext cx="108872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Данные чаще разреженные (</a:t>
            </a:r>
            <a:r>
              <a:rPr lang="en-US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sparse) </a:t>
            </a: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 </a:t>
            </a: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проблемные (</a:t>
            </a:r>
            <a:r>
              <a:rPr lang="en-US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low-quality)</a:t>
            </a:r>
            <a:endParaRPr lang="ru-RU" sz="2800" dirty="0" smtClean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Есть пропуски, которые нужно восстанавливать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Есть «неравномерные признаки</a:t>
            </a: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»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Нет понятия «пространства» </a:t>
            </a:r>
            <a:endParaRPr lang="ru-RU" sz="2800" dirty="0" smtClean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F4FB922-9C99-4902-866F-E190E05E0337}"/>
              </a:ext>
            </a:extLst>
          </p:cNvPr>
          <p:cNvSpPr/>
          <p:nvPr/>
        </p:nvSpPr>
        <p:spPr>
          <a:xfrm>
            <a:off x="616561" y="5604323"/>
            <a:ext cx="108872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Нужно обязательно расширять «блок» предварительной </a:t>
            </a: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обработки</a:t>
            </a:r>
            <a:r>
              <a:rPr lang="en-US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 учетом гетерогенности</a:t>
            </a:r>
            <a:endParaRPr lang="ru-RU" sz="2800" dirty="0" smtClean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F4FB922-9C99-4902-866F-E190E05E0337}"/>
              </a:ext>
            </a:extLst>
          </p:cNvPr>
          <p:cNvSpPr/>
          <p:nvPr/>
        </p:nvSpPr>
        <p:spPr>
          <a:xfrm>
            <a:off x="634244" y="4927941"/>
            <a:ext cx="10887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Зависимость от отдельных признаков 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540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" grpId="0"/>
      <p:bldP spid="8" grpId="0"/>
      <p:bldP spid="10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2" y="22040"/>
            <a:ext cx="1758462" cy="111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39182" y="901034"/>
            <a:ext cx="12113637" cy="2156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Заголовок 1"/>
          <p:cNvSpPr txBox="1">
            <a:spLocks/>
          </p:cNvSpPr>
          <p:nvPr/>
        </p:nvSpPr>
        <p:spPr>
          <a:xfrm>
            <a:off x="1797645" y="996900"/>
            <a:ext cx="7869969" cy="822418"/>
          </a:xfrm>
          <a:prstGeom prst="rect">
            <a:avLst/>
          </a:prstGeom>
        </p:spPr>
        <p:txBody>
          <a:bodyPr vert="horz" lIns="90852" tIns="45427" rIns="90852" bIns="45427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18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764042A-EC52-463E-A7A7-164C646B1A2A}"/>
              </a:ext>
            </a:extLst>
          </p:cNvPr>
          <p:cNvSpPr/>
          <p:nvPr/>
        </p:nvSpPr>
        <p:spPr>
          <a:xfrm>
            <a:off x="918413" y="1711917"/>
            <a:ext cx="10603030" cy="2667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789" spc="-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Табличные данные</a:t>
            </a:r>
            <a:endParaRPr lang="en-US" sz="2789" spc="-1" dirty="0" smtClean="0">
              <a:solidFill>
                <a:schemeClr val="tx1">
                  <a:lumMod val="50000"/>
                  <a:lumOff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US" sz="2789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2789" b="1" spc="-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 нейронные сети</a:t>
            </a:r>
            <a:r>
              <a:rPr lang="en-US" sz="2789" b="1" spc="-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endParaRPr lang="en-US" sz="2789" b="1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US" sz="2789" spc="-1" dirty="0">
              <a:solidFill>
                <a:schemeClr val="tx1">
                  <a:lumMod val="50000"/>
                  <a:lumOff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2789" spc="-1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 табличные методы в обработке картинок / текста</a:t>
            </a:r>
          </a:p>
          <a:p>
            <a:endParaRPr lang="en-US" sz="2789" spc="-1" dirty="0">
              <a:solidFill>
                <a:schemeClr val="tx1">
                  <a:lumMod val="50000"/>
                  <a:lumOff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242802B-4644-4E88-AA5E-0EA6F0887BE9}"/>
              </a:ext>
            </a:extLst>
          </p:cNvPr>
          <p:cNvSpPr/>
          <p:nvPr/>
        </p:nvSpPr>
        <p:spPr>
          <a:xfrm>
            <a:off x="11521444" y="159748"/>
            <a:ext cx="312488" cy="519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82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782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Нижний колонтитул 6">
            <a:extLst>
              <a:ext uri="{FF2B5EF4-FFF2-40B4-BE49-F238E27FC236}">
                <a16:creationId xmlns:a16="http://schemas.microsoft.com/office/drawing/2014/main" id="{31B83413-42AB-9665-7583-E8047FDC61C5}"/>
              </a:ext>
            </a:extLst>
          </p:cNvPr>
          <p:cNvSpPr txBox="1">
            <a:spLocks/>
          </p:cNvSpPr>
          <p:nvPr/>
        </p:nvSpPr>
        <p:spPr>
          <a:xfrm>
            <a:off x="3131440" y="198256"/>
            <a:ext cx="7674876" cy="48302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3188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Содержание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508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15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D5CE526A-265B-4435-8BB0-007C8CA52B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E9BC6C6F-9DFC-4DD3-B111-0AA26A0484C7}"/>
              </a:ext>
            </a:extLst>
          </p:cNvPr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4056C73-5AE4-4ACB-9F2C-0992577E9909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Нижний колонтитул 6">
            <a:extLst>
              <a:ext uri="{FF2B5EF4-FFF2-40B4-BE49-F238E27FC236}">
                <a16:creationId xmlns:a16="http://schemas.microsoft.com/office/drawing/2014/main" id="{EDEAAD4B-7670-49BC-AB27-0AEBAEF5D270}"/>
              </a:ext>
            </a:extLst>
          </p:cNvPr>
          <p:cNvSpPr txBox="1">
            <a:spLocks/>
          </p:cNvSpPr>
          <p:nvPr/>
        </p:nvSpPr>
        <p:spPr>
          <a:xfrm>
            <a:off x="1415480" y="404664"/>
            <a:ext cx="10225136" cy="2780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Нейронные Сети: </a:t>
            </a:r>
            <a:r>
              <a:rPr lang="ru-RU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Слои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81D6CC1-CB14-43BA-9050-E1F9B0C6212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 l="38441" t="2097" r="39093" b="10943"/>
          <a:stretch/>
        </p:blipFill>
        <p:spPr>
          <a:xfrm>
            <a:off x="718821" y="1121419"/>
            <a:ext cx="2294225" cy="4218071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49C084E-6EE8-4436-AFE2-7D0D1829EE7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rcRect l="57290" t="20636" r="16132" b="21203"/>
          <a:stretch/>
        </p:blipFill>
        <p:spPr>
          <a:xfrm>
            <a:off x="3618419" y="1268760"/>
            <a:ext cx="3240360" cy="3113417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EDD0E39E-23F4-473D-AA96-F3DBBBD0FC0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rcRect l="35437" t="26633" r="31488" b="28408"/>
          <a:stretch/>
        </p:blipFill>
        <p:spPr>
          <a:xfrm>
            <a:off x="7479925" y="1515096"/>
            <a:ext cx="4391125" cy="2620743"/>
          </a:xfrm>
          <a:prstGeom prst="rect">
            <a:avLst/>
          </a:prstGeom>
        </p:spPr>
      </p:pic>
      <p:sp>
        <p:nvSpPr>
          <p:cNvPr id="10" name="TextBox 3">
            <a:extLst>
              <a:ext uri="{FF2B5EF4-FFF2-40B4-BE49-F238E27FC236}">
                <a16:creationId xmlns:a16="http://schemas.microsoft.com/office/drawing/2014/main" id="{7F829750-3453-405F-BC0B-1C35C11659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336" y="5607119"/>
            <a:ext cx="374441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Полносвязные</a:t>
            </a:r>
            <a:endParaRPr lang="ru-RU" alt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+mj-cs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7F829750-3453-405F-BC0B-1C35C11659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3712" y="4627634"/>
            <a:ext cx="374441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Свёрточные</a:t>
            </a:r>
            <a:endParaRPr lang="ru-RU" alt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+mj-cs"/>
            </a:endParaRPr>
          </a:p>
        </p:txBody>
      </p:sp>
      <p:sp>
        <p:nvSpPr>
          <p:cNvPr id="16" name="TextBox 3">
            <a:extLst>
              <a:ext uri="{FF2B5EF4-FFF2-40B4-BE49-F238E27FC236}">
                <a16:creationId xmlns:a16="http://schemas.microsoft.com/office/drawing/2014/main" id="{7F829750-3453-405F-BC0B-1C35C11659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2124" y="4381412"/>
            <a:ext cx="374441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Pooling</a:t>
            </a:r>
            <a:endParaRPr lang="ru-RU" alt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33594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2" y="22039"/>
            <a:ext cx="1758462" cy="111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39182" y="901034"/>
            <a:ext cx="12113637" cy="2156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242802B-4644-4E88-AA5E-0EA6F0887BE9}"/>
              </a:ext>
            </a:extLst>
          </p:cNvPr>
          <p:cNvSpPr/>
          <p:nvPr/>
        </p:nvSpPr>
        <p:spPr>
          <a:xfrm>
            <a:off x="11521444" y="159748"/>
            <a:ext cx="312488" cy="519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82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782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5" name="Нижний колонтитул 6">
            <a:extLst>
              <a:ext uri="{FF2B5EF4-FFF2-40B4-BE49-F238E27FC236}">
                <a16:creationId xmlns:a16="http://schemas.microsoft.com/office/drawing/2014/main" id="{C750D80A-1143-7B59-FA36-CC82C2739814}"/>
              </a:ext>
            </a:extLst>
          </p:cNvPr>
          <p:cNvSpPr txBox="1">
            <a:spLocks/>
          </p:cNvSpPr>
          <p:nvPr/>
        </p:nvSpPr>
        <p:spPr>
          <a:xfrm>
            <a:off x="2711624" y="174218"/>
            <a:ext cx="7674876" cy="48302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3188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Какие нейронные слои бывают</a:t>
            </a:r>
            <a:endParaRPr lang="ru-RU" sz="3188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16</a:t>
            </a:fld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81D6CC1-CB14-43BA-9050-E1F9B0C6212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l="38441" t="2097" r="39093" b="10943"/>
          <a:stretch/>
        </p:blipFill>
        <p:spPr>
          <a:xfrm>
            <a:off x="570347" y="1104117"/>
            <a:ext cx="2294225" cy="421807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49C084E-6EE8-4436-AFE2-7D0D1829EE7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7"/>
              </a:ext>
            </a:extLst>
          </a:blip>
          <a:srcRect l="57290" t="20636" r="16132" b="21203"/>
          <a:stretch/>
        </p:blipFill>
        <p:spPr>
          <a:xfrm>
            <a:off x="3728518" y="1333313"/>
            <a:ext cx="3240360" cy="3113417"/>
          </a:xfrm>
          <a:prstGeom prst="rect">
            <a:avLst/>
          </a:prstGeom>
        </p:spPr>
      </p:pic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7E824BB-EB46-4D13-BA95-6DD133889EAB}"/>
              </a:ext>
            </a:extLst>
          </p:cNvPr>
          <p:cNvSpPr/>
          <p:nvPr/>
        </p:nvSpPr>
        <p:spPr>
          <a:xfrm>
            <a:off x="0" y="5340075"/>
            <a:ext cx="58326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Полносвязные</a:t>
            </a:r>
            <a:r>
              <a:rPr lang="ru-RU" sz="24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слои </a:t>
            </a:r>
            <a:endParaRPr lang="en-US" sz="2400" dirty="0" smtClean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24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(они же </a:t>
            </a:r>
            <a:r>
              <a:rPr lang="en-US" sz="24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Dense, </a:t>
            </a:r>
            <a:r>
              <a:rPr lang="ru-RU" sz="24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они же </a:t>
            </a:r>
            <a:r>
              <a:rPr lang="en-US" sz="24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MLPBlock</a:t>
            </a:r>
            <a:r>
              <a:rPr lang="en-US" sz="24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  <a:endParaRPr lang="ru-RU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87E824BB-EB46-4D13-BA95-6DD133889EAB}"/>
              </a:ext>
            </a:extLst>
          </p:cNvPr>
          <p:cNvSpPr/>
          <p:nvPr/>
        </p:nvSpPr>
        <p:spPr>
          <a:xfrm>
            <a:off x="3872534" y="4484519"/>
            <a:ext cx="29523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Свёрточные</a:t>
            </a:r>
            <a:r>
              <a:rPr lang="ru-RU" sz="24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слои (они же </a:t>
            </a:r>
            <a:r>
              <a:rPr lang="en-US" sz="24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Conv</a:t>
            </a:r>
            <a:r>
              <a:rPr lang="ru-RU" sz="24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r>
            <a:r>
              <a:rPr lang="en-US" sz="24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D)</a:t>
            </a:r>
            <a:endParaRPr lang="ru-RU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Знак запрета 1"/>
          <p:cNvSpPr/>
          <p:nvPr/>
        </p:nvSpPr>
        <p:spPr>
          <a:xfrm>
            <a:off x="3287688" y="1333313"/>
            <a:ext cx="3816424" cy="3319823"/>
          </a:xfrm>
          <a:prstGeom prst="noSmoking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F4FB922-9C99-4902-866F-E190E05E0337}"/>
              </a:ext>
            </a:extLst>
          </p:cNvPr>
          <p:cNvSpPr/>
          <p:nvPr/>
        </p:nvSpPr>
        <p:spPr>
          <a:xfrm>
            <a:off x="7281754" y="1844824"/>
            <a:ext cx="423969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Отсутствие пространственной </a:t>
            </a: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структуры</a:t>
            </a:r>
            <a:endParaRPr lang="en-US" sz="2800" dirty="0" smtClean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Переменная длина и порядок</a:t>
            </a:r>
            <a:endParaRPr lang="en-US" sz="2800" dirty="0" smtClean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Категориальные и числовые </a:t>
            </a: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переменные</a:t>
            </a:r>
            <a:endParaRPr lang="en-US" sz="2800" dirty="0" smtClean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800" dirty="0" smtClean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382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19" grpId="0"/>
      <p:bldP spid="2" grpId="0" animBg="1"/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63552" y="40188"/>
            <a:ext cx="7920880" cy="827739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Recurrent Neural Networks</a:t>
            </a:r>
            <a:endParaRPr lang="ru-RU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2613" y="6470257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17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7764408E-352B-4B0E-BCC8-209C94E73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62A2F57-A606-4725-8A9E-4DE2F5F79FE3}"/>
              </a:ext>
            </a:extLst>
          </p:cNvPr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9A235C2-7C91-48CC-A91F-FD8BAE6B5F80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34" name="Соединитель: изогнутый 5">
            <a:extLst>
              <a:ext uri="{FF2B5EF4-FFF2-40B4-BE49-F238E27FC236}">
                <a16:creationId xmlns:a16="http://schemas.microsoft.com/office/drawing/2014/main" id="{F6540DD9-E48E-455C-92B1-B81198F190BB}"/>
              </a:ext>
            </a:extLst>
          </p:cNvPr>
          <p:cNvCxnSpPr>
            <a:stCxn id="35" idx="3"/>
            <a:endCxn id="35" idx="1"/>
          </p:cNvCxnSpPr>
          <p:nvPr/>
        </p:nvCxnSpPr>
        <p:spPr>
          <a:xfrm flipH="1">
            <a:off x="1703512" y="4392643"/>
            <a:ext cx="1440000" cy="12700"/>
          </a:xfrm>
          <a:prstGeom prst="curvedConnector5">
            <a:avLst>
              <a:gd name="adj1" fmla="val -15875"/>
              <a:gd name="adj2" fmla="val -12565488"/>
              <a:gd name="adj3" fmla="val 115875"/>
            </a:avLst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25D65966-0B1B-4030-B0AD-A2848739D49F}"/>
              </a:ext>
            </a:extLst>
          </p:cNvPr>
          <p:cNvSpPr/>
          <p:nvPr/>
        </p:nvSpPr>
        <p:spPr>
          <a:xfrm>
            <a:off x="1703512" y="3672643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9D95E8B0-12BE-4CBA-9165-7C84970E9A09}"/>
              </a:ext>
            </a:extLst>
          </p:cNvPr>
          <p:cNvCxnSpPr>
            <a:cxnSpLocks/>
          </p:cNvCxnSpPr>
          <p:nvPr/>
        </p:nvCxnSpPr>
        <p:spPr>
          <a:xfrm flipV="1">
            <a:off x="2417011" y="5129397"/>
            <a:ext cx="0" cy="934428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Прямоугольник 36">
                <a:extLst>
                  <a:ext uri="{FF2B5EF4-FFF2-40B4-BE49-F238E27FC236}">
                    <a16:creationId xmlns:a16="http://schemas.microsoft.com/office/drawing/2014/main" id="{D0AEF371-230B-447E-8466-F11D1B7E286A}"/>
                  </a:ext>
                </a:extLst>
              </p:cNvPr>
              <p:cNvSpPr/>
              <p:nvPr/>
            </p:nvSpPr>
            <p:spPr>
              <a:xfrm>
                <a:off x="2486717" y="5224204"/>
                <a:ext cx="91358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en-US" sz="3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𝑊</m:t>
                          </m:r>
                        </m:e>
                        <m:sub>
                          <m:r>
                            <a:rPr lang="en-US" sz="3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ru-RU" sz="28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7" name="Прямоугольник 36">
                <a:extLst>
                  <a:ext uri="{FF2B5EF4-FFF2-40B4-BE49-F238E27FC236}">
                    <a16:creationId xmlns:a16="http://schemas.microsoft.com/office/drawing/2014/main" id="{D0AEF371-230B-447E-8466-F11D1B7E28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6717" y="5224204"/>
                <a:ext cx="913583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552F0DFB-FC81-4B8D-ABC6-AC7FDB93FDAE}"/>
              </a:ext>
            </a:extLst>
          </p:cNvPr>
          <p:cNvCxnSpPr>
            <a:cxnSpLocks/>
          </p:cNvCxnSpPr>
          <p:nvPr/>
        </p:nvCxnSpPr>
        <p:spPr>
          <a:xfrm flipH="1" flipV="1">
            <a:off x="2486717" y="2513194"/>
            <a:ext cx="1722" cy="1077194"/>
          </a:xfrm>
          <a:prstGeom prst="straightConnector1">
            <a:avLst/>
          </a:prstGeom>
          <a:ln w="762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Прямоугольник 38">
                <a:extLst>
                  <a:ext uri="{FF2B5EF4-FFF2-40B4-BE49-F238E27FC236}">
                    <a16:creationId xmlns:a16="http://schemas.microsoft.com/office/drawing/2014/main" id="{405F4FDD-3F92-4FB2-A679-A053D6680A90}"/>
                  </a:ext>
                </a:extLst>
              </p:cNvPr>
              <p:cNvSpPr/>
              <p:nvPr/>
            </p:nvSpPr>
            <p:spPr>
              <a:xfrm>
                <a:off x="407368" y="3051791"/>
                <a:ext cx="962186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en-US" sz="3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𝑊</m:t>
                          </m:r>
                        </m:e>
                        <m:sub>
                          <m:r>
                            <a:rPr lang="en-US" sz="3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ru-RU" sz="28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9" name="Прямоугольник 38">
                <a:extLst>
                  <a:ext uri="{FF2B5EF4-FFF2-40B4-BE49-F238E27FC236}">
                    <a16:creationId xmlns:a16="http://schemas.microsoft.com/office/drawing/2014/main" id="{405F4FDD-3F92-4FB2-A679-A053D6680A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368" y="3051791"/>
                <a:ext cx="962186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Прямоугольник 39">
                <a:extLst>
                  <a:ext uri="{FF2B5EF4-FFF2-40B4-BE49-F238E27FC236}">
                    <a16:creationId xmlns:a16="http://schemas.microsoft.com/office/drawing/2014/main" id="{47981F32-2143-4BB0-992D-D98BFC02FE07}"/>
                  </a:ext>
                </a:extLst>
              </p:cNvPr>
              <p:cNvSpPr/>
              <p:nvPr/>
            </p:nvSpPr>
            <p:spPr>
              <a:xfrm>
                <a:off x="2486717" y="1862143"/>
                <a:ext cx="927177" cy="6900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en-US" sz="3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𝑊</m:t>
                          </m:r>
                        </m:e>
                        <m:sub>
                          <m:r>
                            <a:rPr lang="en-US" sz="3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ru-RU" sz="28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0" name="Прямоугольник 39">
                <a:extLst>
                  <a:ext uri="{FF2B5EF4-FFF2-40B4-BE49-F238E27FC236}">
                    <a16:creationId xmlns:a16="http://schemas.microsoft.com/office/drawing/2014/main" id="{47981F32-2143-4BB0-992D-D98BFC02FE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6717" y="1862143"/>
                <a:ext cx="927177" cy="69006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1B0748A3-35BF-4BB9-9F86-B709E12177C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</a:blip>
          <a:srcRect b="63784"/>
          <a:stretch/>
        </p:blipFill>
        <p:spPr>
          <a:xfrm>
            <a:off x="5015880" y="1241971"/>
            <a:ext cx="5879145" cy="361964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3179BC8A-4683-46D7-8D21-153EAE4E2BD2}"/>
              </a:ext>
            </a:extLst>
          </p:cNvPr>
          <p:cNvSpPr txBox="1"/>
          <p:nvPr/>
        </p:nvSpPr>
        <p:spPr>
          <a:xfrm>
            <a:off x="5414158" y="5685869"/>
            <a:ext cx="61423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https://www.asimovinstitute.org/neural-network-zoo/</a:t>
            </a:r>
          </a:p>
        </p:txBody>
      </p:sp>
    </p:spTree>
    <p:extLst>
      <p:ext uri="{BB962C8B-B14F-4D97-AF65-F5344CB8AC3E}">
        <p14:creationId xmlns:p14="http://schemas.microsoft.com/office/powerpoint/2010/main" val="489460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4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63552" y="40188"/>
            <a:ext cx="7920880" cy="827739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Recurrent Neural Networks</a:t>
            </a:r>
            <a:endParaRPr lang="ru-RU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2613" y="6470257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18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7764408E-352B-4B0E-BCC8-209C94E73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62A2F57-A606-4725-8A9E-4DE2F5F79FE3}"/>
              </a:ext>
            </a:extLst>
          </p:cNvPr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9A235C2-7C91-48CC-A91F-FD8BAE6B5F80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34" name="Соединитель: изогнутый 5">
            <a:extLst>
              <a:ext uri="{FF2B5EF4-FFF2-40B4-BE49-F238E27FC236}">
                <a16:creationId xmlns:a16="http://schemas.microsoft.com/office/drawing/2014/main" id="{F6540DD9-E48E-455C-92B1-B81198F190BB}"/>
              </a:ext>
            </a:extLst>
          </p:cNvPr>
          <p:cNvCxnSpPr>
            <a:stCxn id="35" idx="3"/>
            <a:endCxn id="35" idx="1"/>
          </p:cNvCxnSpPr>
          <p:nvPr/>
        </p:nvCxnSpPr>
        <p:spPr>
          <a:xfrm flipH="1">
            <a:off x="1703512" y="4392643"/>
            <a:ext cx="1440000" cy="12700"/>
          </a:xfrm>
          <a:prstGeom prst="curvedConnector5">
            <a:avLst>
              <a:gd name="adj1" fmla="val -15875"/>
              <a:gd name="adj2" fmla="val -12565488"/>
              <a:gd name="adj3" fmla="val 115875"/>
            </a:avLst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25D65966-0B1B-4030-B0AD-A2848739D49F}"/>
              </a:ext>
            </a:extLst>
          </p:cNvPr>
          <p:cNvSpPr/>
          <p:nvPr/>
        </p:nvSpPr>
        <p:spPr>
          <a:xfrm>
            <a:off x="1703512" y="3672643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9D95E8B0-12BE-4CBA-9165-7C84970E9A09}"/>
              </a:ext>
            </a:extLst>
          </p:cNvPr>
          <p:cNvCxnSpPr>
            <a:cxnSpLocks/>
          </p:cNvCxnSpPr>
          <p:nvPr/>
        </p:nvCxnSpPr>
        <p:spPr>
          <a:xfrm flipV="1">
            <a:off x="2417011" y="5129397"/>
            <a:ext cx="0" cy="934428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Прямоугольник 36">
                <a:extLst>
                  <a:ext uri="{FF2B5EF4-FFF2-40B4-BE49-F238E27FC236}">
                    <a16:creationId xmlns:a16="http://schemas.microsoft.com/office/drawing/2014/main" id="{D0AEF371-230B-447E-8466-F11D1B7E286A}"/>
                  </a:ext>
                </a:extLst>
              </p:cNvPr>
              <p:cNvSpPr/>
              <p:nvPr/>
            </p:nvSpPr>
            <p:spPr>
              <a:xfrm>
                <a:off x="2486717" y="5224204"/>
                <a:ext cx="91358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en-US" sz="3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𝑊</m:t>
                          </m:r>
                        </m:e>
                        <m:sub>
                          <m:r>
                            <a:rPr lang="en-US" sz="3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ru-RU" sz="28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7" name="Прямоугольник 36">
                <a:extLst>
                  <a:ext uri="{FF2B5EF4-FFF2-40B4-BE49-F238E27FC236}">
                    <a16:creationId xmlns:a16="http://schemas.microsoft.com/office/drawing/2014/main" id="{D0AEF371-230B-447E-8466-F11D1B7E28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6717" y="5224204"/>
                <a:ext cx="913583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552F0DFB-FC81-4B8D-ABC6-AC7FDB93FDAE}"/>
              </a:ext>
            </a:extLst>
          </p:cNvPr>
          <p:cNvCxnSpPr>
            <a:cxnSpLocks/>
          </p:cNvCxnSpPr>
          <p:nvPr/>
        </p:nvCxnSpPr>
        <p:spPr>
          <a:xfrm flipH="1" flipV="1">
            <a:off x="2486717" y="2513194"/>
            <a:ext cx="1722" cy="1077194"/>
          </a:xfrm>
          <a:prstGeom prst="straightConnector1">
            <a:avLst/>
          </a:prstGeom>
          <a:ln w="762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Прямоугольник 38">
                <a:extLst>
                  <a:ext uri="{FF2B5EF4-FFF2-40B4-BE49-F238E27FC236}">
                    <a16:creationId xmlns:a16="http://schemas.microsoft.com/office/drawing/2014/main" id="{405F4FDD-3F92-4FB2-A679-A053D6680A90}"/>
                  </a:ext>
                </a:extLst>
              </p:cNvPr>
              <p:cNvSpPr/>
              <p:nvPr/>
            </p:nvSpPr>
            <p:spPr>
              <a:xfrm>
                <a:off x="407368" y="3051791"/>
                <a:ext cx="962186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en-US" sz="3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𝑊</m:t>
                          </m:r>
                        </m:e>
                        <m:sub>
                          <m:r>
                            <a:rPr lang="en-US" sz="3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ru-RU" sz="28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9" name="Прямоугольник 38">
                <a:extLst>
                  <a:ext uri="{FF2B5EF4-FFF2-40B4-BE49-F238E27FC236}">
                    <a16:creationId xmlns:a16="http://schemas.microsoft.com/office/drawing/2014/main" id="{405F4FDD-3F92-4FB2-A679-A053D6680A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368" y="3051791"/>
                <a:ext cx="962186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Прямоугольник 39">
                <a:extLst>
                  <a:ext uri="{FF2B5EF4-FFF2-40B4-BE49-F238E27FC236}">
                    <a16:creationId xmlns:a16="http://schemas.microsoft.com/office/drawing/2014/main" id="{47981F32-2143-4BB0-992D-D98BFC02FE07}"/>
                  </a:ext>
                </a:extLst>
              </p:cNvPr>
              <p:cNvSpPr/>
              <p:nvPr/>
            </p:nvSpPr>
            <p:spPr>
              <a:xfrm>
                <a:off x="2486717" y="1862143"/>
                <a:ext cx="927177" cy="6900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en-US" sz="3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𝑊</m:t>
                          </m:r>
                        </m:e>
                        <m:sub>
                          <m:r>
                            <a:rPr lang="en-US" sz="3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ru-RU" sz="28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0" name="Прямоугольник 39">
                <a:extLst>
                  <a:ext uri="{FF2B5EF4-FFF2-40B4-BE49-F238E27FC236}">
                    <a16:creationId xmlns:a16="http://schemas.microsoft.com/office/drawing/2014/main" id="{47981F32-2143-4BB0-992D-D98BFC02FE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6717" y="1862143"/>
                <a:ext cx="927177" cy="69006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F4FB922-9C99-4902-866F-E190E05E0337}"/>
              </a:ext>
            </a:extLst>
          </p:cNvPr>
          <p:cNvSpPr/>
          <p:nvPr/>
        </p:nvSpPr>
        <p:spPr>
          <a:xfrm>
            <a:off x="7369474" y="1558600"/>
            <a:ext cx="423969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Отсутствие временной </a:t>
            </a: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структуры</a:t>
            </a:r>
            <a:endParaRPr lang="en-US" sz="2800" dirty="0" smtClean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Переменная длина и порядок</a:t>
            </a:r>
            <a:endParaRPr lang="en-US" sz="2800" dirty="0" smtClean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Категориальные и числовые </a:t>
            </a: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переменные</a:t>
            </a:r>
            <a:endParaRPr lang="en-US" sz="2800" dirty="0" smtClean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800" dirty="0" smtClean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7" name="Знак запрета 16"/>
          <p:cNvSpPr/>
          <p:nvPr/>
        </p:nvSpPr>
        <p:spPr>
          <a:xfrm>
            <a:off x="1235300" y="2176981"/>
            <a:ext cx="3816424" cy="3319823"/>
          </a:xfrm>
          <a:prstGeom prst="noSmoking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7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2613" y="6470257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19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7764408E-352B-4B0E-BCC8-209C94E73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62A2F57-A606-4725-8A9E-4DE2F5F79FE3}"/>
              </a:ext>
            </a:extLst>
          </p:cNvPr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9A235C2-7C91-48CC-A91F-FD8BAE6B5F80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2135560" y="0"/>
            <a:ext cx="7920880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А что там в </a:t>
            </a:r>
            <a:r>
              <a:rPr lang="ru-RU" sz="3200" b="1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транссформерах</a:t>
            </a:r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4855BF48-2887-4862-9EF2-7FBA0ACEC953}"/>
              </a:ext>
            </a:extLst>
          </p:cNvPr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65EB759-769F-46BF-B8EC-4E21410ECCB8}"/>
                  </a:ext>
                </a:extLst>
              </p:cNvPr>
              <p:cNvSpPr txBox="1"/>
              <p:nvPr/>
            </p:nvSpPr>
            <p:spPr>
              <a:xfrm>
                <a:off x="376902" y="1133692"/>
                <a:ext cx="806489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Embedding </a:t>
                </a:r>
                <a:r>
                  <a:rPr lang="ru-RU" sz="28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для</a:t>
                </a:r>
                <a:r>
                  <a:rPr lang="en-US" sz="28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ru-RU" sz="28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токена</a:t>
                </a:r>
                <a:r>
                  <a:rPr lang="ru-RU" sz="28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8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&lt;</m:t>
                        </m:r>
                        <m:r>
                          <a:rPr lang="en-US" sz="28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𝑡</m:t>
                        </m:r>
                        <m:r>
                          <a:rPr lang="en-US" sz="28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&gt;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 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65EB759-769F-46BF-B8EC-4E21410EC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902" y="1133692"/>
                <a:ext cx="8064896" cy="523220"/>
              </a:xfrm>
              <a:prstGeom prst="rect">
                <a:avLst/>
              </a:prstGeom>
              <a:blipFill>
                <a:blip r:embed="rId4"/>
                <a:stretch>
                  <a:fillRect l="-1587" t="-13953" b="-302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14C57063-704A-4050-8DD2-8FE0BADA7389}"/>
              </a:ext>
            </a:extLst>
          </p:cNvPr>
          <p:cNvSpPr/>
          <p:nvPr/>
        </p:nvSpPr>
        <p:spPr>
          <a:xfrm>
            <a:off x="8444139" y="2097317"/>
            <a:ext cx="15784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i="1" dirty="0">
                <a:solidFill>
                  <a:srgbClr val="00B050"/>
                </a:solidFill>
                <a:latin typeface="Cambria Math" panose="02040503050406030204" pitchFamily="18" charset="0"/>
                <a:ea typeface="Verdana" panose="020B0604030504040204" pitchFamily="34" charset="0"/>
              </a:rPr>
              <a:t>Key</a:t>
            </a:r>
            <a:endParaRPr lang="ru-RU" sz="3600" i="1" dirty="0">
              <a:solidFill>
                <a:srgbClr val="00B050"/>
              </a:solidFill>
              <a:latin typeface="Cambria Math" panose="02040503050406030204" pitchFamily="18" charset="0"/>
              <a:ea typeface="Verdana" panose="020B0604030504040204" pitchFamily="34" charset="0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595242C2-19DC-4FFF-81F0-17096CCA33EA}"/>
              </a:ext>
            </a:extLst>
          </p:cNvPr>
          <p:cNvSpPr/>
          <p:nvPr/>
        </p:nvSpPr>
        <p:spPr>
          <a:xfrm>
            <a:off x="10327432" y="2797423"/>
            <a:ext cx="15784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i="1" dirty="0">
                <a:solidFill>
                  <a:srgbClr val="0070C0"/>
                </a:solidFill>
                <a:latin typeface="Cambria Math" panose="02040503050406030204" pitchFamily="18" charset="0"/>
                <a:ea typeface="Verdana" panose="020B0604030504040204" pitchFamily="34" charset="0"/>
              </a:rPr>
              <a:t>Value</a:t>
            </a:r>
            <a:endParaRPr lang="ru-RU" sz="3600" i="1" dirty="0">
              <a:solidFill>
                <a:srgbClr val="0070C0"/>
              </a:solidFill>
              <a:latin typeface="Cambria Math" panose="02040503050406030204" pitchFamily="18" charset="0"/>
              <a:ea typeface="Verdana" panose="020B0604030504040204" pitchFamily="34" charset="0"/>
            </a:endParaRP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2030FDD3-B156-4BE1-9D02-D1B7D069FE67}"/>
              </a:ext>
            </a:extLst>
          </p:cNvPr>
          <p:cNvSpPr/>
          <p:nvPr/>
        </p:nvSpPr>
        <p:spPr>
          <a:xfrm>
            <a:off x="6643939" y="1449245"/>
            <a:ext cx="15784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i="1" dirty="0">
                <a:solidFill>
                  <a:srgbClr val="C00000"/>
                </a:solidFill>
                <a:latin typeface="Cambria Math" panose="02040503050406030204" pitchFamily="18" charset="0"/>
                <a:ea typeface="Verdana" panose="020B0604030504040204" pitchFamily="34" charset="0"/>
              </a:rPr>
              <a:t>Query</a:t>
            </a:r>
            <a:endParaRPr lang="ru-RU" sz="3600" i="1" dirty="0">
              <a:solidFill>
                <a:srgbClr val="C00000"/>
              </a:solidFill>
              <a:latin typeface="Cambria Math" panose="02040503050406030204" pitchFamily="18" charset="0"/>
              <a:ea typeface="Verdana" panose="020B060403050404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5EB759-769F-46BF-B8EC-4E21410ECCB8}"/>
              </a:ext>
            </a:extLst>
          </p:cNvPr>
          <p:cNvSpPr txBox="1"/>
          <p:nvPr/>
        </p:nvSpPr>
        <p:spPr>
          <a:xfrm>
            <a:off x="246222" y="5229010"/>
            <a:ext cx="5237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Embedding </a:t>
            </a: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для</a:t>
            </a:r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2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токенов</a:t>
            </a:r>
            <a:endParaRPr lang="en-US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5EB759-769F-46BF-B8EC-4E21410ECCB8}"/>
              </a:ext>
            </a:extLst>
          </p:cNvPr>
          <p:cNvSpPr txBox="1"/>
          <p:nvPr/>
        </p:nvSpPr>
        <p:spPr>
          <a:xfrm>
            <a:off x="1415480" y="5949280"/>
            <a:ext cx="3312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Различные веса</a:t>
            </a:r>
            <a:endParaRPr lang="en-US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Прямоугольник 28"/>
              <p:cNvSpPr/>
              <p:nvPr/>
            </p:nvSpPr>
            <p:spPr>
              <a:xfrm>
                <a:off x="3791744" y="2492896"/>
                <a:ext cx="619079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600" i="1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ru-RU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9" name="Прямоугольник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1744" y="2492896"/>
                <a:ext cx="619079" cy="6463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Прямоугольник 29"/>
              <p:cNvSpPr/>
              <p:nvPr/>
            </p:nvSpPr>
            <p:spPr>
              <a:xfrm>
                <a:off x="3791744" y="3501008"/>
                <a:ext cx="619079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600" i="1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ru-RU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0" name="Прямоугольник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1744" y="3501008"/>
                <a:ext cx="619079" cy="6463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Прямоугольник 30"/>
              <p:cNvSpPr/>
              <p:nvPr/>
            </p:nvSpPr>
            <p:spPr>
              <a:xfrm>
                <a:off x="3863752" y="4653136"/>
                <a:ext cx="57131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600" i="1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ru-RU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1" name="Прямоугольник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3752" y="4653136"/>
                <a:ext cx="571314" cy="64633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Прямая со стрелкой 31"/>
          <p:cNvCxnSpPr/>
          <p:nvPr/>
        </p:nvCxnSpPr>
        <p:spPr>
          <a:xfrm>
            <a:off x="2855640" y="3861048"/>
            <a:ext cx="936104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Соединительная линия уступом 32"/>
          <p:cNvCxnSpPr/>
          <p:nvPr/>
        </p:nvCxnSpPr>
        <p:spPr>
          <a:xfrm>
            <a:off x="2855640" y="4077072"/>
            <a:ext cx="1152128" cy="936104"/>
          </a:xfrm>
          <a:prstGeom prst="bentConnector3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Соединительная линия уступом 33"/>
          <p:cNvCxnSpPr/>
          <p:nvPr/>
        </p:nvCxnSpPr>
        <p:spPr>
          <a:xfrm flipV="1">
            <a:off x="2855640" y="2996952"/>
            <a:ext cx="1008112" cy="612938"/>
          </a:xfrm>
          <a:prstGeom prst="bentConnector3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Прямоугольник 34">
                <a:extLst>
                  <a:ext uri="{FF2B5EF4-FFF2-40B4-BE49-F238E27FC236}">
                    <a16:creationId xmlns:a16="http://schemas.microsoft.com/office/drawing/2014/main" id="{382C94B9-18F2-45C4-BCF1-2A4C508D030A}"/>
                  </a:ext>
                </a:extLst>
              </p:cNvPr>
              <p:cNvSpPr/>
              <p:nvPr/>
            </p:nvSpPr>
            <p:spPr>
              <a:xfrm>
                <a:off x="5378633" y="3656558"/>
                <a:ext cx="157849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𝑊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sz="3600" i="1" dirty="0">
                    <a:solidFill>
                      <a:srgbClr val="00B050"/>
                    </a:solidFill>
                    <a:latin typeface="Cambria Math" panose="02040503050406030204" pitchFamily="18" charset="0"/>
                    <a:ea typeface="Verdana" panose="020B0604030504040204" pitchFamily="34" charset="0"/>
                  </a:rPr>
                  <a:t> </a:t>
                </a:r>
                <a:endParaRPr lang="ru-RU" sz="3600" i="1" dirty="0">
                  <a:solidFill>
                    <a:srgbClr val="00B050"/>
                  </a:solidFill>
                  <a:latin typeface="Cambria Math" panose="02040503050406030204" pitchFamily="18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5" name="Прямоугольник 34">
                <a:extLst>
                  <a:ext uri="{FF2B5EF4-FFF2-40B4-BE49-F238E27FC236}">
                    <a16:creationId xmlns:a16="http://schemas.microsoft.com/office/drawing/2014/main" id="{382C94B9-18F2-45C4-BCF1-2A4C508D03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8633" y="3656558"/>
                <a:ext cx="1578494" cy="64633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Прямоугольник 35">
                <a:extLst>
                  <a:ext uri="{FF2B5EF4-FFF2-40B4-BE49-F238E27FC236}">
                    <a16:creationId xmlns:a16="http://schemas.microsoft.com/office/drawing/2014/main" id="{5A153F88-CA81-4569-BE31-C5D92E254431}"/>
                  </a:ext>
                </a:extLst>
              </p:cNvPr>
              <p:cNvSpPr/>
              <p:nvPr/>
            </p:nvSpPr>
            <p:spPr>
              <a:xfrm>
                <a:off x="5483624" y="4627680"/>
                <a:ext cx="157849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en-US" sz="36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𝑊</m:t>
                          </m:r>
                        </m:e>
                        <m:sup>
                          <m:r>
                            <a:rPr lang="en-US" sz="36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ru-RU" sz="3600" i="1" dirty="0">
                  <a:solidFill>
                    <a:srgbClr val="0070C0"/>
                  </a:solidFill>
                  <a:latin typeface="Cambria Math" panose="02040503050406030204" pitchFamily="18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6" name="Прямоугольник 35">
                <a:extLst>
                  <a:ext uri="{FF2B5EF4-FFF2-40B4-BE49-F238E27FC236}">
                    <a16:creationId xmlns:a16="http://schemas.microsoft.com/office/drawing/2014/main" id="{5A153F88-CA81-4569-BE31-C5D92E2544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3624" y="4627680"/>
                <a:ext cx="1578494" cy="64633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Прямоугольник 36">
                <a:extLst>
                  <a:ext uri="{FF2B5EF4-FFF2-40B4-BE49-F238E27FC236}">
                    <a16:creationId xmlns:a16="http://schemas.microsoft.com/office/drawing/2014/main" id="{648AF7E2-B74B-4BC2-923D-83E8928F9161}"/>
                  </a:ext>
                </a:extLst>
              </p:cNvPr>
              <p:cNvSpPr/>
              <p:nvPr/>
            </p:nvSpPr>
            <p:spPr>
              <a:xfrm>
                <a:off x="5507085" y="2491070"/>
                <a:ext cx="157849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𝑊</m:t>
                          </m:r>
                        </m:e>
                        <m:sup>
                          <m:r>
                            <a:rPr lang="en-US" sz="3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ru-RU" sz="3600" i="1" dirty="0">
                  <a:solidFill>
                    <a:srgbClr val="C00000"/>
                  </a:solidFill>
                  <a:latin typeface="Cambria Math" panose="02040503050406030204" pitchFamily="18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7" name="Прямоугольник 36">
                <a:extLst>
                  <a:ext uri="{FF2B5EF4-FFF2-40B4-BE49-F238E27FC236}">
                    <a16:creationId xmlns:a16="http://schemas.microsoft.com/office/drawing/2014/main" id="{648AF7E2-B74B-4BC2-923D-83E8928F91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7085" y="2491070"/>
                <a:ext cx="1578494" cy="64633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Рисунок 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61970" y="2740539"/>
            <a:ext cx="1027380" cy="2374256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31504" y="1628800"/>
            <a:ext cx="1040548" cy="358145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89051" y="2208063"/>
            <a:ext cx="1348520" cy="101533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289051" y="3288551"/>
            <a:ext cx="1375174" cy="1035404"/>
          </a:xfrm>
          <a:prstGeom prst="rect">
            <a:avLst/>
          </a:prstGeom>
        </p:spPr>
      </p:pic>
      <p:pic>
        <p:nvPicPr>
          <p:cNvPr id="43" name="Рисунок 4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289051" y="4389108"/>
            <a:ext cx="1352934" cy="1018658"/>
          </a:xfrm>
          <a:prstGeom prst="rect">
            <a:avLst/>
          </a:prstGeom>
        </p:spPr>
      </p:pic>
      <p:pic>
        <p:nvPicPr>
          <p:cNvPr id="44" name="Рисунок 43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750748" y="2123908"/>
            <a:ext cx="1582538" cy="2754200"/>
          </a:xfrm>
          <a:prstGeom prst="rect">
            <a:avLst/>
          </a:prstGeom>
        </p:spPr>
      </p:pic>
      <p:pic>
        <p:nvPicPr>
          <p:cNvPr id="45" name="Рисунок 4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560023" y="2715730"/>
            <a:ext cx="1582538" cy="2754200"/>
          </a:xfrm>
          <a:prstGeom prst="rect">
            <a:avLst/>
          </a:prstGeom>
        </p:spPr>
      </p:pic>
      <p:pic>
        <p:nvPicPr>
          <p:cNvPr id="46" name="Рисунок 45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327432" y="3495373"/>
            <a:ext cx="1582538" cy="2754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65EB759-769F-46BF-B8EC-4E21410ECCB8}"/>
                  </a:ext>
                </a:extLst>
              </p:cNvPr>
              <p:cNvSpPr txBox="1"/>
              <p:nvPr/>
            </p:nvSpPr>
            <p:spPr>
              <a:xfrm>
                <a:off x="623392" y="2492896"/>
                <a:ext cx="968759" cy="2708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&lt;</m:t>
                          </m:r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𝑡</m:t>
                          </m:r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&gt;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&lt;</m:t>
                          </m:r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𝑡</m:t>
                          </m:r>
                          <m:r>
                            <a:rPr lang="en-US" sz="20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+1</m:t>
                          </m:r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&gt;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&lt;</m:t>
                          </m:r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𝑡</m:t>
                          </m:r>
                          <m:r>
                            <a:rPr lang="en-US" sz="20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+2</m:t>
                          </m:r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&gt;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&lt;</m:t>
                          </m:r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𝑡</m:t>
                          </m:r>
                          <m:r>
                            <a:rPr lang="en-US" sz="20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+3</m:t>
                          </m:r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&gt;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&lt;</m:t>
                          </m:r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𝑡</m:t>
                          </m:r>
                          <m:r>
                            <a:rPr lang="en-US" sz="20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+4</m:t>
                          </m:r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&gt;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solidFill>
                    <a:srgbClr val="7030A0"/>
                  </a:solidFill>
                  <a:latin typeface="Cambria Math" panose="02040503050406030204" pitchFamily="18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&lt;</m:t>
                          </m:r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𝑡</m:t>
                          </m:r>
                          <m:r>
                            <a:rPr lang="en-US" sz="20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+5</m:t>
                          </m:r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&gt;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&lt;</m:t>
                        </m:r>
                        <m:r>
                          <a:rPr lang="en-US" sz="20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𝑡</m:t>
                        </m:r>
                        <m:r>
                          <a:rPr lang="en-US" sz="20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+6</m:t>
                        </m:r>
                        <m:r>
                          <a:rPr lang="en-US" sz="20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&gt;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  </a:t>
                </a: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65EB759-769F-46BF-B8EC-4E21410EC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92" y="2492896"/>
                <a:ext cx="968759" cy="2708434"/>
              </a:xfrm>
              <a:prstGeom prst="rect">
                <a:avLst/>
              </a:prstGeom>
              <a:blipFill>
                <a:blip r:embed="rId23"/>
                <a:stretch>
                  <a:fillRect b="-2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4871864" y="5949280"/>
            <a:ext cx="345729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размерность </a:t>
            </a:r>
            <a:r>
              <a:rPr lang="ru-RU" dirty="0" err="1">
                <a:solidFill>
                  <a:schemeClr val="bg1"/>
                </a:solidFill>
              </a:rPr>
              <a:t>эмбединга</a:t>
            </a:r>
            <a:r>
              <a:rPr lang="ru-RU" dirty="0">
                <a:solidFill>
                  <a:schemeClr val="bg1"/>
                </a:solidFill>
              </a:rPr>
              <a:t> словаря</a:t>
            </a:r>
            <a:r>
              <a:rPr lang="en-US" dirty="0">
                <a:solidFill>
                  <a:schemeClr val="bg1"/>
                </a:solidFill>
              </a:rPr>
              <a:t> 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x </a:t>
            </a:r>
            <a:r>
              <a:rPr lang="ru-RU" dirty="0">
                <a:solidFill>
                  <a:schemeClr val="bg1"/>
                </a:solidFill>
              </a:rPr>
              <a:t>размерность нового </a:t>
            </a:r>
            <a:r>
              <a:rPr lang="ru-RU" dirty="0" err="1">
                <a:solidFill>
                  <a:schemeClr val="bg1"/>
                </a:solidFill>
              </a:rPr>
              <a:t>эмбединга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65EB759-769F-46BF-B8EC-4E21410ECCB8}"/>
              </a:ext>
            </a:extLst>
          </p:cNvPr>
          <p:cNvSpPr txBox="1"/>
          <p:nvPr/>
        </p:nvSpPr>
        <p:spPr>
          <a:xfrm>
            <a:off x="7687110" y="819469"/>
            <a:ext cx="46710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Новые «обучаемые» </a:t>
            </a:r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Embedding </a:t>
            </a: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для</a:t>
            </a:r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2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токенов</a:t>
            </a:r>
            <a:endParaRPr lang="en-US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9428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3" grpId="0"/>
      <p:bldP spid="24" grpId="0"/>
      <p:bldP spid="25" grpId="0"/>
      <p:bldP spid="27" grpId="0"/>
      <p:bldP spid="28" grpId="0"/>
      <p:bldP spid="29" grpId="0"/>
      <p:bldP spid="30" grpId="0"/>
      <p:bldP spid="31" grpId="0"/>
      <p:bldP spid="35" grpId="0"/>
      <p:bldP spid="36" grpId="0"/>
      <p:bldP spid="37" grpId="0"/>
      <p:bldP spid="5" grpId="0"/>
      <p:bldP spid="4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2613" y="6470257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20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7764408E-352B-4B0E-BCC8-209C94E73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62A2F57-A606-4725-8A9E-4DE2F5F79FE3}"/>
              </a:ext>
            </a:extLst>
          </p:cNvPr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9A235C2-7C91-48CC-A91F-FD8BAE6B5F80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2135560" y="0"/>
            <a:ext cx="7920880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А что там в </a:t>
            </a:r>
            <a:r>
              <a:rPr lang="ru-RU" sz="3200" b="1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транссформерах</a:t>
            </a:r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4855BF48-2887-4862-9EF2-7FBA0ACEC953}"/>
              </a:ext>
            </a:extLst>
          </p:cNvPr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65EB759-769F-46BF-B8EC-4E21410ECCB8}"/>
                  </a:ext>
                </a:extLst>
              </p:cNvPr>
              <p:cNvSpPr txBox="1"/>
              <p:nvPr/>
            </p:nvSpPr>
            <p:spPr>
              <a:xfrm>
                <a:off x="376902" y="1133692"/>
                <a:ext cx="806489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Embedding </a:t>
                </a:r>
                <a:r>
                  <a:rPr lang="ru-RU" sz="28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для</a:t>
                </a:r>
                <a:r>
                  <a:rPr lang="en-US" sz="28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ru-RU" sz="2800" dirty="0" smtClean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признака</a:t>
                </a:r>
                <a:r>
                  <a:rPr lang="ru-RU" sz="2800" dirty="0" smtClean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8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&lt;</m:t>
                        </m:r>
                        <m:r>
                          <a:rPr lang="en-US" sz="28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𝑡</m:t>
                        </m:r>
                        <m:r>
                          <a:rPr lang="en-US" sz="28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&gt;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  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65EB759-769F-46BF-B8EC-4E21410EC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902" y="1133692"/>
                <a:ext cx="8064896" cy="523220"/>
              </a:xfrm>
              <a:prstGeom prst="rect">
                <a:avLst/>
              </a:prstGeom>
              <a:blipFill>
                <a:blip r:embed="rId4"/>
                <a:stretch>
                  <a:fillRect l="-1587" t="-13953" b="-302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14C57063-704A-4050-8DD2-8FE0BADA7389}"/>
              </a:ext>
            </a:extLst>
          </p:cNvPr>
          <p:cNvSpPr/>
          <p:nvPr/>
        </p:nvSpPr>
        <p:spPr>
          <a:xfrm>
            <a:off x="8444139" y="2097317"/>
            <a:ext cx="15784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i="1" dirty="0">
                <a:solidFill>
                  <a:srgbClr val="00B050"/>
                </a:solidFill>
                <a:latin typeface="Cambria Math" panose="02040503050406030204" pitchFamily="18" charset="0"/>
                <a:ea typeface="Verdana" panose="020B0604030504040204" pitchFamily="34" charset="0"/>
              </a:rPr>
              <a:t>Key</a:t>
            </a:r>
            <a:endParaRPr lang="ru-RU" sz="3600" i="1" dirty="0">
              <a:solidFill>
                <a:srgbClr val="00B050"/>
              </a:solidFill>
              <a:latin typeface="Cambria Math" panose="02040503050406030204" pitchFamily="18" charset="0"/>
              <a:ea typeface="Verdana" panose="020B0604030504040204" pitchFamily="34" charset="0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595242C2-19DC-4FFF-81F0-17096CCA33EA}"/>
              </a:ext>
            </a:extLst>
          </p:cNvPr>
          <p:cNvSpPr/>
          <p:nvPr/>
        </p:nvSpPr>
        <p:spPr>
          <a:xfrm>
            <a:off x="10327432" y="2797423"/>
            <a:ext cx="15784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i="1" dirty="0">
                <a:solidFill>
                  <a:srgbClr val="0070C0"/>
                </a:solidFill>
                <a:latin typeface="Cambria Math" panose="02040503050406030204" pitchFamily="18" charset="0"/>
                <a:ea typeface="Verdana" panose="020B0604030504040204" pitchFamily="34" charset="0"/>
              </a:rPr>
              <a:t>Value</a:t>
            </a:r>
            <a:endParaRPr lang="ru-RU" sz="3600" i="1" dirty="0">
              <a:solidFill>
                <a:srgbClr val="0070C0"/>
              </a:solidFill>
              <a:latin typeface="Cambria Math" panose="02040503050406030204" pitchFamily="18" charset="0"/>
              <a:ea typeface="Verdana" panose="020B0604030504040204" pitchFamily="34" charset="0"/>
            </a:endParaRP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2030FDD3-B156-4BE1-9D02-D1B7D069FE67}"/>
              </a:ext>
            </a:extLst>
          </p:cNvPr>
          <p:cNvSpPr/>
          <p:nvPr/>
        </p:nvSpPr>
        <p:spPr>
          <a:xfrm>
            <a:off x="6643939" y="1449245"/>
            <a:ext cx="15784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i="1" dirty="0">
                <a:solidFill>
                  <a:srgbClr val="C00000"/>
                </a:solidFill>
                <a:latin typeface="Cambria Math" panose="02040503050406030204" pitchFamily="18" charset="0"/>
                <a:ea typeface="Verdana" panose="020B0604030504040204" pitchFamily="34" charset="0"/>
              </a:rPr>
              <a:t>Query</a:t>
            </a:r>
            <a:endParaRPr lang="ru-RU" sz="3600" i="1" dirty="0">
              <a:solidFill>
                <a:srgbClr val="C00000"/>
              </a:solidFill>
              <a:latin typeface="Cambria Math" panose="02040503050406030204" pitchFamily="18" charset="0"/>
              <a:ea typeface="Verdana" panose="020B060403050404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5EB759-769F-46BF-B8EC-4E21410ECCB8}"/>
              </a:ext>
            </a:extLst>
          </p:cNvPr>
          <p:cNvSpPr txBox="1"/>
          <p:nvPr/>
        </p:nvSpPr>
        <p:spPr>
          <a:xfrm>
            <a:off x="246222" y="5229010"/>
            <a:ext cx="5237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Embedding </a:t>
            </a: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для</a:t>
            </a:r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2800" dirty="0" smtClean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признаков</a:t>
            </a:r>
            <a:endParaRPr lang="en-US" sz="2800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5EB759-769F-46BF-B8EC-4E21410ECCB8}"/>
              </a:ext>
            </a:extLst>
          </p:cNvPr>
          <p:cNvSpPr txBox="1"/>
          <p:nvPr/>
        </p:nvSpPr>
        <p:spPr>
          <a:xfrm>
            <a:off x="1415480" y="5949280"/>
            <a:ext cx="3312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Различные веса</a:t>
            </a:r>
            <a:endParaRPr lang="en-US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Прямоугольник 28"/>
              <p:cNvSpPr/>
              <p:nvPr/>
            </p:nvSpPr>
            <p:spPr>
              <a:xfrm>
                <a:off x="3791744" y="2492896"/>
                <a:ext cx="619079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600" i="1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ru-RU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9" name="Прямоугольник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1744" y="2492896"/>
                <a:ext cx="619079" cy="6463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Прямоугольник 29"/>
              <p:cNvSpPr/>
              <p:nvPr/>
            </p:nvSpPr>
            <p:spPr>
              <a:xfrm>
                <a:off x="3791744" y="3501008"/>
                <a:ext cx="619079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600" i="1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ru-RU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0" name="Прямоугольник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1744" y="3501008"/>
                <a:ext cx="619079" cy="6463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Прямоугольник 30"/>
              <p:cNvSpPr/>
              <p:nvPr/>
            </p:nvSpPr>
            <p:spPr>
              <a:xfrm>
                <a:off x="3863752" y="4653136"/>
                <a:ext cx="57131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600" i="1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ru-RU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1" name="Прямоугольник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3752" y="4653136"/>
                <a:ext cx="571314" cy="64633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Прямая со стрелкой 31"/>
          <p:cNvCxnSpPr/>
          <p:nvPr/>
        </p:nvCxnSpPr>
        <p:spPr>
          <a:xfrm>
            <a:off x="2855640" y="3861048"/>
            <a:ext cx="936104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Соединительная линия уступом 32"/>
          <p:cNvCxnSpPr/>
          <p:nvPr/>
        </p:nvCxnSpPr>
        <p:spPr>
          <a:xfrm>
            <a:off x="2855640" y="4077072"/>
            <a:ext cx="1152128" cy="936104"/>
          </a:xfrm>
          <a:prstGeom prst="bentConnector3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Соединительная линия уступом 33"/>
          <p:cNvCxnSpPr/>
          <p:nvPr/>
        </p:nvCxnSpPr>
        <p:spPr>
          <a:xfrm flipV="1">
            <a:off x="2855640" y="2996952"/>
            <a:ext cx="1008112" cy="612938"/>
          </a:xfrm>
          <a:prstGeom prst="bentConnector3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Прямоугольник 34">
                <a:extLst>
                  <a:ext uri="{FF2B5EF4-FFF2-40B4-BE49-F238E27FC236}">
                    <a16:creationId xmlns:a16="http://schemas.microsoft.com/office/drawing/2014/main" id="{382C94B9-18F2-45C4-BCF1-2A4C508D030A}"/>
                  </a:ext>
                </a:extLst>
              </p:cNvPr>
              <p:cNvSpPr/>
              <p:nvPr/>
            </p:nvSpPr>
            <p:spPr>
              <a:xfrm>
                <a:off x="5378633" y="3656558"/>
                <a:ext cx="157849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𝑊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sz="3600" i="1" dirty="0">
                    <a:solidFill>
                      <a:srgbClr val="00B050"/>
                    </a:solidFill>
                    <a:latin typeface="Cambria Math" panose="02040503050406030204" pitchFamily="18" charset="0"/>
                    <a:ea typeface="Verdana" panose="020B0604030504040204" pitchFamily="34" charset="0"/>
                  </a:rPr>
                  <a:t> </a:t>
                </a:r>
                <a:endParaRPr lang="ru-RU" sz="3600" i="1" dirty="0">
                  <a:solidFill>
                    <a:srgbClr val="00B050"/>
                  </a:solidFill>
                  <a:latin typeface="Cambria Math" panose="02040503050406030204" pitchFamily="18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5" name="Прямоугольник 34">
                <a:extLst>
                  <a:ext uri="{FF2B5EF4-FFF2-40B4-BE49-F238E27FC236}">
                    <a16:creationId xmlns:a16="http://schemas.microsoft.com/office/drawing/2014/main" id="{382C94B9-18F2-45C4-BCF1-2A4C508D03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8633" y="3656558"/>
                <a:ext cx="1578494" cy="64633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Прямоугольник 35">
                <a:extLst>
                  <a:ext uri="{FF2B5EF4-FFF2-40B4-BE49-F238E27FC236}">
                    <a16:creationId xmlns:a16="http://schemas.microsoft.com/office/drawing/2014/main" id="{5A153F88-CA81-4569-BE31-C5D92E254431}"/>
                  </a:ext>
                </a:extLst>
              </p:cNvPr>
              <p:cNvSpPr/>
              <p:nvPr/>
            </p:nvSpPr>
            <p:spPr>
              <a:xfrm>
                <a:off x="5483624" y="4627680"/>
                <a:ext cx="157849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en-US" sz="36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𝑊</m:t>
                          </m:r>
                        </m:e>
                        <m:sup>
                          <m:r>
                            <a:rPr lang="en-US" sz="36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ru-RU" sz="3600" i="1" dirty="0">
                  <a:solidFill>
                    <a:srgbClr val="0070C0"/>
                  </a:solidFill>
                  <a:latin typeface="Cambria Math" panose="02040503050406030204" pitchFamily="18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6" name="Прямоугольник 35">
                <a:extLst>
                  <a:ext uri="{FF2B5EF4-FFF2-40B4-BE49-F238E27FC236}">
                    <a16:creationId xmlns:a16="http://schemas.microsoft.com/office/drawing/2014/main" id="{5A153F88-CA81-4569-BE31-C5D92E2544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3624" y="4627680"/>
                <a:ext cx="1578494" cy="64633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Прямоугольник 36">
                <a:extLst>
                  <a:ext uri="{FF2B5EF4-FFF2-40B4-BE49-F238E27FC236}">
                    <a16:creationId xmlns:a16="http://schemas.microsoft.com/office/drawing/2014/main" id="{648AF7E2-B74B-4BC2-923D-83E8928F9161}"/>
                  </a:ext>
                </a:extLst>
              </p:cNvPr>
              <p:cNvSpPr/>
              <p:nvPr/>
            </p:nvSpPr>
            <p:spPr>
              <a:xfrm>
                <a:off x="5507085" y="2491070"/>
                <a:ext cx="157849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𝑊</m:t>
                          </m:r>
                        </m:e>
                        <m:sup>
                          <m:r>
                            <a:rPr lang="en-US" sz="3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lang="ru-RU" sz="3600" i="1" dirty="0">
                  <a:solidFill>
                    <a:srgbClr val="C00000"/>
                  </a:solidFill>
                  <a:latin typeface="Cambria Math" panose="02040503050406030204" pitchFamily="18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7" name="Прямоугольник 36">
                <a:extLst>
                  <a:ext uri="{FF2B5EF4-FFF2-40B4-BE49-F238E27FC236}">
                    <a16:creationId xmlns:a16="http://schemas.microsoft.com/office/drawing/2014/main" id="{648AF7E2-B74B-4BC2-923D-83E8928F91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7085" y="2491070"/>
                <a:ext cx="1578494" cy="64633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Рисунок 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61970" y="2740539"/>
            <a:ext cx="1027380" cy="2374256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31504" y="1628800"/>
            <a:ext cx="1040548" cy="358145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89051" y="2208063"/>
            <a:ext cx="1348520" cy="101533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289051" y="3288551"/>
            <a:ext cx="1375174" cy="1035404"/>
          </a:xfrm>
          <a:prstGeom prst="rect">
            <a:avLst/>
          </a:prstGeom>
        </p:spPr>
      </p:pic>
      <p:pic>
        <p:nvPicPr>
          <p:cNvPr id="43" name="Рисунок 4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289051" y="4389108"/>
            <a:ext cx="1352934" cy="1018658"/>
          </a:xfrm>
          <a:prstGeom prst="rect">
            <a:avLst/>
          </a:prstGeom>
        </p:spPr>
      </p:pic>
      <p:pic>
        <p:nvPicPr>
          <p:cNvPr id="44" name="Рисунок 43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750748" y="2123908"/>
            <a:ext cx="1582538" cy="2754200"/>
          </a:xfrm>
          <a:prstGeom prst="rect">
            <a:avLst/>
          </a:prstGeom>
        </p:spPr>
      </p:pic>
      <p:pic>
        <p:nvPicPr>
          <p:cNvPr id="45" name="Рисунок 4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560023" y="2715730"/>
            <a:ext cx="1582538" cy="2754200"/>
          </a:xfrm>
          <a:prstGeom prst="rect">
            <a:avLst/>
          </a:prstGeom>
        </p:spPr>
      </p:pic>
      <p:pic>
        <p:nvPicPr>
          <p:cNvPr id="46" name="Рисунок 45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327432" y="3495373"/>
            <a:ext cx="1582538" cy="2754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65EB759-769F-46BF-B8EC-4E21410ECCB8}"/>
                  </a:ext>
                </a:extLst>
              </p:cNvPr>
              <p:cNvSpPr txBox="1"/>
              <p:nvPr/>
            </p:nvSpPr>
            <p:spPr>
              <a:xfrm>
                <a:off x="623392" y="2492896"/>
                <a:ext cx="968759" cy="2708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&lt;</m:t>
                          </m:r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𝑡</m:t>
                          </m:r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&gt;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&lt;</m:t>
                          </m:r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𝑡</m:t>
                          </m:r>
                          <m:r>
                            <a:rPr lang="en-US" sz="20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+1</m:t>
                          </m:r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&gt;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&lt;</m:t>
                          </m:r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𝑡</m:t>
                          </m:r>
                          <m:r>
                            <a:rPr lang="en-US" sz="20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+2</m:t>
                          </m:r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&gt;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&lt;</m:t>
                          </m:r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𝑡</m:t>
                          </m:r>
                          <m:r>
                            <a:rPr lang="en-US" sz="20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+3</m:t>
                          </m:r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&gt;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&lt;</m:t>
                          </m:r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𝑡</m:t>
                          </m:r>
                          <m:r>
                            <a:rPr lang="en-US" sz="20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+4</m:t>
                          </m:r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&gt;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solidFill>
                    <a:srgbClr val="7030A0"/>
                  </a:solidFill>
                  <a:latin typeface="Cambria Math" panose="02040503050406030204" pitchFamily="18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&lt;</m:t>
                          </m:r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𝑡</m:t>
                          </m:r>
                          <m:r>
                            <a:rPr lang="en-US" sz="20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+5</m:t>
                          </m:r>
                          <m: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&gt;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&lt;</m:t>
                        </m:r>
                        <m:r>
                          <a:rPr lang="en-US" sz="20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𝑡</m:t>
                        </m:r>
                        <m:r>
                          <a:rPr lang="en-US" sz="20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+6</m:t>
                        </m:r>
                        <m:r>
                          <a:rPr lang="en-US" sz="20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&gt;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  </a:t>
                </a: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65EB759-769F-46BF-B8EC-4E21410EC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92" y="2492896"/>
                <a:ext cx="968759" cy="2708434"/>
              </a:xfrm>
              <a:prstGeom prst="rect">
                <a:avLst/>
              </a:prstGeom>
              <a:blipFill>
                <a:blip r:embed="rId23"/>
                <a:stretch>
                  <a:fillRect b="-2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4871864" y="5949280"/>
            <a:ext cx="36988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размерность </a:t>
            </a:r>
            <a:r>
              <a:rPr lang="ru-RU" dirty="0" smtClean="0">
                <a:solidFill>
                  <a:srgbClr val="FF0000"/>
                </a:solidFill>
              </a:rPr>
              <a:t>количество признаков</a:t>
            </a:r>
            <a:endParaRPr lang="ru-RU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x </a:t>
            </a:r>
            <a:r>
              <a:rPr lang="ru-RU" dirty="0">
                <a:solidFill>
                  <a:schemeClr val="bg1"/>
                </a:solidFill>
              </a:rPr>
              <a:t>размерность нового </a:t>
            </a:r>
            <a:r>
              <a:rPr lang="ru-RU" dirty="0" err="1">
                <a:solidFill>
                  <a:schemeClr val="bg1"/>
                </a:solidFill>
              </a:rPr>
              <a:t>эмбединга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65EB759-769F-46BF-B8EC-4E21410ECCB8}"/>
              </a:ext>
            </a:extLst>
          </p:cNvPr>
          <p:cNvSpPr txBox="1"/>
          <p:nvPr/>
        </p:nvSpPr>
        <p:spPr>
          <a:xfrm>
            <a:off x="6750748" y="819469"/>
            <a:ext cx="56074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Новые «обучаемые» </a:t>
            </a:r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Embedding </a:t>
            </a: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для</a:t>
            </a:r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2800" dirty="0" smtClean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признаков</a:t>
            </a:r>
            <a:endParaRPr lang="en-US" sz="2800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667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21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2711624" y="176904"/>
            <a:ext cx="7612778" cy="48491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ru-RU" sz="3200" b="1" spc="-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Категориальные признаки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AE2F3ED0-93D0-4CC0-A297-6D97C0D4D5A9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4B761638-2E1C-4CEC-8E52-999AF717E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536" y="873070"/>
            <a:ext cx="7920880" cy="827739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ru-RU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Не </a:t>
            </a:r>
            <a:r>
              <a:rPr lang="en-US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One-Hot Encoding </a:t>
            </a:r>
            <a:r>
              <a:rPr lang="ru-RU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единым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41DD36-84EB-4DCF-8B65-0B50CCAD0D03}"/>
              </a:ext>
            </a:extLst>
          </p:cNvPr>
          <p:cNvSpPr txBox="1"/>
          <p:nvPr/>
        </p:nvSpPr>
        <p:spPr>
          <a:xfrm>
            <a:off x="814567" y="5914889"/>
            <a:ext cx="108108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https://towardsdatascience.com/beyond-one-hot-17-ways-of-transforming-categorical-features-into-numeric-features-57f54f199ea4</a:t>
            </a:r>
            <a:endParaRPr lang="ru-RU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E2C2991-8D7C-47FF-B64B-69281ECC36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1504" y="1628800"/>
            <a:ext cx="8784976" cy="4226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507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35560" y="19177"/>
            <a:ext cx="7920880" cy="827739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Слой </a:t>
            </a:r>
            <a:r>
              <a:rPr lang="en-US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Embedding</a:t>
            </a:r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(Вложения)</a:t>
            </a:r>
          </a:p>
        </p:txBody>
      </p:sp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461575" y="6475125"/>
            <a:ext cx="730425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/>
              <a:t>22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FA4B6046-830F-4561-A951-D2BD5821A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F4501FB7-026F-48A5-8EA6-43CD2469107D}"/>
              </a:ext>
            </a:extLst>
          </p:cNvPr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F537AF6-99A8-4318-B87B-1271A83892B4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F4D90F3-D7D7-451B-9228-91374A1B2C9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l="44954" t="21033" r="25515" b="23769"/>
          <a:stretch/>
        </p:blipFill>
        <p:spPr>
          <a:xfrm>
            <a:off x="360096" y="2498175"/>
            <a:ext cx="3577962" cy="3182872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EDAFE4B-D5E4-4E40-A3B0-9993D400C3F2}"/>
              </a:ext>
            </a:extLst>
          </p:cNvPr>
          <p:cNvSpPr/>
          <p:nvPr/>
        </p:nvSpPr>
        <p:spPr>
          <a:xfrm rot="16200000">
            <a:off x="-275645" y="3603418"/>
            <a:ext cx="3744668" cy="8735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04BD374-0F8C-4211-B5B6-5C39AC07AC04}"/>
                  </a:ext>
                </a:extLst>
              </p:cNvPr>
              <p:cNvSpPr txBox="1"/>
              <p:nvPr/>
            </p:nvSpPr>
            <p:spPr>
              <a:xfrm>
                <a:off x="9025133" y="3136335"/>
                <a:ext cx="781944" cy="15874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ru-RU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15</m:t>
                                    </m:r>
                                  </m:e>
                                  <m:e>
                                    <m:r>
                                      <a:rPr lang="ru-RU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04BD374-0F8C-4211-B5B6-5C39AC07A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5133" y="3136335"/>
                <a:ext cx="781944" cy="158742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34F53A8-A5A5-45C1-BD95-3ED6F65A3A1F}"/>
                  </a:ext>
                </a:extLst>
              </p:cNvPr>
              <p:cNvSpPr txBox="1"/>
              <p:nvPr/>
            </p:nvSpPr>
            <p:spPr>
              <a:xfrm>
                <a:off x="9807077" y="4793191"/>
                <a:ext cx="772456" cy="13762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ru-RU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2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ru-RU" sz="28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42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ru-RU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34F53A8-A5A5-45C1-BD95-3ED6F65A3A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7077" y="4793191"/>
                <a:ext cx="772456" cy="137621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B5AC8AB-DBDE-4D28-90C1-745DEAEDC6D9}"/>
                  </a:ext>
                </a:extLst>
              </p:cNvPr>
              <p:cNvSpPr txBox="1"/>
              <p:nvPr/>
            </p:nvSpPr>
            <p:spPr>
              <a:xfrm>
                <a:off x="7434691" y="2400159"/>
                <a:ext cx="1169999" cy="13790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ru-RU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2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ru-RU" sz="28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69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420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1337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ru-RU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B5AC8AB-DBDE-4D28-90C1-745DEAEDC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4691" y="2400159"/>
                <a:ext cx="1169999" cy="13790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B5159610-6689-40E2-98AB-5679FD69EF90}"/>
              </a:ext>
            </a:extLst>
          </p:cNvPr>
          <p:cNvSpPr txBox="1"/>
          <p:nvPr/>
        </p:nvSpPr>
        <p:spPr>
          <a:xfrm>
            <a:off x="2855640" y="1266345"/>
            <a:ext cx="79208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Превращает положительные целые числа (индексы) в плотные векторы фиксированного размера.</a:t>
            </a:r>
          </a:p>
        </p:txBody>
      </p:sp>
      <p:cxnSp>
        <p:nvCxnSpPr>
          <p:cNvPr id="5" name="Прямая со стрелкой 4"/>
          <p:cNvCxnSpPr>
            <a:endCxn id="22" idx="1"/>
          </p:cNvCxnSpPr>
          <p:nvPr/>
        </p:nvCxnSpPr>
        <p:spPr>
          <a:xfrm flipV="1">
            <a:off x="6599188" y="3089675"/>
            <a:ext cx="835503" cy="625846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>
            <a:endCxn id="20" idx="1"/>
          </p:cNvCxnSpPr>
          <p:nvPr/>
        </p:nvCxnSpPr>
        <p:spPr>
          <a:xfrm flipV="1">
            <a:off x="6599188" y="3930046"/>
            <a:ext cx="2425945" cy="448209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/>
          <p:cNvCxnSpPr>
            <a:endCxn id="21" idx="1"/>
          </p:cNvCxnSpPr>
          <p:nvPr/>
        </p:nvCxnSpPr>
        <p:spPr>
          <a:xfrm>
            <a:off x="6599188" y="4938283"/>
            <a:ext cx="3207889" cy="543014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Таблица 3"/>
          <p:cNvGraphicFramePr>
            <a:graphicFrameLocks noGrp="1"/>
          </p:cNvGraphicFramePr>
          <p:nvPr>
            <p:extLst/>
          </p:nvPr>
        </p:nvGraphicFramePr>
        <p:xfrm>
          <a:off x="3719736" y="2314187"/>
          <a:ext cx="2736634" cy="4128135"/>
        </p:xfrm>
        <a:graphic>
          <a:graphicData uri="http://schemas.openxmlformats.org/drawingml/2006/table">
            <a:tbl>
              <a:tblPr firstRow="1" firstCol="1">
                <a:tableStyleId>{073A0DAA-6AF3-43AB-8588-CEC1D06C72B9}</a:tableStyleId>
              </a:tblPr>
              <a:tblGrid>
                <a:gridCol w="849122">
                  <a:extLst>
                    <a:ext uri="{9D8B030D-6E8A-4147-A177-3AD203B41FA5}">
                      <a16:colId xmlns:a16="http://schemas.microsoft.com/office/drawing/2014/main" val="3728359578"/>
                    </a:ext>
                  </a:extLst>
                </a:gridCol>
                <a:gridCol w="1887512">
                  <a:extLst>
                    <a:ext uri="{9D8B030D-6E8A-4147-A177-3AD203B41FA5}">
                      <a16:colId xmlns:a16="http://schemas.microsoft.com/office/drawing/2014/main" val="14473470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i="0" u="none" strike="noStrike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</a:rPr>
                        <a:t>token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400" u="none" strike="noStrike">
                          <a:effectLst/>
                        </a:rPr>
                        <a:t>Слово</a:t>
                      </a:r>
                      <a:endParaRPr lang="ru-RU" sz="2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54150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>
                          <a:effectLst/>
                        </a:rPr>
                        <a:t>0</a:t>
                      </a:r>
                      <a:endParaRPr lang="ru-RU" sz="2400" b="0" i="0" u="none" strike="noStrike"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I </a:t>
                      </a:r>
                      <a:endParaRPr lang="en-US" sz="24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3504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>
                          <a:effectLst/>
                        </a:rPr>
                        <a:t>1</a:t>
                      </a:r>
                      <a:endParaRPr lang="ru-RU" sz="2400" b="0" i="0" u="none" strike="noStrike"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am</a:t>
                      </a:r>
                      <a:endParaRPr lang="en-US" sz="24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1303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>
                          <a:effectLst/>
                        </a:rPr>
                        <a:t>2</a:t>
                      </a:r>
                      <a:endParaRPr lang="ru-RU" sz="2400" b="0" i="0" u="none" strike="noStrike"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>
                          <a:solidFill>
                            <a:schemeClr val="bg1"/>
                          </a:solidFill>
                          <a:effectLst/>
                        </a:rPr>
                        <a:t>happy</a:t>
                      </a:r>
                      <a:endParaRPr lang="en-US" sz="2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122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>
                          <a:effectLst/>
                        </a:rPr>
                        <a:t>3</a:t>
                      </a:r>
                      <a:endParaRPr lang="ru-RU" sz="2400" b="0" i="0" u="none" strike="noStrike"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>
                          <a:solidFill>
                            <a:schemeClr val="bg1"/>
                          </a:solidFill>
                          <a:effectLst/>
                        </a:rPr>
                        <a:t>study</a:t>
                      </a:r>
                      <a:endParaRPr lang="en-US" sz="2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4170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>
                          <a:effectLst/>
                        </a:rPr>
                        <a:t>4</a:t>
                      </a:r>
                      <a:endParaRPr lang="ru-RU" sz="2400" b="0" i="0" u="none" strike="noStrike"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machine </a:t>
                      </a:r>
                      <a:endParaRPr lang="en-US" sz="24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3986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>
                          <a:effectLst/>
                        </a:rPr>
                        <a:t>5</a:t>
                      </a:r>
                      <a:endParaRPr lang="ru-RU" sz="2400" b="0" i="0" u="none" strike="noStrike"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learning</a:t>
                      </a:r>
                      <a:endParaRPr lang="en-US" sz="24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9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>
                          <a:effectLst/>
                        </a:rPr>
                        <a:t>6</a:t>
                      </a:r>
                      <a:endParaRPr lang="ru-RU" sz="2400" b="0" i="0" u="none" strike="noStrike"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>
                          <a:solidFill>
                            <a:schemeClr val="bg1"/>
                          </a:solidFill>
                          <a:effectLst/>
                        </a:rPr>
                        <a:t>sad</a:t>
                      </a:r>
                      <a:endParaRPr lang="en-US" sz="2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17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>
                          <a:effectLst/>
                        </a:rPr>
                        <a:t>7</a:t>
                      </a:r>
                      <a:endParaRPr lang="ru-RU" sz="2400" b="0" i="0" u="none" strike="noStrike"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hate </a:t>
                      </a:r>
                      <a:endParaRPr lang="en-US" sz="24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991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>
                          <a:effectLst/>
                        </a:rPr>
                        <a:t>8</a:t>
                      </a:r>
                      <a:endParaRPr lang="ru-RU" sz="2400" b="0" i="0" u="none" strike="noStrike"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deep</a:t>
                      </a:r>
                      <a:endParaRPr lang="en-US" sz="24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92112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>
                          <a:effectLst/>
                        </a:rPr>
                        <a:t>9</a:t>
                      </a:r>
                      <a:endParaRPr lang="ru-RU" sz="2400" b="0" i="0" u="none" strike="noStrike"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…</a:t>
                      </a:r>
                      <a:endParaRPr lang="ru-RU" sz="24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15891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9576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 animBg="1"/>
      <p:bldP spid="20" grpId="0"/>
      <p:bldP spid="21" grpId="0"/>
      <p:bldP spid="22" grpId="0"/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88980" y="25665"/>
            <a:ext cx="7920880" cy="827739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Слой </a:t>
            </a:r>
            <a:r>
              <a:rPr lang="en-US" sz="3200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Embedding</a:t>
            </a:r>
            <a:endParaRPr lang="ru-RU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461575" y="6475125"/>
            <a:ext cx="730425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/>
              <a:t>23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FA4B6046-830F-4561-A951-D2BD5821A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F4501FB7-026F-48A5-8EA6-43CD2469107D}"/>
              </a:ext>
            </a:extLst>
          </p:cNvPr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F537AF6-99A8-4318-B87B-1271A83892B4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F4D90F3-D7D7-451B-9228-91374A1B2C9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 l="44954" t="21033" r="25515" b="23769"/>
          <a:stretch/>
        </p:blipFill>
        <p:spPr>
          <a:xfrm>
            <a:off x="214953" y="1951662"/>
            <a:ext cx="3577962" cy="3182872"/>
          </a:xfrm>
          <a:prstGeom prst="rect">
            <a:avLst/>
          </a:prstGeom>
        </p:spPr>
      </p:pic>
      <p:graphicFrame>
        <p:nvGraphicFramePr>
          <p:cNvPr id="25" name="Таблица 5">
            <a:extLst>
              <a:ext uri="{FF2B5EF4-FFF2-40B4-BE49-F238E27FC236}">
                <a16:creationId xmlns:a16="http://schemas.microsoft.com/office/drawing/2014/main" id="{53B1B93F-0A5C-484E-A481-E889EB6298A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011118" y="2237374"/>
          <a:ext cx="2729603" cy="280080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2729603">
                  <a:extLst>
                    <a:ext uri="{9D8B030D-6E8A-4147-A177-3AD203B41FA5}">
                      <a16:colId xmlns:a16="http://schemas.microsoft.com/office/drawing/2014/main" val="4056593265"/>
                    </a:ext>
                  </a:extLst>
                </a:gridCol>
              </a:tblGrid>
              <a:tr h="640800">
                <a:tc>
                  <a:txBody>
                    <a:bodyPr/>
                    <a:lstStyle/>
                    <a:p>
                      <a:pPr algn="ctr"/>
                      <a:r>
                        <a:rPr kumimoji="0" lang="ru-RU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" panose="00000500000000000000" pitchFamily="2" charset="-52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Цвет</a:t>
                      </a:r>
                      <a:endParaRPr lang="ru-RU" sz="1200" dirty="0">
                        <a:latin typeface="Montserrat" panose="00000500000000000000" pitchFamily="2" charset="-52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10128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kumimoji="0" lang="ru-RU" sz="1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" panose="00000500000000000000" pitchFamily="2" charset="-52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Красный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8586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kumimoji="0" lang="ru-R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" panose="00000500000000000000" pitchFamily="2" charset="-52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Зеленый</a:t>
                      </a:r>
                      <a:endParaRPr kumimoji="0" lang="ru-RU" sz="1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ontserrat" panose="00000500000000000000" pitchFamily="2" charset="-52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9502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kumimoji="0" lang="ru-R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" panose="00000500000000000000" pitchFamily="2" charset="-52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Синий</a:t>
                      </a:r>
                      <a:endParaRPr kumimoji="0" lang="ru-RU" sz="1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ontserrat" panose="00000500000000000000" pitchFamily="2" charset="-52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58966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kumimoji="0" lang="ru-R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" panose="00000500000000000000" pitchFamily="2" charset="-52"/>
                          <a:ea typeface="Verdana" panose="020B0604030504040204" pitchFamily="34" charset="0"/>
                          <a:cs typeface="Verdana" panose="020B0604030504040204" pitchFamily="34" charset="0"/>
                          <a:sym typeface="Arial"/>
                        </a:rPr>
                        <a:t>Белый</a:t>
                      </a:r>
                      <a:endParaRPr kumimoji="0" lang="ru-RU" sz="1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ontserrat" panose="00000500000000000000" pitchFamily="2" charset="-52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293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" panose="00000500000000000000" pitchFamily="2" charset="-52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Красный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8505512"/>
                  </a:ext>
                </a:extLst>
              </a:tr>
            </a:tbl>
          </a:graphicData>
        </a:graphic>
      </p:graphicFrame>
      <p:graphicFrame>
        <p:nvGraphicFramePr>
          <p:cNvPr id="26" name="Таблица 3">
            <a:extLst>
              <a:ext uri="{FF2B5EF4-FFF2-40B4-BE49-F238E27FC236}">
                <a16:creationId xmlns:a16="http://schemas.microsoft.com/office/drawing/2014/main" id="{4F16CF7F-992E-426F-84B3-BD934B52AA5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104112" y="2237374"/>
          <a:ext cx="4176000" cy="2800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44000">
                  <a:extLst>
                    <a:ext uri="{9D8B030D-6E8A-4147-A177-3AD203B41FA5}">
                      <a16:colId xmlns:a16="http://schemas.microsoft.com/office/drawing/2014/main" val="2344527463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556985766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3450339264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8827049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Цвет Красный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Цвет Зеленый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Цвет Синий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 Цвет Белый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36831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673717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536544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767469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115594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3626713"/>
                  </a:ext>
                </a:extLst>
              </a:tr>
            </a:tbl>
          </a:graphicData>
        </a:graphic>
      </p:graphicFrame>
      <p:sp>
        <p:nvSpPr>
          <p:cNvPr id="27" name="Заголовок 1">
            <a:extLst>
              <a:ext uri="{FF2B5EF4-FFF2-40B4-BE49-F238E27FC236}">
                <a16:creationId xmlns:a16="http://schemas.microsoft.com/office/drawing/2014/main" id="{37195A0A-DDE3-4662-A559-66F86E465264}"/>
              </a:ext>
            </a:extLst>
          </p:cNvPr>
          <p:cNvSpPr txBox="1">
            <a:spLocks/>
          </p:cNvSpPr>
          <p:nvPr/>
        </p:nvSpPr>
        <p:spPr>
          <a:xfrm>
            <a:off x="3767355" y="1322758"/>
            <a:ext cx="7920880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3200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One-hot Encoding</a:t>
            </a:r>
            <a:endParaRPr lang="tr-TR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159610-6689-40E2-98AB-5679FD69EF90}"/>
              </a:ext>
            </a:extLst>
          </p:cNvPr>
          <p:cNvSpPr txBox="1"/>
          <p:nvPr/>
        </p:nvSpPr>
        <p:spPr>
          <a:xfrm>
            <a:off x="3792915" y="5409495"/>
            <a:ext cx="71287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Слой </a:t>
            </a:r>
            <a:r>
              <a:rPr lang="en-US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Embedding</a:t>
            </a:r>
            <a:r>
              <a:rPr lang="ru-RU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сделает переход от индексов к </a:t>
            </a:r>
            <a:r>
              <a:rPr lang="en-US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one-hot </a:t>
            </a:r>
            <a:r>
              <a:rPr lang="ru-RU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представлению за нас </a:t>
            </a:r>
            <a:endParaRPr lang="ru-RU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8959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7" grpId="0"/>
      <p:bldP spid="1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88980" y="25665"/>
            <a:ext cx="7920880" cy="827739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Слой </a:t>
            </a:r>
            <a:r>
              <a:rPr lang="en-US" sz="3200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Embedding</a:t>
            </a:r>
            <a:endParaRPr lang="ru-RU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461575" y="6475125"/>
            <a:ext cx="730425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/>
              <a:t>24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FA4B6046-830F-4561-A951-D2BD5821A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F4501FB7-026F-48A5-8EA6-43CD2469107D}"/>
              </a:ext>
            </a:extLst>
          </p:cNvPr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F537AF6-99A8-4318-B87B-1271A83892B4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51697AE-BCA4-4413-8112-4DF8F8EA9761}"/>
              </a:ext>
            </a:extLst>
          </p:cNvPr>
          <p:cNvSpPr/>
          <p:nvPr/>
        </p:nvSpPr>
        <p:spPr>
          <a:xfrm>
            <a:off x="313460" y="1138369"/>
            <a:ext cx="108951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800" dirty="0" smtClean="0">
                <a:solidFill>
                  <a:srgbClr val="C586C0"/>
                </a:solidFill>
                <a:latin typeface="Courier New" panose="02070309020205020404" pitchFamily="49" charset="0"/>
              </a:rPr>
              <a:t>from</a:t>
            </a:r>
            <a:r>
              <a:rPr lang="tr-TR" sz="2800" dirty="0">
                <a:solidFill>
                  <a:srgbClr val="D4D4D4"/>
                </a:solidFill>
                <a:latin typeface="Courier New" panose="02070309020205020404" pitchFamily="49" charset="0"/>
              </a:rPr>
              <a:t> tensorflow.keras.layers </a:t>
            </a:r>
            <a:r>
              <a:rPr lang="tr-TR" sz="2800" dirty="0">
                <a:solidFill>
                  <a:srgbClr val="C586C0"/>
                </a:solidFill>
                <a:latin typeface="Courier New" panose="02070309020205020404" pitchFamily="49" charset="0"/>
              </a:rPr>
              <a:t>import</a:t>
            </a:r>
            <a:r>
              <a:rPr lang="tr-TR" sz="2800" dirty="0">
                <a:solidFill>
                  <a:srgbClr val="D4D4D4"/>
                </a:solidFill>
                <a:latin typeface="Courier New" panose="02070309020205020404" pitchFamily="49" charset="0"/>
              </a:rPr>
              <a:t> </a:t>
            </a:r>
            <a:r>
              <a:rPr lang="tr-TR" sz="2800" dirty="0" smtClean="0">
                <a:solidFill>
                  <a:srgbClr val="D4D4D4"/>
                </a:solidFill>
                <a:latin typeface="Courier New" panose="02070309020205020404" pitchFamily="49" charset="0"/>
              </a:rPr>
              <a:t>Embedding</a:t>
            </a:r>
            <a:endParaRPr lang="tr-TR" sz="2800" dirty="0">
              <a:solidFill>
                <a:srgbClr val="D4D4D4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81090" y="1577778"/>
            <a:ext cx="998483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800" dirty="0">
                <a:solidFill>
                  <a:srgbClr val="D4D4D4"/>
                </a:solidFill>
                <a:latin typeface="Courier New" panose="02070309020205020404" pitchFamily="49" charset="0"/>
              </a:rPr>
              <a:t> </a:t>
            </a:r>
            <a:r>
              <a:rPr lang="tr-TR" sz="2800" dirty="0" smtClean="0">
                <a:solidFill>
                  <a:srgbClr val="D4D4D4"/>
                </a:solidFill>
                <a:latin typeface="Courier New" panose="02070309020205020404" pitchFamily="49" charset="0"/>
              </a:rPr>
              <a:t>Embedding</a:t>
            </a:r>
            <a:r>
              <a:rPr lang="tr-TR" sz="2800" dirty="0" smtClean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tr-TR" sz="2800" b="1" dirty="0" smtClean="0">
                <a:solidFill>
                  <a:srgbClr val="D4D4D4"/>
                </a:solidFill>
                <a:latin typeface="Courier New" panose="02070309020205020404" pitchFamily="49" charset="0"/>
              </a:rPr>
              <a:t>input_dim,output_dim</a:t>
            </a:r>
            <a:r>
              <a:rPr lang="tr-TR" sz="2800" b="1" dirty="0">
                <a:solidFill>
                  <a:srgbClr val="D4D4D4"/>
                </a:solidFill>
                <a:latin typeface="Courier New" panose="02070309020205020404" pitchFamily="49" charset="0"/>
              </a:rPr>
              <a:t>,</a:t>
            </a:r>
            <a:r>
              <a:rPr lang="tr-TR" sz="2800" dirty="0" smtClean="0">
                <a:solidFill>
                  <a:srgbClr val="DCDCDC"/>
                </a:solidFill>
                <a:latin typeface="Courier New" panose="02070309020205020404" pitchFamily="49" charset="0"/>
              </a:rPr>
              <a:t>)</a:t>
            </a:r>
            <a:endParaRPr lang="ru-RU" sz="28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13460" y="2077002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>
                <a:solidFill>
                  <a:srgbClr val="C586C0"/>
                </a:solidFill>
                <a:latin typeface="Courier New" panose="02070309020205020404" pitchFamily="49" charset="0"/>
              </a:rPr>
              <a:t>import</a:t>
            </a:r>
            <a:r>
              <a:rPr lang="en-US" sz="2800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sz="2800" dirty="0" err="1">
                <a:solidFill>
                  <a:srgbClr val="D4D4D4"/>
                </a:solidFill>
                <a:latin typeface="Courier New" panose="02070309020205020404" pitchFamily="49" charset="0"/>
              </a:rPr>
              <a:t>torch.nn</a:t>
            </a:r>
            <a:r>
              <a:rPr lang="en-US" sz="2800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C586C0"/>
                </a:solidFill>
                <a:latin typeface="Courier New" panose="02070309020205020404" pitchFamily="49" charset="0"/>
              </a:rPr>
              <a:t>as</a:t>
            </a:r>
            <a:r>
              <a:rPr lang="en-US" sz="2800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sz="2800" dirty="0" err="1" smtClean="0">
                <a:solidFill>
                  <a:srgbClr val="D4D4D4"/>
                </a:solidFill>
                <a:latin typeface="Courier New" panose="02070309020205020404" pitchFamily="49" charset="0"/>
              </a:rPr>
              <a:t>nn</a:t>
            </a:r>
            <a:endParaRPr lang="en-US" sz="2800" dirty="0">
              <a:solidFill>
                <a:srgbClr val="D4D4D4"/>
              </a:solidFill>
              <a:latin typeface="Courier New" panose="02070309020205020404" pitchFamily="49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062922" y="2516068"/>
            <a:ext cx="94211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 smtClean="0">
                <a:solidFill>
                  <a:srgbClr val="D4D4D4"/>
                </a:solidFill>
                <a:latin typeface="Courier New" panose="02070309020205020404" pitchFamily="49" charset="0"/>
              </a:rPr>
              <a:t>nn.Embedding</a:t>
            </a:r>
            <a:r>
              <a:rPr lang="en-US" sz="2800" dirty="0" smtClean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en-US" sz="2800" b="1" dirty="0" err="1">
                <a:solidFill>
                  <a:srgbClr val="D4D4D4"/>
                </a:solidFill>
                <a:latin typeface="Courier New" panose="02070309020205020404" pitchFamily="49" charset="0"/>
              </a:rPr>
              <a:t>num_embeddings</a:t>
            </a:r>
            <a:r>
              <a:rPr lang="en-US" sz="2800" dirty="0">
                <a:solidFill>
                  <a:srgbClr val="D4D4D4"/>
                </a:solidFill>
                <a:latin typeface="Courier New" panose="02070309020205020404" pitchFamily="49" charset="0"/>
              </a:rPr>
              <a:t>, </a:t>
            </a:r>
            <a:r>
              <a:rPr lang="en-US" sz="2800" b="1" dirty="0" err="1">
                <a:solidFill>
                  <a:srgbClr val="D4D4D4"/>
                </a:solidFill>
                <a:latin typeface="Courier New" panose="02070309020205020404" pitchFamily="49" charset="0"/>
              </a:rPr>
              <a:t>embedding_dim</a:t>
            </a:r>
            <a:r>
              <a:rPr lang="en-US" sz="2800" dirty="0" smtClean="0">
                <a:solidFill>
                  <a:srgbClr val="DCDCDC"/>
                </a:solidFill>
                <a:latin typeface="Courier New" panose="02070309020205020404" pitchFamily="49" charset="0"/>
              </a:rPr>
              <a:t>)</a:t>
            </a:r>
            <a:endParaRPr lang="en-US" sz="28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F4FB922-9C99-4902-866F-E190E05E0337}"/>
              </a:ext>
            </a:extLst>
          </p:cNvPr>
          <p:cNvSpPr/>
          <p:nvPr/>
        </p:nvSpPr>
        <p:spPr>
          <a:xfrm>
            <a:off x="5879976" y="4036849"/>
            <a:ext cx="423969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Повторить для каждого категориального признака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159610-6689-40E2-98AB-5679FD69EF90}"/>
              </a:ext>
            </a:extLst>
          </p:cNvPr>
          <p:cNvSpPr txBox="1"/>
          <p:nvPr/>
        </p:nvSpPr>
        <p:spPr>
          <a:xfrm>
            <a:off x="-42840" y="4129182"/>
            <a:ext cx="230425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Количество </a:t>
            </a:r>
            <a:r>
              <a:rPr lang="ru-RU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уникальных значений в категориальном признаке</a:t>
            </a:r>
            <a:endParaRPr lang="ru-RU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159610-6689-40E2-98AB-5679FD69EF90}"/>
              </a:ext>
            </a:extLst>
          </p:cNvPr>
          <p:cNvSpPr txBox="1"/>
          <p:nvPr/>
        </p:nvSpPr>
        <p:spPr>
          <a:xfrm>
            <a:off x="1559496" y="2876349"/>
            <a:ext cx="57871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Количество векторов для каждого </a:t>
            </a:r>
            <a:r>
              <a:rPr lang="ru-RU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значения категориальной переменной</a:t>
            </a:r>
            <a:endParaRPr lang="ru-RU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0" name="Левая фигурная скобка 19"/>
          <p:cNvSpPr/>
          <p:nvPr/>
        </p:nvSpPr>
        <p:spPr>
          <a:xfrm>
            <a:off x="2148002" y="3705572"/>
            <a:ext cx="432048" cy="2928008"/>
          </a:xfrm>
          <a:prstGeom prst="leftBrace">
            <a:avLst>
              <a:gd name="adj1" fmla="val 51069"/>
              <a:gd name="adj2" fmla="val 49705"/>
            </a:avLst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21" name="Левая фигурная скобка 20"/>
          <p:cNvSpPr/>
          <p:nvPr/>
        </p:nvSpPr>
        <p:spPr>
          <a:xfrm rot="5400000">
            <a:off x="3768182" y="2008667"/>
            <a:ext cx="432048" cy="3240359"/>
          </a:xfrm>
          <a:prstGeom prst="leftBrace">
            <a:avLst>
              <a:gd name="adj1" fmla="val 51069"/>
              <a:gd name="adj2" fmla="val 50000"/>
            </a:avLst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graphicFrame>
        <p:nvGraphicFramePr>
          <p:cNvPr id="22" name="Таблица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824365"/>
              </p:ext>
            </p:extLst>
          </p:nvPr>
        </p:nvGraphicFramePr>
        <p:xfrm>
          <a:off x="2502992" y="3705572"/>
          <a:ext cx="2962430" cy="3017520"/>
        </p:xfrm>
        <a:graphic>
          <a:graphicData uri="http://schemas.openxmlformats.org/drawingml/2006/table">
            <a:tbl>
              <a:tblPr firstRow="1" firstCol="1">
                <a:tableStyleId>{073A0DAA-6AF3-43AB-8588-CEC1D06C72B9}</a:tableStyleId>
              </a:tblPr>
              <a:tblGrid>
                <a:gridCol w="592486">
                  <a:extLst>
                    <a:ext uri="{9D8B030D-6E8A-4147-A177-3AD203B41FA5}">
                      <a16:colId xmlns:a16="http://schemas.microsoft.com/office/drawing/2014/main" val="1932276779"/>
                    </a:ext>
                  </a:extLst>
                </a:gridCol>
                <a:gridCol w="592486">
                  <a:extLst>
                    <a:ext uri="{9D8B030D-6E8A-4147-A177-3AD203B41FA5}">
                      <a16:colId xmlns:a16="http://schemas.microsoft.com/office/drawing/2014/main" val="298526838"/>
                    </a:ext>
                  </a:extLst>
                </a:gridCol>
                <a:gridCol w="592486">
                  <a:extLst>
                    <a:ext uri="{9D8B030D-6E8A-4147-A177-3AD203B41FA5}">
                      <a16:colId xmlns:a16="http://schemas.microsoft.com/office/drawing/2014/main" val="4292848912"/>
                    </a:ext>
                  </a:extLst>
                </a:gridCol>
                <a:gridCol w="592486">
                  <a:extLst>
                    <a:ext uri="{9D8B030D-6E8A-4147-A177-3AD203B41FA5}">
                      <a16:colId xmlns:a16="http://schemas.microsoft.com/office/drawing/2014/main" val="4183472065"/>
                    </a:ext>
                  </a:extLst>
                </a:gridCol>
                <a:gridCol w="592486">
                  <a:extLst>
                    <a:ext uri="{9D8B030D-6E8A-4147-A177-3AD203B41FA5}">
                      <a16:colId xmlns:a16="http://schemas.microsoft.com/office/drawing/2014/main" val="4114114698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token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d_1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d_2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d_3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d_4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0297312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0.08</a:t>
                      </a:r>
                      <a:endParaRPr lang="ru-RU" sz="14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0.03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-0.01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-0.03</a:t>
                      </a:r>
                      <a:endParaRPr lang="ru-RU" sz="14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02967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-0.01</a:t>
                      </a:r>
                      <a:endParaRPr lang="ru-RU" sz="14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0.08</a:t>
                      </a:r>
                      <a:endParaRPr lang="ru-RU" sz="14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-0.08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0.03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513566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-0.08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-0.02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0.00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0.04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61334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0.03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-0.03</a:t>
                      </a:r>
                      <a:endParaRPr lang="ru-RU" sz="14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0.03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-0.05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11598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-0.09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-0.06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0.09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0.05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114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-0.07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-0.09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-0.09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0.04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62038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0.00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-0.06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-0.06</a:t>
                      </a:r>
                      <a:endParaRPr lang="ru-RU" sz="14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0.08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4423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-0.09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0.06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0.10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0.05</a:t>
                      </a:r>
                      <a:endParaRPr lang="ru-RU" sz="14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456998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8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-0.05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0.02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-0.05</a:t>
                      </a:r>
                      <a:endParaRPr lang="ru-RU" sz="14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-0.01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187736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0.01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0.01</a:t>
                      </a:r>
                      <a:endParaRPr lang="ru-RU" sz="1400" b="0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0.05</a:t>
                      </a:r>
                      <a:endParaRPr lang="ru-RU" sz="14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-0.04</a:t>
                      </a:r>
                      <a:endParaRPr lang="ru-RU" sz="1400" b="0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0924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8" grpId="0"/>
      <p:bldP spid="19" grpId="0"/>
      <p:bldP spid="20" grpId="0" animBg="1"/>
      <p:bldP spid="2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2" y="22039"/>
            <a:ext cx="1758462" cy="111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39182" y="901034"/>
            <a:ext cx="12113637" cy="2156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242802B-4644-4E88-AA5E-0EA6F0887BE9}"/>
              </a:ext>
            </a:extLst>
          </p:cNvPr>
          <p:cNvSpPr/>
          <p:nvPr/>
        </p:nvSpPr>
        <p:spPr>
          <a:xfrm>
            <a:off x="11521444" y="159748"/>
            <a:ext cx="312488" cy="519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82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782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5" name="Нижний колонтитул 6">
            <a:extLst>
              <a:ext uri="{FF2B5EF4-FFF2-40B4-BE49-F238E27FC236}">
                <a16:creationId xmlns:a16="http://schemas.microsoft.com/office/drawing/2014/main" id="{C750D80A-1143-7B59-FA36-CC82C2739814}"/>
              </a:ext>
            </a:extLst>
          </p:cNvPr>
          <p:cNvSpPr txBox="1">
            <a:spLocks/>
          </p:cNvSpPr>
          <p:nvPr/>
        </p:nvSpPr>
        <p:spPr>
          <a:xfrm>
            <a:off x="1439763" y="35138"/>
            <a:ext cx="10490460" cy="48302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3188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Ирония ситуации</a:t>
            </a:r>
            <a:endParaRPr lang="ru-RU" sz="3188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25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F4FB922-9C99-4902-866F-E190E05E0337}"/>
              </a:ext>
            </a:extLst>
          </p:cNvPr>
          <p:cNvSpPr/>
          <p:nvPr/>
        </p:nvSpPr>
        <p:spPr>
          <a:xfrm>
            <a:off x="663543" y="938452"/>
            <a:ext cx="108872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 начале были таблички</a:t>
            </a:r>
            <a:endParaRPr lang="ru-RU" sz="2800" dirty="0" smtClean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Потому что другое не умели собирать</a:t>
            </a:r>
            <a:endParaRPr lang="ru-RU" sz="2800" dirty="0" smtClean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026" name="Picture 2" descr="McCulloch-Pitts Neuron Architecture (1943)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05" b="17813"/>
          <a:stretch/>
        </p:blipFill>
        <p:spPr bwMode="auto">
          <a:xfrm>
            <a:off x="8472264" y="1305467"/>
            <a:ext cx="3568953" cy="2155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F4FB922-9C99-4902-866F-E190E05E0337}"/>
              </a:ext>
            </a:extLst>
          </p:cNvPr>
          <p:cNvSpPr/>
          <p:nvPr/>
        </p:nvSpPr>
        <p:spPr>
          <a:xfrm>
            <a:off x="912361" y="2039435"/>
            <a:ext cx="792788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Поэтому нейронные сети были «</a:t>
            </a:r>
            <a:r>
              <a:rPr lang="ru-RU" sz="28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табличноцентрированны</a:t>
            </a: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»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но с акцентом на непрерывные признаки</a:t>
            </a:r>
            <a:endParaRPr lang="ru-RU" sz="2800" dirty="0" smtClean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F4FB922-9C99-4902-866F-E190E05E0337}"/>
              </a:ext>
            </a:extLst>
          </p:cNvPr>
          <p:cNvSpPr/>
          <p:nvPr/>
        </p:nvSpPr>
        <p:spPr>
          <a:xfrm>
            <a:off x="1439762" y="3880476"/>
            <a:ext cx="926474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Поэтом пошло глубокое обучение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Со спецификацией на однородные данные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А для табличек деревья всё пусть делают </a:t>
            </a:r>
            <a:endParaRPr lang="ru-RU" sz="2800" dirty="0" smtClean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9085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" grpId="0"/>
      <p:bldP spid="13" grpId="0"/>
      <p:bldP spid="1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2" y="22040"/>
            <a:ext cx="1758462" cy="111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39182" y="901034"/>
            <a:ext cx="12113637" cy="2156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Заголовок 1"/>
          <p:cNvSpPr txBox="1">
            <a:spLocks/>
          </p:cNvSpPr>
          <p:nvPr/>
        </p:nvSpPr>
        <p:spPr>
          <a:xfrm>
            <a:off x="1797645" y="996900"/>
            <a:ext cx="7869969" cy="822418"/>
          </a:xfrm>
          <a:prstGeom prst="rect">
            <a:avLst/>
          </a:prstGeom>
        </p:spPr>
        <p:txBody>
          <a:bodyPr vert="horz" lIns="90852" tIns="45427" rIns="90852" bIns="45427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18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764042A-EC52-463E-A7A7-164C646B1A2A}"/>
              </a:ext>
            </a:extLst>
          </p:cNvPr>
          <p:cNvSpPr/>
          <p:nvPr/>
        </p:nvSpPr>
        <p:spPr>
          <a:xfrm>
            <a:off x="918412" y="1711917"/>
            <a:ext cx="11586299" cy="2667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789" spc="-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Табличные данные</a:t>
            </a:r>
            <a:endParaRPr lang="en-US" sz="2789" spc="-1" dirty="0" smtClean="0">
              <a:solidFill>
                <a:schemeClr val="tx1">
                  <a:lumMod val="50000"/>
                  <a:lumOff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US" sz="2789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2789" spc="-1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 нейронные сети</a:t>
            </a:r>
            <a:r>
              <a:rPr lang="en-US" sz="2789" spc="-1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endParaRPr lang="en-US" sz="2789" b="1" spc="-1" dirty="0" smtClean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2789" b="1" spc="-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 табличные методы в обработке картинок / текста</a:t>
            </a:r>
          </a:p>
          <a:p>
            <a:endParaRPr lang="en-US" sz="2789" spc="-1" dirty="0">
              <a:solidFill>
                <a:schemeClr val="tx1">
                  <a:lumMod val="50000"/>
                  <a:lumOff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242802B-4644-4E88-AA5E-0EA6F0887BE9}"/>
              </a:ext>
            </a:extLst>
          </p:cNvPr>
          <p:cNvSpPr/>
          <p:nvPr/>
        </p:nvSpPr>
        <p:spPr>
          <a:xfrm>
            <a:off x="11521444" y="159748"/>
            <a:ext cx="312488" cy="519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82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782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Нижний колонтитул 6">
            <a:extLst>
              <a:ext uri="{FF2B5EF4-FFF2-40B4-BE49-F238E27FC236}">
                <a16:creationId xmlns:a16="http://schemas.microsoft.com/office/drawing/2014/main" id="{31B83413-42AB-9665-7583-E8047FDC61C5}"/>
              </a:ext>
            </a:extLst>
          </p:cNvPr>
          <p:cNvSpPr txBox="1">
            <a:spLocks/>
          </p:cNvSpPr>
          <p:nvPr/>
        </p:nvSpPr>
        <p:spPr>
          <a:xfrm>
            <a:off x="3131440" y="198256"/>
            <a:ext cx="7674876" cy="48302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3188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Содержание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8661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27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D5CE526A-265B-4435-8BB0-007C8CA52B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E9BC6C6F-9DFC-4DD3-B111-0AA26A0484C7}"/>
              </a:ext>
            </a:extLst>
          </p:cNvPr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FC233F2-25DA-46B8-B049-6729B5759C72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2090837" y="21922"/>
            <a:ext cx="7560840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Transfer Learning</a:t>
            </a:r>
            <a:endParaRPr lang="ru-RU" sz="40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718AFE0-7718-4AE3-82B5-180A0CDB833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 l="26696" t="37244" r="7036" b="30557"/>
          <a:stretch/>
        </p:blipFill>
        <p:spPr>
          <a:xfrm>
            <a:off x="2278043" y="895533"/>
            <a:ext cx="7704856" cy="172173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BE565DBC-0F8B-4C59-AB1A-A0A2E4A3D1D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rcRect l="25194" t="34963" r="3932" b="30992"/>
          <a:stretch/>
        </p:blipFill>
        <p:spPr>
          <a:xfrm>
            <a:off x="2207568" y="2175459"/>
            <a:ext cx="8568952" cy="1893062"/>
          </a:xfrm>
          <a:prstGeom prst="rect">
            <a:avLst/>
          </a:prstGeom>
        </p:spPr>
      </p:pic>
      <p:pic>
        <p:nvPicPr>
          <p:cNvPr id="24" name="Picture 2" descr="Image for post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448" y="3536180"/>
            <a:ext cx="8038037" cy="1801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Image for post">
            <a:extLst>
              <a:ext uri="{FF2B5EF4-FFF2-40B4-BE49-F238E27FC236}">
                <a16:creationId xmlns:a16="http://schemas.microsoft.com/office/drawing/2014/main" id="{155F301A-3778-4C80-BD4C-B2E3811D0E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80"/>
          <a:stretch/>
        </p:blipFill>
        <p:spPr bwMode="auto">
          <a:xfrm rot="16200000">
            <a:off x="5502894" y="1687132"/>
            <a:ext cx="1255155" cy="8703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120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2" y="22040"/>
            <a:ext cx="1758462" cy="111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39182" y="901034"/>
            <a:ext cx="12113637" cy="2156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Заголовок 1"/>
          <p:cNvSpPr txBox="1">
            <a:spLocks/>
          </p:cNvSpPr>
          <p:nvPr/>
        </p:nvSpPr>
        <p:spPr>
          <a:xfrm>
            <a:off x="1797645" y="996900"/>
            <a:ext cx="7869969" cy="822418"/>
          </a:xfrm>
          <a:prstGeom prst="rect">
            <a:avLst/>
          </a:prstGeom>
        </p:spPr>
        <p:txBody>
          <a:bodyPr vert="horz" lIns="90852" tIns="45427" rIns="90852" bIns="45427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18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242802B-4644-4E88-AA5E-0EA6F0887BE9}"/>
              </a:ext>
            </a:extLst>
          </p:cNvPr>
          <p:cNvSpPr/>
          <p:nvPr/>
        </p:nvSpPr>
        <p:spPr>
          <a:xfrm>
            <a:off x="11521444" y="159748"/>
            <a:ext cx="312488" cy="519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82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782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Нижний колонтитул 6">
            <a:extLst>
              <a:ext uri="{FF2B5EF4-FFF2-40B4-BE49-F238E27FC236}">
                <a16:creationId xmlns:a16="http://schemas.microsoft.com/office/drawing/2014/main" id="{31B83413-42AB-9665-7583-E8047FDC61C5}"/>
              </a:ext>
            </a:extLst>
          </p:cNvPr>
          <p:cNvSpPr txBox="1">
            <a:spLocks/>
          </p:cNvSpPr>
          <p:nvPr/>
        </p:nvSpPr>
        <p:spPr>
          <a:xfrm>
            <a:off x="2258562" y="162894"/>
            <a:ext cx="7674876" cy="48302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3188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Готовые модели</a:t>
            </a:r>
            <a:endParaRPr lang="ru-RU" sz="3188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28</a:t>
            </a:fld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4CABDE6-55C7-469F-84FB-4D870BEB5209}"/>
              </a:ext>
            </a:extLst>
          </p:cNvPr>
          <p:cNvSpPr/>
          <p:nvPr/>
        </p:nvSpPr>
        <p:spPr>
          <a:xfrm>
            <a:off x="395778" y="1183290"/>
            <a:ext cx="11448746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tf.keras.applications.</a:t>
            </a:r>
            <a:r>
              <a:rPr lang="tr-TR" dirty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MobileNet</a:t>
            </a:r>
            <a:r>
              <a:rPr lang="tr-TR" dirty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endParaRPr lang="tr-TR" dirty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    input_shape=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r>
              <a:rPr lang="tr-TR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 alpha=</a:t>
            </a:r>
            <a:r>
              <a:rPr lang="en-US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</a:t>
            </a:r>
            <a:r>
              <a:rPr lang="tr-TR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.0</a:t>
            </a:r>
            <a:r>
              <a:rPr lang="tr-TR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 depth_multiplier=</a:t>
            </a:r>
            <a:r>
              <a:rPr lang="en-US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</a:t>
            </a:r>
            <a:r>
              <a:rPr lang="tr-TR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 dropout=</a:t>
            </a:r>
            <a:r>
              <a:rPr lang="tr-TR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0.00</a:t>
            </a:r>
            <a:r>
              <a:rPr lang="en-US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tr-TR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endParaRPr lang="tr-TR" dirty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    include_top=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tr-TR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 weights=</a:t>
            </a:r>
            <a:r>
              <a:rPr lang="tr-TR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'imagenet'</a:t>
            </a:r>
            <a:r>
              <a:rPr lang="tr-TR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 input_tensor=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r>
              <a:rPr lang="tr-TR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 pooling=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r>
              <a:rPr lang="tr-TR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endParaRPr lang="tr-TR" dirty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    classes=</a:t>
            </a:r>
            <a:r>
              <a:rPr lang="en-US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</a:t>
            </a:r>
            <a:r>
              <a:rPr lang="tr-TR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000</a:t>
            </a:r>
            <a:r>
              <a:rPr lang="tr-TR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 classifier_activation=</a:t>
            </a:r>
            <a:r>
              <a:rPr lang="tr-TR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'softmax'</a:t>
            </a:r>
            <a:r>
              <a:rPr lang="tr-TR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 **kwargs</a:t>
            </a:r>
          </a:p>
          <a:p>
            <a:r>
              <a:rPr lang="tr-TR" dirty="0">
                <a:solidFill>
                  <a:srgbClr val="DCDCDC"/>
                </a:solidFill>
                <a:latin typeface="Courier New" panose="02070309020205020404" pitchFamily="49" charset="0"/>
              </a:rPr>
              <a:t>)</a:t>
            </a:r>
            <a:endParaRPr lang="tr-TR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1766589" y="5336702"/>
            <a:ext cx="69710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https://pytorch.org/vision/stable/models.html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355204" y="4886997"/>
            <a:ext cx="117599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https://www.tensorflow.org/api_docs/python/tf/keras/applications</a:t>
            </a:r>
          </a:p>
        </p:txBody>
      </p:sp>
      <p:sp>
        <p:nvSpPr>
          <p:cNvPr id="18" name="Прямоугольник 17"/>
          <p:cNvSpPr/>
          <p:nvPr/>
        </p:nvSpPr>
        <p:spPr>
          <a:xfrm>
            <a:off x="355204" y="2968072"/>
            <a:ext cx="110420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torchvision.models.mobilenet_v2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*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                                weights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: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 Optional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MobileNet_V2_Weights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]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 = </a:t>
            </a:r>
            <a:r>
              <a:rPr lang="en-US" dirty="0">
                <a:solidFill>
                  <a:srgbClr val="569CD6"/>
                </a:solidFill>
                <a:latin typeface="Courier New" panose="02070309020205020404" pitchFamily="49" charset="0"/>
              </a:rPr>
              <a:t>None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                                progress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: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4EC9B0"/>
                </a:solidFill>
                <a:latin typeface="Courier New" panose="02070309020205020404" pitchFamily="49" charset="0"/>
              </a:rPr>
              <a:t>bool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 = </a:t>
            </a:r>
            <a:r>
              <a:rPr lang="en-US" dirty="0">
                <a:solidFill>
                  <a:srgbClr val="569CD6"/>
                </a:solidFill>
                <a:latin typeface="Courier New" panose="02070309020205020404" pitchFamily="49" charset="0"/>
              </a:rPr>
              <a:t>True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                                **</a:t>
            </a:r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kwargs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: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 Any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)</a:t>
            </a:r>
            <a:endParaRPr lang="en-US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167999" y="5783716"/>
            <a:ext cx="115096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https://www.tensorflow.org/hub/common_signatures/images#feature-vector</a:t>
            </a:r>
            <a:endParaRPr lang="ru-RU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8823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26081" y="57819"/>
            <a:ext cx="7920880" cy="827739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ELMo</a:t>
            </a:r>
            <a:endParaRPr lang="ru-RU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2613" y="6470257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29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7764408E-352B-4B0E-BCC8-209C94E73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62A2F57-A606-4725-8A9E-4DE2F5F79FE3}"/>
              </a:ext>
            </a:extLst>
          </p:cNvPr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9A235C2-7C91-48CC-A91F-FD8BAE6B5F80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9B84509C-117D-4392-BCC2-0E765E8386E4}"/>
              </a:ext>
            </a:extLst>
          </p:cNvPr>
          <p:cNvSpPr/>
          <p:nvPr/>
        </p:nvSpPr>
        <p:spPr>
          <a:xfrm>
            <a:off x="2374910" y="1083245"/>
            <a:ext cx="86679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“</a:t>
            </a: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Эволюция</a:t>
            </a:r>
            <a:r>
              <a:rPr lang="en-US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” Continuous </a:t>
            </a:r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Bag of Words</a:t>
            </a:r>
            <a:endParaRPr lang="tr-TR" sz="2800" i="0" dirty="0">
              <a:solidFill>
                <a:schemeClr val="bg1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8A406E57-44D4-4A4E-B866-739EF471698A}"/>
              </a:ext>
            </a:extLst>
          </p:cNvPr>
          <p:cNvSpPr/>
          <p:nvPr/>
        </p:nvSpPr>
        <p:spPr>
          <a:xfrm>
            <a:off x="1074187" y="1732530"/>
            <a:ext cx="77558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like to study machine learning because it is fun</a:t>
            </a:r>
            <a:endParaRPr lang="ru-RU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E65541D4-827A-4786-A290-B0245132581E}"/>
              </a:ext>
            </a:extLst>
          </p:cNvPr>
          <p:cNvSpPr/>
          <p:nvPr/>
        </p:nvSpPr>
        <p:spPr>
          <a:xfrm>
            <a:off x="6883301" y="2364711"/>
            <a:ext cx="10374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study</a:t>
            </a:r>
            <a:endParaRPr lang="ru-RU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10B8B16D-DC5C-4D89-830B-B4CBFCC4AF96}"/>
              </a:ext>
            </a:extLst>
          </p:cNvPr>
          <p:cNvSpPr/>
          <p:nvPr/>
        </p:nvSpPr>
        <p:spPr>
          <a:xfrm>
            <a:off x="-45736" y="2244884"/>
            <a:ext cx="49089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like to ____  machine learning</a:t>
            </a:r>
            <a:endParaRPr lang="ru-RU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661CB80D-3513-46E2-AD38-84AE77C3CF18}"/>
              </a:ext>
            </a:extLst>
          </p:cNvPr>
          <p:cNvSpPr/>
          <p:nvPr/>
        </p:nvSpPr>
        <p:spPr>
          <a:xfrm>
            <a:off x="884919" y="2799891"/>
            <a:ext cx="73404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Word2Vec / </a:t>
            </a:r>
            <a:r>
              <a:rPr lang="en-US" sz="24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FastText</a:t>
            </a:r>
            <a:r>
              <a:rPr lang="en-US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24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фиксированное окно</a:t>
            </a:r>
            <a:endParaRPr lang="ru-RU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C1FB2E2D-2BB4-4A4D-9F67-26C2A95CD007}"/>
              </a:ext>
            </a:extLst>
          </p:cNvPr>
          <p:cNvSpPr/>
          <p:nvPr/>
        </p:nvSpPr>
        <p:spPr>
          <a:xfrm>
            <a:off x="2642495" y="3230659"/>
            <a:ext cx="715292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ELMo</a:t>
            </a:r>
            <a:r>
              <a:rPr lang="en-US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Embeddings from Language Model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full context</a:t>
            </a:r>
            <a:endParaRPr lang="ru-RU" sz="24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A96B813F-564B-4F02-81B9-9DB74A5843FC}"/>
              </a:ext>
            </a:extLst>
          </p:cNvPr>
          <p:cNvSpPr/>
          <p:nvPr/>
        </p:nvSpPr>
        <p:spPr>
          <a:xfrm>
            <a:off x="334005" y="3718913"/>
            <a:ext cx="40751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Deep Bi-directional LSTM</a:t>
            </a:r>
            <a:endParaRPr lang="ru-RU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2CD88F8-2E4B-4123-9DFB-9B3EE01025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0154" y="-2289"/>
            <a:ext cx="1765855" cy="2564904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E6160B9B-30F3-4C57-8E29-C58E0BF183C1}"/>
              </a:ext>
            </a:extLst>
          </p:cNvPr>
          <p:cNvSpPr txBox="1"/>
          <p:nvPr/>
        </p:nvSpPr>
        <p:spPr>
          <a:xfrm>
            <a:off x="1769838" y="6349950"/>
            <a:ext cx="61866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dirty="0">
                <a:solidFill>
                  <a:schemeClr val="bg1"/>
                </a:solidFill>
              </a:rPr>
              <a:t>https://jalammar.github.io/illustrated-bert/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62" name="Заголовок 1">
            <a:extLst>
              <a:ext uri="{FF2B5EF4-FFF2-40B4-BE49-F238E27FC236}">
                <a16:creationId xmlns:a16="http://schemas.microsoft.com/office/drawing/2014/main" id="{B53A1D6F-5519-4D8D-97F4-58A72A681798}"/>
              </a:ext>
            </a:extLst>
          </p:cNvPr>
          <p:cNvSpPr txBox="1">
            <a:spLocks/>
          </p:cNvSpPr>
          <p:nvPr/>
        </p:nvSpPr>
        <p:spPr>
          <a:xfrm>
            <a:off x="8330115" y="2488264"/>
            <a:ext cx="3618940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chemeClr val="bg1"/>
                </a:solidFill>
                <a:latin typeface="Comic Sans MS" panose="030F0702030302020204" pitchFamily="66" charset="0"/>
              </a:rPr>
              <a:t>“Transfer Learning”</a:t>
            </a:r>
            <a:endParaRPr lang="ru-RU" sz="4000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CC203A3-C847-4EF5-AD83-F813D04584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2876" y="4057917"/>
            <a:ext cx="2724040" cy="220390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820F902-AC5A-43B4-9C64-54E87553B3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493" y="4307635"/>
            <a:ext cx="4199475" cy="1755004"/>
          </a:xfrm>
          <a:prstGeom prst="rect">
            <a:avLst/>
          </a:prstGeom>
        </p:spPr>
      </p:pic>
      <p:graphicFrame>
        <p:nvGraphicFramePr>
          <p:cNvPr id="63" name="Таблица 9">
            <a:extLst>
              <a:ext uri="{FF2B5EF4-FFF2-40B4-BE49-F238E27FC236}">
                <a16:creationId xmlns:a16="http://schemas.microsoft.com/office/drawing/2014/main" id="{84782684-18FE-4AB1-AB29-BEB796496EBC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491277" y="6069806"/>
          <a:ext cx="2880000" cy="288000"/>
        </p:xfrm>
        <a:graphic>
          <a:graphicData uri="http://schemas.openxmlformats.org/drawingml/2006/table">
            <a:tbl>
              <a:tblPr bandCol="1">
                <a:tableStyleId>{E269D01E-BC32-4049-B463-5C60D7B0CCD2}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6851953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10499722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68695622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83172603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7939233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409893073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704866928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622060328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94764030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65688327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995447"/>
                  </a:ext>
                </a:extLst>
              </a:tr>
            </a:tbl>
          </a:graphicData>
        </a:graphic>
      </p:graphicFrame>
      <p:graphicFrame>
        <p:nvGraphicFramePr>
          <p:cNvPr id="64" name="Таблица 9">
            <a:extLst>
              <a:ext uri="{FF2B5EF4-FFF2-40B4-BE49-F238E27FC236}">
                <a16:creationId xmlns:a16="http://schemas.microsoft.com/office/drawing/2014/main" id="{0E9B70D6-DD87-4DE8-893A-B3BC0328BF9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496418" y="4255597"/>
          <a:ext cx="2880000" cy="288000"/>
        </p:xfrm>
        <a:graphic>
          <a:graphicData uri="http://schemas.openxmlformats.org/drawingml/2006/table">
            <a:tbl>
              <a:tblPr bandCol="1">
                <a:tableStyleId>{18603FDC-E32A-4AB5-989C-0864C3EAD2B8}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6851953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10499722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68695622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83172603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7939233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409893073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704866928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622060328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94764030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65688327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995447"/>
                  </a:ext>
                </a:extLst>
              </a:tr>
            </a:tbl>
          </a:graphicData>
        </a:graphic>
      </p:graphicFrame>
      <p:graphicFrame>
        <p:nvGraphicFramePr>
          <p:cNvPr id="65" name="Таблица 9">
            <a:extLst>
              <a:ext uri="{FF2B5EF4-FFF2-40B4-BE49-F238E27FC236}">
                <a16:creationId xmlns:a16="http://schemas.microsoft.com/office/drawing/2014/main" id="{68134068-7D16-4A5C-9B35-C3B605577D8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506253" y="5476712"/>
          <a:ext cx="1440000" cy="288000"/>
        </p:xfrm>
        <a:graphic>
          <a:graphicData uri="http://schemas.openxmlformats.org/drawingml/2006/table">
            <a:tbl>
              <a:tblPr bandCol="1">
                <a:tableStyleId>{69C7853C-536D-4A76-A0AE-DD22124D55A5}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6851953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10499722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68695622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83172603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79392334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995447"/>
                  </a:ext>
                </a:extLst>
              </a:tr>
            </a:tbl>
          </a:graphicData>
        </a:graphic>
      </p:graphicFrame>
      <p:graphicFrame>
        <p:nvGraphicFramePr>
          <p:cNvPr id="66" name="Таблица 9">
            <a:extLst>
              <a:ext uri="{FF2B5EF4-FFF2-40B4-BE49-F238E27FC236}">
                <a16:creationId xmlns:a16="http://schemas.microsoft.com/office/drawing/2014/main" id="{9958BEC6-C9F6-4FCF-BCB2-A1AD5EDAFA0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953031" y="5475928"/>
          <a:ext cx="1440000" cy="288000"/>
        </p:xfrm>
        <a:graphic>
          <a:graphicData uri="http://schemas.openxmlformats.org/drawingml/2006/table">
            <a:tbl>
              <a:tblPr bandCol="1">
                <a:tableStyleId>{0505E3EF-67EA-436B-97B2-0124C06EBD24}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1704866928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622060328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94764030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656883273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268396905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995447"/>
                  </a:ext>
                </a:extLst>
              </a:tr>
            </a:tbl>
          </a:graphicData>
        </a:graphic>
      </p:graphicFrame>
      <p:graphicFrame>
        <p:nvGraphicFramePr>
          <p:cNvPr id="67" name="Таблица 9">
            <a:extLst>
              <a:ext uri="{FF2B5EF4-FFF2-40B4-BE49-F238E27FC236}">
                <a16:creationId xmlns:a16="http://schemas.microsoft.com/office/drawing/2014/main" id="{F79B82D6-3786-48A9-B7FE-424BFE80E7A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522599" y="5036770"/>
          <a:ext cx="1440000" cy="288000"/>
        </p:xfrm>
        <a:graphic>
          <a:graphicData uri="http://schemas.openxmlformats.org/drawingml/2006/table">
            <a:tbl>
              <a:tblPr bandCol="1">
                <a:tableStyleId>{306799F8-075E-4A3A-A7F6-7FBC6576F1A4}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6851953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10499722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68695622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83172603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79392334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995447"/>
                  </a:ext>
                </a:extLst>
              </a:tr>
            </a:tbl>
          </a:graphicData>
        </a:graphic>
      </p:graphicFrame>
      <p:graphicFrame>
        <p:nvGraphicFramePr>
          <p:cNvPr id="68" name="Таблица 9">
            <a:extLst>
              <a:ext uri="{FF2B5EF4-FFF2-40B4-BE49-F238E27FC236}">
                <a16:creationId xmlns:a16="http://schemas.microsoft.com/office/drawing/2014/main" id="{7686B6C6-0758-4357-8A78-07B5CEA2C7B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969377" y="5035986"/>
          <a:ext cx="1440000" cy="288000"/>
        </p:xfrm>
        <a:graphic>
          <a:graphicData uri="http://schemas.openxmlformats.org/drawingml/2006/table">
            <a:tbl>
              <a:tblPr bandCol="1">
                <a:tableStyleId>{F5AB1C69-6EDB-4FF4-983F-18BD219EF322}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1704866928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622060328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94764030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656883273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268396905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ru-RU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995447"/>
                  </a:ext>
                </a:extLst>
              </a:tr>
            </a:tbl>
          </a:graphicData>
        </a:graphic>
      </p:graphicFrame>
      <p:sp>
        <p:nvSpPr>
          <p:cNvPr id="69" name="Заголовок 1">
            <a:extLst>
              <a:ext uri="{FF2B5EF4-FFF2-40B4-BE49-F238E27FC236}">
                <a16:creationId xmlns:a16="http://schemas.microsoft.com/office/drawing/2014/main" id="{B5772F4E-CA8F-46E8-915A-35E01F11AF49}"/>
              </a:ext>
            </a:extLst>
          </p:cNvPr>
          <p:cNvSpPr txBox="1">
            <a:spLocks/>
          </p:cNvSpPr>
          <p:nvPr/>
        </p:nvSpPr>
        <p:spPr>
          <a:xfrm>
            <a:off x="8153129" y="4848041"/>
            <a:ext cx="3618940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chemeClr val="bg1"/>
                </a:solidFill>
                <a:latin typeface="-apple-system"/>
              </a:rPr>
              <a:t>…</a:t>
            </a:r>
            <a:endParaRPr lang="ru-RU" sz="4000" dirty="0">
              <a:solidFill>
                <a:schemeClr val="bg1"/>
              </a:solidFill>
              <a:latin typeface="-apple-syste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ABBF7A2-FAE8-4883-BCF9-D12F011E1CBC}"/>
                  </a:ext>
                </a:extLst>
              </p:cNvPr>
              <p:cNvSpPr txBox="1"/>
              <p:nvPr/>
            </p:nvSpPr>
            <p:spPr>
              <a:xfrm>
                <a:off x="7745381" y="6387135"/>
                <a:ext cx="42036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Embedding </a:t>
                </a:r>
                <a:r>
                  <a:rPr lang="ru-RU" sz="20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для </a:t>
                </a:r>
                <a:r>
                  <a:rPr lang="ru-RU" sz="2000" dirty="0" err="1" smtClean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токена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&lt;</m:t>
                        </m:r>
                        <m:r>
                          <a:rPr lang="en-US" sz="20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𝑡</m:t>
                        </m:r>
                        <m:r>
                          <a:rPr lang="en-US" sz="20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&gt;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  </a:t>
                </a: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ABBF7A2-FAE8-4883-BCF9-D12F011E1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5381" y="6387135"/>
                <a:ext cx="4203674" cy="400110"/>
              </a:xfrm>
              <a:prstGeom prst="rect">
                <a:avLst/>
              </a:prstGeom>
              <a:blipFill>
                <a:blip r:embed="rId7"/>
                <a:stretch>
                  <a:fillRect l="-1597" t="-9231" b="-276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71747166-94AB-4721-9007-DA597B144204}"/>
                  </a:ext>
                </a:extLst>
              </p:cNvPr>
              <p:cNvSpPr txBox="1"/>
              <p:nvPr/>
            </p:nvSpPr>
            <p:spPr>
              <a:xfrm>
                <a:off x="7790824" y="3725469"/>
                <a:ext cx="614710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err="1" smtClean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ELMo</a:t>
                </a:r>
                <a:r>
                  <a:rPr lang="en-US" sz="2000" dirty="0" smtClean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0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Embedding </a:t>
                </a:r>
                <a:r>
                  <a:rPr lang="ru-RU" sz="2000" dirty="0" smtClean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для </a:t>
                </a:r>
                <a:r>
                  <a:rPr lang="ru-RU" sz="2000" dirty="0" err="1" smtClean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токена</a:t>
                </a:r>
                <a:r>
                  <a:rPr lang="ru-RU" sz="2000" dirty="0" smtClean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&lt;</m:t>
                        </m:r>
                        <m:r>
                          <a:rPr lang="en-US" sz="20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𝑡</m:t>
                        </m:r>
                        <m:r>
                          <a:rPr lang="en-US" sz="20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&gt;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  </a:t>
                </a: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71747166-94AB-4721-9007-DA597B144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0824" y="3725469"/>
                <a:ext cx="6147102" cy="400110"/>
              </a:xfrm>
              <a:prstGeom prst="rect">
                <a:avLst/>
              </a:prstGeom>
              <a:blipFill>
                <a:blip r:embed="rId8"/>
                <a:stretch>
                  <a:fillRect l="-992" t="-7576" b="-257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TextBox 71">
            <a:extLst>
              <a:ext uri="{FF2B5EF4-FFF2-40B4-BE49-F238E27FC236}">
                <a16:creationId xmlns:a16="http://schemas.microsoft.com/office/drawing/2014/main" id="{097BFD6A-E7CA-425A-B1FC-9D00796AD4DA}"/>
              </a:ext>
            </a:extLst>
          </p:cNvPr>
          <p:cNvSpPr txBox="1"/>
          <p:nvPr/>
        </p:nvSpPr>
        <p:spPr>
          <a:xfrm>
            <a:off x="9818161" y="4575988"/>
            <a:ext cx="2609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‘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Right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’ hidden layer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53C095F-89B6-4AF7-A2EC-5B3B10E95350}"/>
              </a:ext>
            </a:extLst>
          </p:cNvPr>
          <p:cNvSpPr txBox="1"/>
          <p:nvPr/>
        </p:nvSpPr>
        <p:spPr>
          <a:xfrm>
            <a:off x="7497758" y="4567219"/>
            <a:ext cx="2664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‘</a:t>
            </a:r>
            <a:r>
              <a:rPr lang="en-US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Left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’ hidden layer</a:t>
            </a:r>
          </a:p>
        </p:txBody>
      </p:sp>
    </p:spTree>
    <p:extLst>
      <p:ext uri="{BB962C8B-B14F-4D97-AF65-F5344CB8AC3E}">
        <p14:creationId xmlns:p14="http://schemas.microsoft.com/office/powerpoint/2010/main" val="3618913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2" y="22040"/>
            <a:ext cx="1758462" cy="111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39182" y="901034"/>
            <a:ext cx="12113637" cy="2156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Заголовок 1"/>
          <p:cNvSpPr txBox="1">
            <a:spLocks/>
          </p:cNvSpPr>
          <p:nvPr/>
        </p:nvSpPr>
        <p:spPr>
          <a:xfrm>
            <a:off x="1797645" y="996900"/>
            <a:ext cx="7869969" cy="822418"/>
          </a:xfrm>
          <a:prstGeom prst="rect">
            <a:avLst/>
          </a:prstGeom>
        </p:spPr>
        <p:txBody>
          <a:bodyPr vert="horz" lIns="90852" tIns="45427" rIns="90852" bIns="45427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18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242802B-4644-4E88-AA5E-0EA6F0887BE9}"/>
              </a:ext>
            </a:extLst>
          </p:cNvPr>
          <p:cNvSpPr/>
          <p:nvPr/>
        </p:nvSpPr>
        <p:spPr>
          <a:xfrm>
            <a:off x="11521444" y="159748"/>
            <a:ext cx="312488" cy="519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82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782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Нижний колонтитул 6">
            <a:extLst>
              <a:ext uri="{FF2B5EF4-FFF2-40B4-BE49-F238E27FC236}">
                <a16:creationId xmlns:a16="http://schemas.microsoft.com/office/drawing/2014/main" id="{31B83413-42AB-9665-7583-E8047FDC61C5}"/>
              </a:ext>
            </a:extLst>
          </p:cNvPr>
          <p:cNvSpPr txBox="1">
            <a:spLocks/>
          </p:cNvSpPr>
          <p:nvPr/>
        </p:nvSpPr>
        <p:spPr>
          <a:xfrm>
            <a:off x="2258562" y="162894"/>
            <a:ext cx="7674876" cy="48302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3188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Готовые модели</a:t>
            </a:r>
            <a:endParaRPr lang="ru-RU" sz="3188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30</a:t>
            </a:fld>
            <a:endParaRPr lang="ru-RU"/>
          </a:p>
        </p:txBody>
      </p:sp>
      <p:sp>
        <p:nvSpPr>
          <p:cNvPr id="16" name="Заголовок 1"/>
          <p:cNvSpPr txBox="1">
            <a:spLocks/>
          </p:cNvSpPr>
          <p:nvPr/>
        </p:nvSpPr>
        <p:spPr>
          <a:xfrm>
            <a:off x="1919536" y="963327"/>
            <a:ext cx="7920880" cy="827739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ELMo</a:t>
            </a:r>
            <a:endParaRPr lang="ru-RU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72CD88F8-2E4B-4123-9DFB-9B3EE01025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0154" y="-2289"/>
            <a:ext cx="1765855" cy="2564904"/>
          </a:xfrm>
          <a:prstGeom prst="rect">
            <a:avLst/>
          </a:prstGeom>
        </p:spPr>
      </p:pic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3DFAFC1-81A5-4BBA-A440-E26188BE253D}"/>
              </a:ext>
            </a:extLst>
          </p:cNvPr>
          <p:cNvSpPr/>
          <p:nvPr/>
        </p:nvSpPr>
        <p:spPr>
          <a:xfrm>
            <a:off x="1245903" y="1590601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solidFill>
                  <a:srgbClr val="C586C0"/>
                </a:solidFill>
                <a:latin typeface="Courier New" panose="02070309020205020404" pitchFamily="49" charset="0"/>
              </a:rPr>
              <a:t>import</a:t>
            </a:r>
            <a:r>
              <a:rPr lang="en-US" sz="2400" dirty="0">
                <a:solidFill>
                  <a:srgbClr val="D4D4D4"/>
                </a:solidFill>
                <a:latin typeface="Courier New" panose="02070309020205020404" pitchFamily="49" charset="0"/>
              </a:rPr>
              <a:t> </a:t>
            </a:r>
            <a:r>
              <a:rPr lang="en-US" sz="2400" dirty="0" err="1">
                <a:solidFill>
                  <a:srgbClr val="D4D4D4"/>
                </a:solidFill>
                <a:latin typeface="Courier New" panose="02070309020205020404" pitchFamily="49" charset="0"/>
              </a:rPr>
              <a:t>tensorflow_hub</a:t>
            </a:r>
            <a:r>
              <a:rPr lang="en-US" sz="2400" dirty="0">
                <a:solidFill>
                  <a:srgbClr val="D4D4D4"/>
                </a:solidFill>
                <a:latin typeface="Courier New" panose="02070309020205020404" pitchFamily="49" charset="0"/>
              </a:rPr>
              <a:t> </a:t>
            </a:r>
            <a:r>
              <a:rPr lang="en-US" sz="2400" dirty="0">
                <a:solidFill>
                  <a:srgbClr val="C586C0"/>
                </a:solidFill>
                <a:latin typeface="Courier New" panose="02070309020205020404" pitchFamily="49" charset="0"/>
              </a:rPr>
              <a:t>as</a:t>
            </a:r>
            <a:r>
              <a:rPr lang="en-US" sz="2400" dirty="0">
                <a:solidFill>
                  <a:srgbClr val="D4D4D4"/>
                </a:solidFill>
                <a:latin typeface="Courier New" panose="02070309020205020404" pitchFamily="49" charset="0"/>
              </a:rPr>
              <a:t> hub</a:t>
            </a:r>
          </a:p>
          <a:p>
            <a:r>
              <a:rPr lang="en-US" sz="2400" dirty="0">
                <a:solidFill>
                  <a:srgbClr val="C586C0"/>
                </a:solidFill>
                <a:latin typeface="Courier New" panose="02070309020205020404" pitchFamily="49" charset="0"/>
              </a:rPr>
              <a:t>import</a:t>
            </a:r>
            <a:r>
              <a:rPr lang="en-US" sz="2400" dirty="0">
                <a:solidFill>
                  <a:srgbClr val="D4D4D4"/>
                </a:solidFill>
                <a:latin typeface="Courier New" panose="02070309020205020404" pitchFamily="49" charset="0"/>
              </a:rPr>
              <a:t> </a:t>
            </a:r>
            <a:r>
              <a:rPr lang="en-US" sz="2400" dirty="0" err="1">
                <a:solidFill>
                  <a:srgbClr val="D4D4D4"/>
                </a:solidFill>
                <a:latin typeface="Courier New" panose="02070309020205020404" pitchFamily="49" charset="0"/>
              </a:rPr>
              <a:t>tensorflow</a:t>
            </a:r>
            <a:r>
              <a:rPr lang="en-US" sz="2400" dirty="0">
                <a:solidFill>
                  <a:srgbClr val="D4D4D4"/>
                </a:solidFill>
                <a:latin typeface="Courier New" panose="02070309020205020404" pitchFamily="49" charset="0"/>
              </a:rPr>
              <a:t> </a:t>
            </a:r>
            <a:r>
              <a:rPr lang="en-US" sz="2400" dirty="0">
                <a:solidFill>
                  <a:srgbClr val="C586C0"/>
                </a:solidFill>
                <a:latin typeface="Courier New" panose="02070309020205020404" pitchFamily="49" charset="0"/>
              </a:rPr>
              <a:t>as</a:t>
            </a:r>
            <a:r>
              <a:rPr lang="en-US" sz="2400" dirty="0">
                <a:solidFill>
                  <a:srgbClr val="D4D4D4"/>
                </a:solidFill>
                <a:latin typeface="Courier New" panose="02070309020205020404" pitchFamily="49" charset="0"/>
              </a:rPr>
              <a:t> </a:t>
            </a:r>
            <a:r>
              <a:rPr lang="en-US" sz="2400" dirty="0" err="1">
                <a:solidFill>
                  <a:srgbClr val="D4D4D4"/>
                </a:solidFill>
                <a:latin typeface="Courier New" panose="02070309020205020404" pitchFamily="49" charset="0"/>
              </a:rPr>
              <a:t>tf</a:t>
            </a:r>
            <a:endParaRPr lang="en-US" sz="24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A6A7F58-AF0F-4178-ADA4-E56FD4A16C53}"/>
              </a:ext>
            </a:extLst>
          </p:cNvPr>
          <p:cNvSpPr/>
          <p:nvPr/>
        </p:nvSpPr>
        <p:spPr>
          <a:xfrm>
            <a:off x="741847" y="2742729"/>
            <a:ext cx="94330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D4D4D4"/>
                </a:solidFill>
                <a:latin typeface="Courier New" panose="02070309020205020404" pitchFamily="49" charset="0"/>
              </a:rPr>
              <a:t>elmo</a:t>
            </a:r>
            <a:r>
              <a:rPr lang="en-US" sz="2400" dirty="0">
                <a:solidFill>
                  <a:srgbClr val="D4D4D4"/>
                </a:solidFill>
                <a:latin typeface="Courier New" panose="02070309020205020404" pitchFamily="49" charset="0"/>
              </a:rPr>
              <a:t> = </a:t>
            </a:r>
            <a:r>
              <a:rPr lang="en-US" sz="2400" dirty="0" err="1">
                <a:solidFill>
                  <a:srgbClr val="D4D4D4"/>
                </a:solidFill>
                <a:latin typeface="Courier New" panose="02070309020205020404" pitchFamily="49" charset="0"/>
              </a:rPr>
              <a:t>hub.load</a:t>
            </a:r>
            <a:r>
              <a:rPr lang="en-US" sz="2400" dirty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en-US" sz="2400" dirty="0">
                <a:solidFill>
                  <a:srgbClr val="CE9178"/>
                </a:solidFill>
                <a:latin typeface="Courier New" panose="02070309020205020404" pitchFamily="49" charset="0"/>
              </a:rPr>
              <a:t>"https://tfhub.dev/google/elmo/3"</a:t>
            </a:r>
            <a:r>
              <a:rPr lang="en-US" sz="2400" dirty="0">
                <a:solidFill>
                  <a:srgbClr val="DCDCDC"/>
                </a:solidFill>
                <a:latin typeface="Courier New" panose="02070309020205020404" pitchFamily="49" charset="0"/>
              </a:rPr>
              <a:t>)</a:t>
            </a:r>
            <a:endParaRPr lang="en-US" sz="24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EB63795D-DFDC-49A9-92EB-D1A0F77C4904}"/>
              </a:ext>
            </a:extLst>
          </p:cNvPr>
          <p:cNvSpPr/>
          <p:nvPr/>
        </p:nvSpPr>
        <p:spPr>
          <a:xfrm>
            <a:off x="1101887" y="3246785"/>
            <a:ext cx="10153128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6AA94F"/>
                </a:solidFill>
                <a:latin typeface="Courier New" panose="02070309020205020404" pitchFamily="49" charset="0"/>
              </a:rPr>
              <a:t># </a:t>
            </a:r>
            <a:r>
              <a:rPr lang="ru-RU" sz="2000" dirty="0" smtClean="0">
                <a:solidFill>
                  <a:srgbClr val="6AA94F"/>
                </a:solidFill>
                <a:latin typeface="Courier New" panose="02070309020205020404" pitchFamily="49" charset="0"/>
              </a:rPr>
              <a:t>Некое предложение</a:t>
            </a:r>
            <a:endParaRPr lang="en-US" sz="2000" dirty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r>
              <a:rPr lang="en-US" sz="2000" dirty="0">
                <a:solidFill>
                  <a:srgbClr val="D4D4D4"/>
                </a:solidFill>
                <a:latin typeface="Courier New" panose="02070309020205020404" pitchFamily="49" charset="0"/>
              </a:rPr>
              <a:t>x = </a:t>
            </a:r>
            <a:r>
              <a:rPr lang="en-US" sz="2000" dirty="0" err="1">
                <a:solidFill>
                  <a:srgbClr val="D4D4D4"/>
                </a:solidFill>
                <a:latin typeface="Courier New" panose="02070309020205020404" pitchFamily="49" charset="0"/>
              </a:rPr>
              <a:t>tf.constant</a:t>
            </a:r>
            <a:r>
              <a:rPr lang="en-US" sz="2000" dirty="0">
                <a:solidFill>
                  <a:srgbClr val="DCDCDC"/>
                </a:solidFill>
                <a:latin typeface="Courier New" panose="02070309020205020404" pitchFamily="49" charset="0"/>
              </a:rPr>
              <a:t>([</a:t>
            </a:r>
            <a:r>
              <a:rPr lang="en-US" sz="2000" dirty="0">
                <a:solidFill>
                  <a:srgbClr val="CE9178"/>
                </a:solidFill>
                <a:latin typeface="Courier New" panose="02070309020205020404" pitchFamily="49" charset="0"/>
              </a:rPr>
              <a:t>"Roasted ants are a popular snack in Columbia"</a:t>
            </a:r>
            <a:r>
              <a:rPr lang="en-US" sz="2000" dirty="0">
                <a:solidFill>
                  <a:srgbClr val="DCDCDC"/>
                </a:solidFill>
                <a:latin typeface="Courier New" panose="02070309020205020404" pitchFamily="49" charset="0"/>
              </a:rPr>
              <a:t>])</a:t>
            </a:r>
            <a:endParaRPr lang="en-US" sz="2000" dirty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r>
              <a:rPr lang="en-US" sz="2000" dirty="0">
                <a:solidFill>
                  <a:srgbClr val="D4D4D4"/>
                </a:solidFill>
                <a:latin typeface="Courier New" panose="02070309020205020404" pitchFamily="49" charset="0"/>
              </a:rPr>
              <a:t/>
            </a:r>
            <a:br>
              <a:rPr lang="en-US" sz="2000" dirty="0">
                <a:solidFill>
                  <a:srgbClr val="D4D4D4"/>
                </a:solidFill>
                <a:latin typeface="Courier New" panose="02070309020205020404" pitchFamily="49" charset="0"/>
              </a:rPr>
            </a:br>
            <a:r>
              <a:rPr lang="en-US" sz="2000" dirty="0">
                <a:solidFill>
                  <a:srgbClr val="6AA94F"/>
                </a:solidFill>
                <a:latin typeface="Courier New" panose="02070309020205020404" pitchFamily="49" charset="0"/>
              </a:rPr>
              <a:t># </a:t>
            </a:r>
            <a:r>
              <a:rPr lang="en-US" sz="2000" dirty="0" err="1" smtClean="0">
                <a:solidFill>
                  <a:srgbClr val="6AA94F"/>
                </a:solidFill>
                <a:latin typeface="Courier New" panose="02070309020205020404" pitchFamily="49" charset="0"/>
              </a:rPr>
              <a:t>ELMo</a:t>
            </a:r>
            <a:r>
              <a:rPr lang="en-US" sz="2000" dirty="0">
                <a:solidFill>
                  <a:srgbClr val="6AA94F"/>
                </a:solidFill>
                <a:latin typeface="Courier New" panose="02070309020205020404" pitchFamily="49" charset="0"/>
              </a:rPr>
              <a:t> Embedding </a:t>
            </a:r>
            <a:endParaRPr lang="en-US" sz="2000" dirty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r>
              <a:rPr lang="en-US" sz="2000" dirty="0" err="1">
                <a:solidFill>
                  <a:srgbClr val="D4D4D4"/>
                </a:solidFill>
                <a:latin typeface="Courier New" panose="02070309020205020404" pitchFamily="49" charset="0"/>
              </a:rPr>
              <a:t>embeddings</a:t>
            </a:r>
            <a:r>
              <a:rPr lang="en-US" sz="2000" dirty="0">
                <a:solidFill>
                  <a:srgbClr val="D4D4D4"/>
                </a:solidFill>
                <a:latin typeface="Courier New" panose="02070309020205020404" pitchFamily="49" charset="0"/>
              </a:rPr>
              <a:t> = </a:t>
            </a:r>
            <a:r>
              <a:rPr lang="en-US" sz="2000" dirty="0" err="1">
                <a:solidFill>
                  <a:srgbClr val="D4D4D4"/>
                </a:solidFill>
                <a:latin typeface="Courier New" panose="02070309020205020404" pitchFamily="49" charset="0"/>
              </a:rPr>
              <a:t>elmo.signatures</a:t>
            </a:r>
            <a:r>
              <a:rPr lang="en-US" sz="2000" dirty="0">
                <a:solidFill>
                  <a:srgbClr val="DCDCDC"/>
                </a:solidFill>
                <a:latin typeface="Courier New" panose="02070309020205020404" pitchFamily="49" charset="0"/>
              </a:rPr>
              <a:t>[</a:t>
            </a:r>
            <a:r>
              <a:rPr lang="en-US" sz="2000" dirty="0">
                <a:solidFill>
                  <a:srgbClr val="CE9178"/>
                </a:solidFill>
                <a:latin typeface="Courier New" panose="02070309020205020404" pitchFamily="49" charset="0"/>
              </a:rPr>
              <a:t>"default"</a:t>
            </a:r>
            <a:r>
              <a:rPr lang="en-US" sz="2000" dirty="0">
                <a:solidFill>
                  <a:srgbClr val="DCDCDC"/>
                </a:solidFill>
                <a:latin typeface="Courier New" panose="02070309020205020404" pitchFamily="49" charset="0"/>
              </a:rPr>
              <a:t>](</a:t>
            </a:r>
            <a:r>
              <a:rPr lang="en-US" sz="2000" dirty="0">
                <a:solidFill>
                  <a:srgbClr val="D4D4D4"/>
                </a:solidFill>
                <a:latin typeface="Courier New" panose="02070309020205020404" pitchFamily="49" charset="0"/>
              </a:rPr>
              <a:t>x</a:t>
            </a:r>
            <a:r>
              <a:rPr lang="en-US" sz="2000" dirty="0">
                <a:solidFill>
                  <a:srgbClr val="DCDCDC"/>
                </a:solidFill>
                <a:latin typeface="Courier New" panose="02070309020205020404" pitchFamily="49" charset="0"/>
              </a:rPr>
              <a:t>)[</a:t>
            </a:r>
            <a:r>
              <a:rPr lang="en-US" sz="2000" dirty="0">
                <a:solidFill>
                  <a:srgbClr val="CE9178"/>
                </a:solidFill>
                <a:latin typeface="Courier New" panose="02070309020205020404" pitchFamily="49" charset="0"/>
              </a:rPr>
              <a:t>"</a:t>
            </a:r>
            <a:r>
              <a:rPr lang="en-US" sz="2000" dirty="0" err="1">
                <a:solidFill>
                  <a:srgbClr val="CE9178"/>
                </a:solidFill>
                <a:latin typeface="Courier New" panose="02070309020205020404" pitchFamily="49" charset="0"/>
              </a:rPr>
              <a:t>elmo</a:t>
            </a:r>
            <a:r>
              <a:rPr lang="en-US" sz="2000" dirty="0">
                <a:solidFill>
                  <a:srgbClr val="CE9178"/>
                </a:solidFill>
                <a:latin typeface="Courier New" panose="02070309020205020404" pitchFamily="49" charset="0"/>
              </a:rPr>
              <a:t>"</a:t>
            </a:r>
            <a:r>
              <a:rPr lang="en-US" sz="2000" dirty="0">
                <a:solidFill>
                  <a:srgbClr val="DCDCDC"/>
                </a:solidFill>
                <a:latin typeface="Courier New" panose="02070309020205020404" pitchFamily="49" charset="0"/>
              </a:rPr>
              <a:t>]</a:t>
            </a:r>
            <a:endParaRPr lang="en-US" sz="2000" dirty="0">
              <a:solidFill>
                <a:srgbClr val="D4D4D4"/>
              </a:solidFill>
              <a:latin typeface="Courier New" panose="02070309020205020404" pitchFamily="49" charset="0"/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3EEBF488-A23A-4515-A330-98B100E73E89}"/>
              </a:ext>
            </a:extLst>
          </p:cNvPr>
          <p:cNvSpPr/>
          <p:nvPr/>
        </p:nvSpPr>
        <p:spPr>
          <a:xfrm>
            <a:off x="669839" y="4830961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err="1">
                <a:solidFill>
                  <a:srgbClr val="D4D4D4"/>
                </a:solidFill>
                <a:latin typeface="Courier New" panose="02070309020205020404" pitchFamily="49" charset="0"/>
              </a:rPr>
              <a:t>embeddings</a:t>
            </a:r>
            <a:endParaRPr lang="en-US" sz="2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772187E1-9285-4710-B3D0-D4C247628FB2}"/>
              </a:ext>
            </a:extLst>
          </p:cNvPr>
          <p:cNvSpPr/>
          <p:nvPr/>
        </p:nvSpPr>
        <p:spPr>
          <a:xfrm>
            <a:off x="923963" y="5648821"/>
            <a:ext cx="72728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D5D5D5"/>
                </a:solidFill>
                <a:latin typeface="Courier New" panose="02070309020205020404" pitchFamily="49" charset="0"/>
              </a:rPr>
              <a:t>&lt;</a:t>
            </a:r>
            <a:r>
              <a:rPr lang="en-US" dirty="0" err="1">
                <a:solidFill>
                  <a:srgbClr val="D5D5D5"/>
                </a:solidFill>
                <a:latin typeface="Courier New" panose="02070309020205020404" pitchFamily="49" charset="0"/>
              </a:rPr>
              <a:t>tf.Tensor</a:t>
            </a:r>
            <a:r>
              <a:rPr lang="en-US" dirty="0">
                <a:solidFill>
                  <a:srgbClr val="D5D5D5"/>
                </a:solidFill>
                <a:latin typeface="Courier New" panose="02070309020205020404" pitchFamily="49" charset="0"/>
              </a:rPr>
              <a:t>: shape=(1, 8, 1024), </a:t>
            </a:r>
            <a:r>
              <a:rPr lang="en-US" dirty="0" err="1">
                <a:solidFill>
                  <a:srgbClr val="D5D5D5"/>
                </a:solidFill>
                <a:latin typeface="Courier New" panose="02070309020205020404" pitchFamily="49" charset="0"/>
              </a:rPr>
              <a:t>dtype</a:t>
            </a:r>
            <a:r>
              <a:rPr lang="en-US" dirty="0">
                <a:solidFill>
                  <a:srgbClr val="D5D5D5"/>
                </a:solidFill>
                <a:latin typeface="Courier New" panose="02070309020205020404" pitchFamily="49" charset="0"/>
              </a:rPr>
              <a:t>=float32)&gt;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466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15780" y="6476951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31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08FBCF8B-35C7-47E7-95BF-CB2E8F65A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4855BF48-2887-4862-9EF2-7FBA0ACEC953}"/>
              </a:ext>
            </a:extLst>
          </p:cNvPr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765EE89-A799-4C1E-8737-B81932E13085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DB3531-983E-4EF7-81F5-03791D8F094A}"/>
              </a:ext>
            </a:extLst>
          </p:cNvPr>
          <p:cNvSpPr txBox="1"/>
          <p:nvPr/>
        </p:nvSpPr>
        <p:spPr>
          <a:xfrm>
            <a:off x="2341001" y="975987"/>
            <a:ext cx="71309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BERT</a:t>
            </a:r>
          </a:p>
        </p:txBody>
      </p:sp>
      <p:pic>
        <p:nvPicPr>
          <p:cNvPr id="1026" name="Picture 2" descr="https://jalammar.github.io/images/distilBERT/bert-model-calssification-output-vector-cls.png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1F1F1"/>
              </a:clrFrom>
              <a:clrTo>
                <a:srgbClr val="F1F1F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600" y="1628800"/>
            <a:ext cx="7200800" cy="435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2495600" y="6299056"/>
            <a:ext cx="82001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https://jalammar.github.io/a-visual-guide-to-using-bert-for-the-first-time/</a:t>
            </a:r>
          </a:p>
        </p:txBody>
      </p:sp>
      <p:sp>
        <p:nvSpPr>
          <p:cNvPr id="13" name="Заголовок 1"/>
          <p:cNvSpPr>
            <a:spLocks noGrp="1"/>
          </p:cNvSpPr>
          <p:nvPr>
            <p:ph type="title"/>
          </p:nvPr>
        </p:nvSpPr>
        <p:spPr>
          <a:xfrm>
            <a:off x="2063552" y="44624"/>
            <a:ext cx="7920880" cy="827739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Transformer Encoder</a:t>
            </a:r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6738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2" y="22040"/>
            <a:ext cx="1758462" cy="111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39182" y="901034"/>
            <a:ext cx="12113637" cy="2156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Заголовок 1"/>
          <p:cNvSpPr txBox="1">
            <a:spLocks/>
          </p:cNvSpPr>
          <p:nvPr/>
        </p:nvSpPr>
        <p:spPr>
          <a:xfrm>
            <a:off x="1797645" y="996900"/>
            <a:ext cx="7869969" cy="822418"/>
          </a:xfrm>
          <a:prstGeom prst="rect">
            <a:avLst/>
          </a:prstGeom>
        </p:spPr>
        <p:txBody>
          <a:bodyPr vert="horz" lIns="90852" tIns="45427" rIns="90852" bIns="45427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18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242802B-4644-4E88-AA5E-0EA6F0887BE9}"/>
              </a:ext>
            </a:extLst>
          </p:cNvPr>
          <p:cNvSpPr/>
          <p:nvPr/>
        </p:nvSpPr>
        <p:spPr>
          <a:xfrm>
            <a:off x="11521444" y="159748"/>
            <a:ext cx="312488" cy="519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82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782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Нижний колонтитул 6">
            <a:extLst>
              <a:ext uri="{FF2B5EF4-FFF2-40B4-BE49-F238E27FC236}">
                <a16:creationId xmlns:a16="http://schemas.microsoft.com/office/drawing/2014/main" id="{31B83413-42AB-9665-7583-E8047FDC61C5}"/>
              </a:ext>
            </a:extLst>
          </p:cNvPr>
          <p:cNvSpPr txBox="1">
            <a:spLocks/>
          </p:cNvSpPr>
          <p:nvPr/>
        </p:nvSpPr>
        <p:spPr>
          <a:xfrm>
            <a:off x="2258562" y="162894"/>
            <a:ext cx="7674876" cy="48302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188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Hugging Face</a:t>
            </a:r>
            <a:endParaRPr lang="ru-RU" sz="3188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32</a:t>
            </a:fld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976748" y="2757316"/>
            <a:ext cx="1051316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rgbClr val="D4D4D4"/>
                </a:solidFill>
                <a:latin typeface="Courier New" panose="02070309020205020404" pitchFamily="49" charset="0"/>
              </a:rPr>
              <a:t>model_name</a:t>
            </a:r>
            <a:r>
              <a:rPr lang="en-US" sz="2000" dirty="0">
                <a:solidFill>
                  <a:srgbClr val="D4D4D4"/>
                </a:solidFill>
                <a:latin typeface="Courier New" panose="02070309020205020404" pitchFamily="49" charset="0"/>
              </a:rPr>
              <a:t> = </a:t>
            </a:r>
            <a:r>
              <a:rPr lang="en-US" sz="2000" dirty="0">
                <a:solidFill>
                  <a:srgbClr val="CE9178"/>
                </a:solidFill>
                <a:latin typeface="Courier New" panose="02070309020205020404" pitchFamily="49" charset="0"/>
              </a:rPr>
              <a:t>"</a:t>
            </a:r>
            <a:r>
              <a:rPr lang="en-US" sz="2000" dirty="0" err="1">
                <a:solidFill>
                  <a:srgbClr val="CE9178"/>
                </a:solidFill>
                <a:latin typeface="Courier New" panose="02070309020205020404" pitchFamily="49" charset="0"/>
              </a:rPr>
              <a:t>DeepPavlov</a:t>
            </a:r>
            <a:r>
              <a:rPr lang="en-US" sz="2000" dirty="0">
                <a:solidFill>
                  <a:srgbClr val="CE9178"/>
                </a:solidFill>
                <a:latin typeface="Courier New" panose="02070309020205020404" pitchFamily="49" charset="0"/>
              </a:rPr>
              <a:t>/</a:t>
            </a:r>
            <a:r>
              <a:rPr lang="en-US" sz="2000" dirty="0" err="1">
                <a:solidFill>
                  <a:srgbClr val="CE9178"/>
                </a:solidFill>
                <a:latin typeface="Courier New" panose="02070309020205020404" pitchFamily="49" charset="0"/>
              </a:rPr>
              <a:t>rubert</a:t>
            </a:r>
            <a:r>
              <a:rPr lang="en-US" sz="2000" dirty="0">
                <a:solidFill>
                  <a:srgbClr val="CE9178"/>
                </a:solidFill>
                <a:latin typeface="Courier New" panose="02070309020205020404" pitchFamily="49" charset="0"/>
              </a:rPr>
              <a:t>-base-cased-conversational"</a:t>
            </a:r>
            <a:r>
              <a:rPr lang="en-US" sz="2000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76748" y="3678475"/>
            <a:ext cx="108845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rgbClr val="D4D4D4"/>
                </a:solidFill>
                <a:latin typeface="Courier New" panose="02070309020205020404" pitchFamily="49" charset="0"/>
              </a:rPr>
              <a:t>deep_pavlov_base</a:t>
            </a:r>
            <a:r>
              <a:rPr lang="en-US" sz="2000" dirty="0">
                <a:solidFill>
                  <a:srgbClr val="D4D4D4"/>
                </a:solidFill>
                <a:latin typeface="Courier New" panose="02070309020205020404" pitchFamily="49" charset="0"/>
              </a:rPr>
              <a:t> = </a:t>
            </a:r>
            <a:r>
              <a:rPr lang="en-US" sz="2000" dirty="0" err="1">
                <a:solidFill>
                  <a:srgbClr val="D4D4D4"/>
                </a:solidFill>
                <a:latin typeface="Courier New" panose="02070309020205020404" pitchFamily="49" charset="0"/>
              </a:rPr>
              <a:t>AutoModel.from_pretrained</a:t>
            </a:r>
            <a:r>
              <a:rPr lang="en-US" sz="2000" dirty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en-US" sz="2000" dirty="0" err="1">
                <a:solidFill>
                  <a:srgbClr val="D4D4D4"/>
                </a:solidFill>
                <a:latin typeface="Courier New" panose="02070309020205020404" pitchFamily="49" charset="0"/>
              </a:rPr>
              <a:t>model_name</a:t>
            </a:r>
            <a:r>
              <a:rPr lang="en-US" sz="2000" dirty="0">
                <a:solidFill>
                  <a:srgbClr val="DCDCDC"/>
                </a:solidFill>
                <a:latin typeface="Courier New" panose="02070309020205020404" pitchFamily="49" charset="0"/>
              </a:rPr>
              <a:t>)</a:t>
            </a:r>
            <a:r>
              <a:rPr lang="en-US" sz="2000" dirty="0">
                <a:solidFill>
                  <a:srgbClr val="D4D4D4"/>
                </a:solidFill>
                <a:latin typeface="Courier New" panose="02070309020205020404" pitchFamily="49" charset="0"/>
              </a:rPr>
              <a:t>.to</a:t>
            </a:r>
            <a:r>
              <a:rPr lang="en-US" sz="2000" dirty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en-US" sz="2000" dirty="0">
                <a:solidFill>
                  <a:srgbClr val="D4D4D4"/>
                </a:solidFill>
                <a:latin typeface="Courier New" panose="02070309020205020404" pitchFamily="49" charset="0"/>
              </a:rPr>
              <a:t>device</a:t>
            </a:r>
            <a:r>
              <a:rPr lang="en-US" sz="2000" dirty="0">
                <a:solidFill>
                  <a:srgbClr val="DCDCDC"/>
                </a:solidFill>
                <a:latin typeface="Courier New" panose="02070309020205020404" pitchFamily="49" charset="0"/>
              </a:rPr>
              <a:t>)</a:t>
            </a:r>
            <a:endParaRPr lang="en-US" sz="2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976748" y="4631176"/>
            <a:ext cx="587853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err="1">
                <a:solidFill>
                  <a:srgbClr val="D4D4D4"/>
                </a:solidFill>
                <a:latin typeface="Courier New" panose="02070309020205020404" pitchFamily="49" charset="0"/>
              </a:rPr>
              <a:t>model_output</a:t>
            </a:r>
            <a:r>
              <a:rPr lang="en-US" sz="2000" dirty="0">
                <a:solidFill>
                  <a:srgbClr val="D4D4D4"/>
                </a:solidFill>
                <a:latin typeface="Courier New" panose="02070309020205020404" pitchFamily="49" charset="0"/>
              </a:rPr>
              <a:t> = model</a:t>
            </a:r>
            <a:r>
              <a:rPr lang="en-US" sz="2000" dirty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en-US" sz="2000" dirty="0">
                <a:solidFill>
                  <a:srgbClr val="D4D4D4"/>
                </a:solidFill>
                <a:latin typeface="Courier New" panose="02070309020205020404" pitchFamily="49" charset="0"/>
              </a:rPr>
              <a:t>**</a:t>
            </a:r>
            <a:r>
              <a:rPr lang="en-US" sz="2000" dirty="0" err="1">
                <a:solidFill>
                  <a:srgbClr val="D4D4D4"/>
                </a:solidFill>
                <a:latin typeface="Courier New" panose="02070309020205020404" pitchFamily="49" charset="0"/>
              </a:rPr>
              <a:t>encoded_input</a:t>
            </a:r>
            <a:r>
              <a:rPr lang="en-US" sz="2000" dirty="0">
                <a:solidFill>
                  <a:srgbClr val="DCDCDC"/>
                </a:solidFill>
                <a:latin typeface="Courier New" panose="02070309020205020404" pitchFamily="49" charset="0"/>
              </a:rPr>
              <a:t>)</a:t>
            </a:r>
            <a:endParaRPr lang="en-US" sz="2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000110" y="5513192"/>
            <a:ext cx="54168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err="1">
                <a:solidFill>
                  <a:srgbClr val="D4D4D4"/>
                </a:solidFill>
                <a:latin typeface="Courier New" panose="02070309020205020404" pitchFamily="49" charset="0"/>
              </a:rPr>
              <a:t>token_embeddings</a:t>
            </a:r>
            <a:r>
              <a:rPr lang="en-US" sz="2000" dirty="0">
                <a:solidFill>
                  <a:srgbClr val="D4D4D4"/>
                </a:solidFill>
                <a:latin typeface="Courier New" panose="02070309020205020404" pitchFamily="49" charset="0"/>
              </a:rPr>
              <a:t> = </a:t>
            </a:r>
            <a:r>
              <a:rPr lang="en-US" sz="2000" dirty="0" err="1">
                <a:solidFill>
                  <a:srgbClr val="D4D4D4"/>
                </a:solidFill>
                <a:latin typeface="Courier New" panose="02070309020205020404" pitchFamily="49" charset="0"/>
              </a:rPr>
              <a:t>model_output</a:t>
            </a:r>
            <a:r>
              <a:rPr lang="en-US" sz="2000" dirty="0">
                <a:solidFill>
                  <a:srgbClr val="DCDCDC"/>
                </a:solidFill>
                <a:latin typeface="Courier New" panose="02070309020205020404" pitchFamily="49" charset="0"/>
              </a:rPr>
              <a:t>[</a:t>
            </a:r>
            <a:r>
              <a:rPr lang="en-US" sz="2000" dirty="0">
                <a:solidFill>
                  <a:srgbClr val="B5CEA8"/>
                </a:solidFill>
                <a:latin typeface="Courier New" panose="02070309020205020404" pitchFamily="49" charset="0"/>
              </a:rPr>
              <a:t>0</a:t>
            </a:r>
            <a:r>
              <a:rPr lang="en-US" sz="2000" dirty="0">
                <a:solidFill>
                  <a:srgbClr val="DCDCDC"/>
                </a:solidFill>
                <a:latin typeface="Courier New" panose="02070309020205020404" pitchFamily="49" charset="0"/>
              </a:rPr>
              <a:t>]</a:t>
            </a:r>
            <a:endParaRPr lang="en-US" sz="2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918413" y="1097227"/>
            <a:ext cx="47933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82C6FF"/>
                </a:solidFill>
                <a:latin typeface="Courier New" panose="02070309020205020404" pitchFamily="49" charset="0"/>
              </a:rPr>
              <a:t>!</a:t>
            </a:r>
            <a:r>
              <a:rPr lang="en-US" sz="2400" dirty="0">
                <a:solidFill>
                  <a:srgbClr val="D4D4D4"/>
                </a:solidFill>
                <a:latin typeface="Courier New" panose="02070309020205020404" pitchFamily="49" charset="0"/>
              </a:rPr>
              <a:t>pip install transformers</a:t>
            </a:r>
            <a:endParaRPr lang="en-US" sz="24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933817" y="1909897"/>
            <a:ext cx="64524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C586C0"/>
                </a:solidFill>
                <a:latin typeface="Courier New" panose="02070309020205020404" pitchFamily="49" charset="0"/>
              </a:rPr>
              <a:t>from</a:t>
            </a:r>
            <a:r>
              <a:rPr lang="en-US" sz="2400" dirty="0">
                <a:solidFill>
                  <a:srgbClr val="D4D4D4"/>
                </a:solidFill>
                <a:latin typeface="Courier New" panose="02070309020205020404" pitchFamily="49" charset="0"/>
              </a:rPr>
              <a:t> transformers </a:t>
            </a:r>
            <a:r>
              <a:rPr lang="en-US" sz="2400" dirty="0">
                <a:solidFill>
                  <a:srgbClr val="C586C0"/>
                </a:solidFill>
                <a:latin typeface="Courier New" panose="02070309020205020404" pitchFamily="49" charset="0"/>
              </a:rPr>
              <a:t>import</a:t>
            </a:r>
            <a:r>
              <a:rPr lang="en-US" sz="2400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rgbClr val="D4D4D4"/>
                </a:solidFill>
                <a:latin typeface="Courier New" panose="02070309020205020404" pitchFamily="49" charset="0"/>
              </a:rPr>
              <a:t>AutoModel</a:t>
            </a:r>
            <a:endParaRPr lang="en-US" sz="24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33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2" y="22040"/>
            <a:ext cx="1758462" cy="111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39182" y="901034"/>
            <a:ext cx="12113637" cy="2156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Заголовок 1"/>
          <p:cNvSpPr txBox="1">
            <a:spLocks/>
          </p:cNvSpPr>
          <p:nvPr/>
        </p:nvSpPr>
        <p:spPr>
          <a:xfrm>
            <a:off x="1797645" y="996900"/>
            <a:ext cx="7869969" cy="822418"/>
          </a:xfrm>
          <a:prstGeom prst="rect">
            <a:avLst/>
          </a:prstGeom>
        </p:spPr>
        <p:txBody>
          <a:bodyPr vert="horz" lIns="90852" tIns="45427" rIns="90852" bIns="45427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18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242802B-4644-4E88-AA5E-0EA6F0887BE9}"/>
              </a:ext>
            </a:extLst>
          </p:cNvPr>
          <p:cNvSpPr/>
          <p:nvPr/>
        </p:nvSpPr>
        <p:spPr>
          <a:xfrm>
            <a:off x="11521444" y="159748"/>
            <a:ext cx="312488" cy="519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82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782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Нижний колонтитул 6">
            <a:extLst>
              <a:ext uri="{FF2B5EF4-FFF2-40B4-BE49-F238E27FC236}">
                <a16:creationId xmlns:a16="http://schemas.microsoft.com/office/drawing/2014/main" id="{31B83413-42AB-9665-7583-E8047FDC61C5}"/>
              </a:ext>
            </a:extLst>
          </p:cNvPr>
          <p:cNvSpPr txBox="1">
            <a:spLocks/>
          </p:cNvSpPr>
          <p:nvPr/>
        </p:nvSpPr>
        <p:spPr>
          <a:xfrm>
            <a:off x="2258562" y="170670"/>
            <a:ext cx="7674876" cy="48302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188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Gensim</a:t>
            </a:r>
            <a:endParaRPr lang="ru-RU" sz="3188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33</a:t>
            </a:fld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DCB1BA-C8E8-4849-B4DD-D6227350AA2A}"/>
              </a:ext>
            </a:extLst>
          </p:cNvPr>
          <p:cNvSpPr txBox="1"/>
          <p:nvPr/>
        </p:nvSpPr>
        <p:spPr>
          <a:xfrm>
            <a:off x="648632" y="975088"/>
            <a:ext cx="95471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000" b="0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tr-TR" sz="2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gensim</a:t>
            </a:r>
          </a:p>
          <a:p>
            <a:r>
              <a:rPr lang="tr-TR" sz="2000" b="0" dirty="0" smtClean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tr-TR" sz="2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gensim.models </a:t>
            </a:r>
            <a:r>
              <a:rPr lang="tr-TR" sz="2000" b="0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tr-TR" sz="2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KeyedVectors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263352" y="1766065"/>
            <a:ext cx="121533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model = gensim.models.KeyedVectors.load_word2vec_format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word2vec_sample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 binary=</a:t>
            </a:r>
            <a:r>
              <a:rPr lang="en-US" dirty="0">
                <a:solidFill>
                  <a:srgbClr val="569CD6"/>
                </a:solidFill>
                <a:latin typeface="Courier New" panose="02070309020205020404" pitchFamily="49" charset="0"/>
              </a:rPr>
              <a:t>False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)</a:t>
            </a:r>
            <a:endParaRPr lang="en-US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648632" y="2333956"/>
            <a:ext cx="44582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586C0"/>
                </a:solidFill>
                <a:latin typeface="Courier New" panose="02070309020205020404" pitchFamily="49" charset="0"/>
              </a:rPr>
              <a:t>import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gensim.downloader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586C0"/>
                </a:solidFill>
                <a:latin typeface="Courier New" panose="02070309020205020404" pitchFamily="49" charset="0"/>
              </a:rPr>
              <a:t>as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api</a:t>
            </a:r>
            <a:endParaRPr lang="en-US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717986" y="2758894"/>
            <a:ext cx="15632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api.info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()</a:t>
            </a:r>
            <a:endParaRPr lang="en-US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39182" y="3076647"/>
            <a:ext cx="7493970" cy="1954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</a:rPr>
              <a:t>'glove-twitter-100': </a:t>
            </a:r>
            <a:endParaRPr lang="en-US" sz="1100" dirty="0" smtClean="0">
              <a:solidFill>
                <a:schemeClr val="bg1"/>
              </a:solidFill>
              <a:latin typeface="Courier New" panose="02070309020205020404" pitchFamily="49" charset="0"/>
            </a:endParaRPr>
          </a:p>
          <a:p>
            <a:r>
              <a:rPr lang="en-US" sz="1100" dirty="0" smtClean="0">
                <a:solidFill>
                  <a:schemeClr val="bg1"/>
                </a:solidFill>
                <a:latin typeface="Courier New" panose="02070309020205020404" pitchFamily="49" charset="0"/>
              </a:rPr>
              <a:t>{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</a:rPr>
              <a:t>'</a:t>
            </a: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</a:rPr>
              <a:t>num_records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</a:rPr>
              <a:t>': 1193514, '</a:t>
            </a: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</a:rPr>
              <a:t>file_size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</a:rPr>
              <a:t>': 405932991, '</a:t>
            </a: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</a:rPr>
              <a:t>base_dataset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</a:rPr>
              <a:t>': 'Twitter (2B tweets, 27B tokens, 1.2M vocab, uncased)', '</a:t>
            </a: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</a:rPr>
              <a:t>reader_code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</a:rPr>
              <a:t>': 'https://github.com/</a:t>
            </a: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</a:rPr>
              <a:t>RaRe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</a:rPr>
              <a:t>-Technologies/</a:t>
            </a: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</a:rPr>
              <a:t>gensim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</a:rPr>
              <a:t>-data/releases/download/glove-twitter-100/__init__.py', 'license': 'http://opendatacommons.org/licenses/</a:t>
            </a: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</a:rPr>
              <a:t>pddl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</a:rPr>
              <a:t>/', 'parameters': {'dimension': 100}, 'description': 'Pre-trained vectors based on 2B tweets, 27B tokens, 1.2M vocab, uncased (https://nlp.stanford.edu/projects/glove/)', 'preprocessing': 'Converted to w2v format with `python -m gensim.scripts.glove2word2vec -</a:t>
            </a: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</a:rPr>
              <a:t>i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</a:rPr>
              <a:t> &lt;</a:t>
            </a: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</a:rPr>
              <a:t>fname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</a:rPr>
              <a:t>&gt; -o glove-twitter-100.txt`.', '</a:t>
            </a: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</a:rPr>
              <a:t>read_more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</a:rPr>
              <a:t>': ['https://nlp.stanford.edu/projects/glove/', 'https://nlp.stanford.edu/pubs/glove.pdf'], 'checksum': 'b04f7bed38756d64cf55b58ce7e97b15', '</a:t>
            </a: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</a:rPr>
              <a:t>file_name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</a:rPr>
              <a:t>': 'glove-twitter-100.gz', 'parts': 1},</a:t>
            </a:r>
            <a:endParaRPr lang="ru-RU" sz="1100" dirty="0">
              <a:solidFill>
                <a:schemeClr val="bg1"/>
              </a:solidFill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88032" y="5068621"/>
            <a:ext cx="48718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586C0"/>
                </a:solidFill>
                <a:latin typeface="Courier New" panose="02070309020205020404" pitchFamily="49" charset="0"/>
              </a:rPr>
              <a:t>from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gensim.models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586C0"/>
                </a:solidFill>
                <a:latin typeface="Courier New" panose="02070309020205020404" pitchFamily="49" charset="0"/>
              </a:rPr>
              <a:t>import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 Word2Vec</a:t>
            </a:r>
            <a:endParaRPr lang="en-US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119336" y="5521147"/>
            <a:ext cx="55772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D4D4D4"/>
                </a:solidFill>
                <a:latin typeface="Courier New" panose="02070309020205020404" pitchFamily="49" charset="0"/>
              </a:rPr>
              <a:t>model_w2v = Word2Vec</a:t>
            </a:r>
            <a:r>
              <a:rPr lang="ru-RU" dirty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ru-RU" dirty="0" err="1">
                <a:solidFill>
                  <a:srgbClr val="D4D4D4"/>
                </a:solidFill>
                <a:latin typeface="Courier New" panose="02070309020205020404" pitchFamily="49" charset="0"/>
              </a:rPr>
              <a:t>dataset</a:t>
            </a:r>
            <a:r>
              <a:rPr lang="ru-RU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ru-RU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ru-RU" dirty="0">
                <a:solidFill>
                  <a:srgbClr val="D4D4D4"/>
                </a:solidFill>
                <a:latin typeface="Courier New" panose="02070309020205020404" pitchFamily="49" charset="0"/>
              </a:rPr>
              <a:t>                     </a:t>
            </a:r>
            <a:r>
              <a:rPr lang="ru-RU" dirty="0" err="1">
                <a:solidFill>
                  <a:srgbClr val="D4D4D4"/>
                </a:solidFill>
                <a:latin typeface="Courier New" panose="02070309020205020404" pitchFamily="49" charset="0"/>
              </a:rPr>
              <a:t>vector_size</a:t>
            </a:r>
            <a:r>
              <a:rPr lang="ru-RU" dirty="0">
                <a:solidFill>
                  <a:srgbClr val="D4D4D4"/>
                </a:solidFill>
                <a:latin typeface="Courier New" panose="02070309020205020404" pitchFamily="49" charset="0"/>
              </a:rPr>
              <a:t>=</a:t>
            </a:r>
            <a:r>
              <a:rPr lang="ru-RU" dirty="0">
                <a:solidFill>
                  <a:srgbClr val="B5CEA8"/>
                </a:solidFill>
                <a:latin typeface="Courier New" panose="02070309020205020404" pitchFamily="49" charset="0"/>
              </a:rPr>
              <a:t>100</a:t>
            </a:r>
            <a:r>
              <a:rPr lang="ru-RU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ru-RU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ru-RU" dirty="0">
                <a:solidFill>
                  <a:srgbClr val="D4D4D4"/>
                </a:solidFill>
                <a:latin typeface="Courier New" panose="02070309020205020404" pitchFamily="49" charset="0"/>
              </a:rPr>
              <a:t>                     </a:t>
            </a:r>
            <a:r>
              <a:rPr lang="ru-RU" dirty="0" err="1">
                <a:solidFill>
                  <a:srgbClr val="D4D4D4"/>
                </a:solidFill>
                <a:latin typeface="Courier New" panose="02070309020205020404" pitchFamily="49" charset="0"/>
              </a:rPr>
              <a:t>window</a:t>
            </a:r>
            <a:r>
              <a:rPr lang="ru-RU" dirty="0">
                <a:solidFill>
                  <a:srgbClr val="D4D4D4"/>
                </a:solidFill>
                <a:latin typeface="Courier New" panose="02070309020205020404" pitchFamily="49" charset="0"/>
              </a:rPr>
              <a:t>=</a:t>
            </a:r>
            <a:r>
              <a:rPr lang="ru-RU" dirty="0">
                <a:solidFill>
                  <a:srgbClr val="B5CEA8"/>
                </a:solidFill>
                <a:latin typeface="Courier New" panose="02070309020205020404" pitchFamily="49" charset="0"/>
              </a:rPr>
              <a:t>5</a:t>
            </a:r>
            <a:r>
              <a:rPr lang="ru-RU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ru-RU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r>
              <a:rPr lang="ru-RU" dirty="0">
                <a:solidFill>
                  <a:srgbClr val="D4D4D4"/>
                </a:solidFill>
                <a:latin typeface="Courier New" panose="02070309020205020404" pitchFamily="49" charset="0"/>
              </a:rPr>
              <a:t>                     </a:t>
            </a:r>
            <a:r>
              <a:rPr lang="ru-RU" dirty="0" err="1">
                <a:solidFill>
                  <a:srgbClr val="D4D4D4"/>
                </a:solidFill>
                <a:latin typeface="Courier New" panose="02070309020205020404" pitchFamily="49" charset="0"/>
              </a:rPr>
              <a:t>min_count</a:t>
            </a:r>
            <a:r>
              <a:rPr lang="ru-RU" dirty="0">
                <a:solidFill>
                  <a:srgbClr val="D4D4D4"/>
                </a:solidFill>
                <a:latin typeface="Courier New" panose="02070309020205020404" pitchFamily="49" charset="0"/>
              </a:rPr>
              <a:t>=</a:t>
            </a:r>
            <a:r>
              <a:rPr lang="ru-RU" dirty="0">
                <a:solidFill>
                  <a:srgbClr val="B5CEA8"/>
                </a:solidFill>
                <a:latin typeface="Courier New" panose="02070309020205020404" pitchFamily="49" charset="0"/>
              </a:rPr>
              <a:t>10</a:t>
            </a:r>
            <a:r>
              <a:rPr lang="ru-RU" dirty="0" smtClean="0">
                <a:solidFill>
                  <a:srgbClr val="DCDCDC"/>
                </a:solidFill>
                <a:latin typeface="Courier New" panose="02070309020205020404" pitchFamily="49" charset="0"/>
              </a:rPr>
              <a:t>)</a:t>
            </a:r>
            <a:endParaRPr lang="ru-RU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3152" y="2075053"/>
            <a:ext cx="4212605" cy="4495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362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2" y="22040"/>
            <a:ext cx="1758462" cy="111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39182" y="901034"/>
            <a:ext cx="12113637" cy="2156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Заголовок 1"/>
          <p:cNvSpPr txBox="1">
            <a:spLocks/>
          </p:cNvSpPr>
          <p:nvPr/>
        </p:nvSpPr>
        <p:spPr>
          <a:xfrm>
            <a:off x="1797645" y="996900"/>
            <a:ext cx="7869969" cy="822418"/>
          </a:xfrm>
          <a:prstGeom prst="rect">
            <a:avLst/>
          </a:prstGeom>
        </p:spPr>
        <p:txBody>
          <a:bodyPr vert="horz" lIns="90852" tIns="45427" rIns="90852" bIns="45427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18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242802B-4644-4E88-AA5E-0EA6F0887BE9}"/>
              </a:ext>
            </a:extLst>
          </p:cNvPr>
          <p:cNvSpPr/>
          <p:nvPr/>
        </p:nvSpPr>
        <p:spPr>
          <a:xfrm>
            <a:off x="11521444" y="159748"/>
            <a:ext cx="312488" cy="519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82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782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Нижний колонтитул 6">
            <a:extLst>
              <a:ext uri="{FF2B5EF4-FFF2-40B4-BE49-F238E27FC236}">
                <a16:creationId xmlns:a16="http://schemas.microsoft.com/office/drawing/2014/main" id="{31B83413-42AB-9665-7583-E8047FDC61C5}"/>
              </a:ext>
            </a:extLst>
          </p:cNvPr>
          <p:cNvSpPr txBox="1">
            <a:spLocks/>
          </p:cNvSpPr>
          <p:nvPr/>
        </p:nvSpPr>
        <p:spPr>
          <a:xfrm>
            <a:off x="2258562" y="170670"/>
            <a:ext cx="7674876" cy="48302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188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CatBoost</a:t>
            </a:r>
            <a:endParaRPr lang="ru-RU" sz="3188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34</a:t>
            </a:fld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1409864" y="6344107"/>
            <a:ext cx="100811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https://catboost.ai/en/docs/concepts/algorithm-main-stages_embedding-to-numeric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1389" y="-182319"/>
            <a:ext cx="2711062" cy="113971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54495" y="1346184"/>
            <a:ext cx="12391858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 smtClean="0">
                <a:solidFill>
                  <a:schemeClr val="bg1"/>
                </a:solidFill>
              </a:rPr>
              <a:t>1. </a:t>
            </a:r>
            <a:r>
              <a:rPr lang="ru-RU" b="1" dirty="0" err="1" smtClean="0">
                <a:solidFill>
                  <a:schemeClr val="bg1"/>
                </a:solidFill>
              </a:rPr>
              <a:t>Loading</a:t>
            </a:r>
            <a:r>
              <a:rPr lang="ru-RU" b="1" dirty="0" smtClean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and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storing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embedding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features</a:t>
            </a:r>
            <a:endParaRPr lang="ru-RU" sz="1600" dirty="0">
              <a:solidFill>
                <a:schemeClr val="bg1"/>
              </a:solidFill>
            </a:endParaRPr>
          </a:p>
          <a:p>
            <a:r>
              <a:rPr lang="ru-RU" dirty="0" err="1">
                <a:solidFill>
                  <a:schemeClr val="bg1"/>
                </a:solidFill>
              </a:rPr>
              <a:t>The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embedding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feature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is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loaded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as</a:t>
            </a:r>
            <a:r>
              <a:rPr lang="ru-RU" dirty="0">
                <a:solidFill>
                  <a:schemeClr val="bg1"/>
                </a:solidFill>
              </a:rPr>
              <a:t> a column. </a:t>
            </a:r>
            <a:r>
              <a:rPr lang="ru-RU" dirty="0" err="1">
                <a:solidFill>
                  <a:schemeClr val="bg1"/>
                </a:solidFill>
              </a:rPr>
              <a:t>Every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element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in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this</a:t>
            </a:r>
            <a:r>
              <a:rPr lang="ru-RU" dirty="0">
                <a:solidFill>
                  <a:schemeClr val="bg1"/>
                </a:solidFill>
              </a:rPr>
              <a:t> column </a:t>
            </a:r>
            <a:r>
              <a:rPr lang="ru-RU" dirty="0" err="1">
                <a:solidFill>
                  <a:schemeClr val="bg1"/>
                </a:solidFill>
              </a:rPr>
              <a:t>is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an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array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of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fixed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size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of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numerical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values</a:t>
            </a:r>
            <a:r>
              <a:rPr lang="ru-RU" dirty="0">
                <a:solidFill>
                  <a:schemeClr val="bg1"/>
                </a:solidFill>
              </a:rPr>
              <a:t>.</a:t>
            </a:r>
            <a:endParaRPr lang="ru-RU" sz="1600" dirty="0">
              <a:solidFill>
                <a:schemeClr val="bg1"/>
              </a:solidFill>
            </a:endParaRPr>
          </a:p>
          <a:p>
            <a:r>
              <a:rPr lang="ru-RU" dirty="0" err="1">
                <a:solidFill>
                  <a:schemeClr val="bg1"/>
                </a:solidFill>
              </a:rPr>
              <a:t>To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load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embedding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features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to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CatBoost</a:t>
            </a:r>
            <a:r>
              <a:rPr lang="ru-RU" dirty="0">
                <a:solidFill>
                  <a:schemeClr val="bg1"/>
                </a:solidFill>
              </a:rPr>
              <a:t>:</a:t>
            </a:r>
            <a:endParaRPr lang="ru-RU" sz="16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 err="1">
                <a:solidFill>
                  <a:schemeClr val="bg1"/>
                </a:solidFill>
              </a:rPr>
              <a:t>Specify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the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NumVector</a:t>
            </a:r>
            <a:r>
              <a:rPr lang="ru-RU" dirty="0">
                <a:solidFill>
                  <a:schemeClr val="bg1"/>
                </a:solidFill>
              </a:rPr>
              <a:t> column </a:t>
            </a:r>
            <a:r>
              <a:rPr lang="ru-RU" dirty="0" err="1">
                <a:solidFill>
                  <a:schemeClr val="bg1"/>
                </a:solidFill>
              </a:rPr>
              <a:t>type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in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the</a:t>
            </a:r>
            <a:r>
              <a:rPr lang="ru-RU" dirty="0">
                <a:solidFill>
                  <a:schemeClr val="bg1"/>
                </a:solidFill>
              </a:rPr>
              <a:t> </a:t>
            </a:r>
            <a:r>
              <a:rPr lang="ru-RU" u="sng" dirty="0">
                <a:solidFill>
                  <a:schemeClr val="bg1">
                    <a:lumMod val="75000"/>
                  </a:schemeClr>
                </a:solidFill>
              </a:rPr>
              <a:t>column descriptions</a:t>
            </a:r>
            <a:r>
              <a:rPr lang="ru-RU" dirty="0">
                <a:solidFill>
                  <a:schemeClr val="bg1"/>
                </a:solidFill>
              </a:rPr>
              <a:t> </a:t>
            </a:r>
            <a:r>
              <a:rPr lang="ru-RU" dirty="0" err="1">
                <a:solidFill>
                  <a:schemeClr val="bg1"/>
                </a:solidFill>
              </a:rPr>
              <a:t>file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if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the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dataset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is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loaded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from</a:t>
            </a:r>
            <a:r>
              <a:rPr lang="ru-RU" dirty="0">
                <a:solidFill>
                  <a:schemeClr val="bg1"/>
                </a:solidFill>
              </a:rPr>
              <a:t> a </a:t>
            </a:r>
            <a:r>
              <a:rPr lang="ru-RU" dirty="0" err="1">
                <a:solidFill>
                  <a:schemeClr val="bg1"/>
                </a:solidFill>
              </a:rPr>
              <a:t>file</a:t>
            </a:r>
            <a:r>
              <a:rPr lang="ru-RU" dirty="0">
                <a:solidFill>
                  <a:schemeClr val="bg1"/>
                </a:solidFill>
              </a:rPr>
              <a:t>.</a:t>
            </a:r>
            <a:endParaRPr lang="ru-RU" sz="16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 err="1">
                <a:solidFill>
                  <a:schemeClr val="bg1"/>
                </a:solidFill>
              </a:rPr>
              <a:t>Use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the</a:t>
            </a:r>
            <a:r>
              <a:rPr lang="ru-RU" dirty="0">
                <a:solidFill>
                  <a:schemeClr val="bg1"/>
                </a:solidFill>
              </a:rPr>
              <a:t> </a:t>
            </a:r>
            <a:r>
              <a:rPr lang="ru-RU" sz="1200" dirty="0" err="1">
                <a:solidFill>
                  <a:schemeClr val="bg1"/>
                </a:solidFill>
              </a:rPr>
              <a:t>embedding_features</a:t>
            </a:r>
            <a:r>
              <a:rPr lang="ru-RU" dirty="0">
                <a:solidFill>
                  <a:schemeClr val="bg1"/>
                </a:solidFill>
              </a:rPr>
              <a:t> </a:t>
            </a:r>
            <a:r>
              <a:rPr lang="ru-RU" dirty="0" err="1">
                <a:solidFill>
                  <a:schemeClr val="bg1"/>
                </a:solidFill>
              </a:rPr>
              <a:t>parameter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in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the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Python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package</a:t>
            </a:r>
            <a:r>
              <a:rPr lang="ru-RU" dirty="0" smtClean="0">
                <a:solidFill>
                  <a:schemeClr val="bg1"/>
                </a:solidFill>
              </a:rPr>
              <a:t>.</a:t>
            </a:r>
            <a:endParaRPr lang="en-US" dirty="0" smtClean="0">
              <a:solidFill>
                <a:schemeClr val="bg1"/>
              </a:solidFill>
            </a:endParaRPr>
          </a:p>
          <a:p>
            <a:pPr lvl="1"/>
            <a:endParaRPr lang="ru-RU" sz="1600" dirty="0">
              <a:solidFill>
                <a:schemeClr val="bg1"/>
              </a:solidFill>
            </a:endParaRPr>
          </a:p>
          <a:p>
            <a:pPr lvl="0"/>
            <a:r>
              <a:rPr lang="en-US" b="1" dirty="0" smtClean="0">
                <a:solidFill>
                  <a:schemeClr val="bg1"/>
                </a:solidFill>
              </a:rPr>
              <a:t>2. </a:t>
            </a:r>
            <a:r>
              <a:rPr lang="ru-RU" b="1" dirty="0" err="1" smtClean="0">
                <a:solidFill>
                  <a:schemeClr val="bg1"/>
                </a:solidFill>
              </a:rPr>
              <a:t>Estimating</a:t>
            </a:r>
            <a:r>
              <a:rPr lang="ru-RU" b="1" dirty="0" smtClean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numerical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features</a:t>
            </a:r>
            <a:endParaRPr lang="ru-RU" sz="1600" dirty="0">
              <a:solidFill>
                <a:schemeClr val="bg1"/>
              </a:solidFill>
            </a:endParaRPr>
          </a:p>
          <a:p>
            <a:r>
              <a:rPr lang="ru-RU" dirty="0" err="1">
                <a:solidFill>
                  <a:schemeClr val="bg1"/>
                </a:solidFill>
              </a:rPr>
              <a:t>Each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embedding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is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transformed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to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the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one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or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multiple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numeric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features</a:t>
            </a:r>
            <a:r>
              <a:rPr lang="ru-RU" dirty="0">
                <a:solidFill>
                  <a:schemeClr val="bg1"/>
                </a:solidFill>
              </a:rPr>
              <a:t>.</a:t>
            </a:r>
            <a:endParaRPr lang="ru-RU" sz="1600" dirty="0">
              <a:solidFill>
                <a:schemeClr val="bg1"/>
              </a:solidFill>
            </a:endParaRPr>
          </a:p>
          <a:p>
            <a:r>
              <a:rPr lang="ru-RU" dirty="0" err="1">
                <a:solidFill>
                  <a:schemeClr val="bg1"/>
                </a:solidFill>
              </a:rPr>
              <a:t>Supported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methods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for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calculating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numerical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features</a:t>
            </a:r>
            <a:r>
              <a:rPr lang="ru-RU" dirty="0">
                <a:solidFill>
                  <a:schemeClr val="bg1"/>
                </a:solidFill>
              </a:rPr>
              <a:t>:</a:t>
            </a:r>
            <a:endParaRPr lang="ru-RU" sz="1600" dirty="0">
              <a:solidFill>
                <a:schemeClr val="bg1"/>
              </a:solidFill>
            </a:endParaRPr>
          </a:p>
          <a:p>
            <a:pPr lvl="1"/>
            <a:r>
              <a:rPr lang="ru-RU" u="sng" dirty="0">
                <a:solidFill>
                  <a:schemeClr val="bg1"/>
                </a:solidFill>
              </a:rPr>
              <a:t>Linear discriminant analysis</a:t>
            </a:r>
            <a:endParaRPr lang="ru-RU" sz="1600" dirty="0">
              <a:solidFill>
                <a:schemeClr val="bg1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ru-RU" dirty="0" err="1">
                <a:solidFill>
                  <a:schemeClr val="bg1"/>
                </a:solidFill>
              </a:rPr>
              <a:t>For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classification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the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features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will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be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calculated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as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Gaussian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likelihood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values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for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each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class</a:t>
            </a:r>
            <a:r>
              <a:rPr lang="ru-RU" dirty="0">
                <a:solidFill>
                  <a:schemeClr val="bg1"/>
                </a:solidFill>
              </a:rPr>
              <a:t>.</a:t>
            </a:r>
            <a:endParaRPr lang="ru-RU" sz="1600" dirty="0">
              <a:solidFill>
                <a:schemeClr val="bg1"/>
              </a:solidFill>
            </a:endParaRPr>
          </a:p>
          <a:p>
            <a:pPr lvl="1"/>
            <a:r>
              <a:rPr lang="ru-RU" u="sng" dirty="0">
                <a:solidFill>
                  <a:schemeClr val="bg1"/>
                </a:solidFill>
              </a:rPr>
              <a:t>K Nearest Neighbors</a:t>
            </a:r>
            <a:r>
              <a:rPr lang="ru-RU" dirty="0">
                <a:solidFill>
                  <a:schemeClr val="bg1"/>
                </a:solidFill>
              </a:rPr>
              <a:t>.</a:t>
            </a:r>
            <a:endParaRPr lang="ru-RU" sz="1600" dirty="0">
              <a:solidFill>
                <a:schemeClr val="bg1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ru-RU" dirty="0" err="1">
                <a:solidFill>
                  <a:schemeClr val="bg1"/>
                </a:solidFill>
              </a:rPr>
              <a:t>For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classification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the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features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will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be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counts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of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target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classes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among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the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found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neighbors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from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the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training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set</a:t>
            </a:r>
            <a:r>
              <a:rPr lang="ru-RU" dirty="0">
                <a:solidFill>
                  <a:schemeClr val="bg1"/>
                </a:solidFill>
              </a:rPr>
              <a:t>.</a:t>
            </a:r>
            <a:endParaRPr lang="ru-RU" sz="1600" dirty="0">
              <a:solidFill>
                <a:schemeClr val="bg1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ru-RU" dirty="0" err="1">
                <a:solidFill>
                  <a:schemeClr val="bg1"/>
                </a:solidFill>
              </a:rPr>
              <a:t>For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regression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the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single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feature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will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be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the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average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target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value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among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the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found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neighbors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from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the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training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set</a:t>
            </a:r>
            <a:r>
              <a:rPr lang="ru-RU" dirty="0">
                <a:solidFill>
                  <a:schemeClr val="bg1"/>
                </a:solidFill>
              </a:rPr>
              <a:t>.</a:t>
            </a:r>
            <a:endParaRPr lang="ru-RU" sz="1600" dirty="0">
              <a:solidFill>
                <a:schemeClr val="bg1"/>
              </a:solidFill>
            </a:endParaRPr>
          </a:p>
          <a:p>
            <a:pPr lvl="0"/>
            <a:endParaRPr lang="en-US" b="1" dirty="0" smtClean="0">
              <a:solidFill>
                <a:schemeClr val="bg1"/>
              </a:solidFill>
            </a:endParaRPr>
          </a:p>
          <a:p>
            <a:pPr lvl="0"/>
            <a:r>
              <a:rPr lang="en-US" b="1" dirty="0" smtClean="0">
                <a:solidFill>
                  <a:schemeClr val="bg1"/>
                </a:solidFill>
              </a:rPr>
              <a:t>3. </a:t>
            </a:r>
            <a:r>
              <a:rPr lang="ru-RU" b="1" dirty="0" err="1" smtClean="0">
                <a:solidFill>
                  <a:schemeClr val="bg1"/>
                </a:solidFill>
              </a:rPr>
              <a:t>Training</a:t>
            </a:r>
            <a:endParaRPr lang="ru-RU" sz="1600" dirty="0">
              <a:solidFill>
                <a:schemeClr val="bg1"/>
              </a:solidFill>
            </a:endParaRPr>
          </a:p>
          <a:p>
            <a:r>
              <a:rPr lang="ru-RU" dirty="0" err="1">
                <a:solidFill>
                  <a:schemeClr val="bg1"/>
                </a:solidFill>
              </a:rPr>
              <a:t>Computed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numerical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features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are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passed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to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the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regular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CatBoost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training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algorithm</a:t>
            </a:r>
            <a:r>
              <a:rPr lang="ru-RU" dirty="0">
                <a:solidFill>
                  <a:schemeClr val="bg1"/>
                </a:solidFill>
              </a:rPr>
              <a:t>.</a:t>
            </a:r>
            <a:endParaRPr lang="ru-RU" sz="1600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338651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15780" y="6476951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35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08FBCF8B-35C7-47E7-95BF-CB2E8F65A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4855BF48-2887-4862-9EF2-7FBA0ACEC953}"/>
              </a:ext>
            </a:extLst>
          </p:cNvPr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4C443E87-AF8E-42E4-8055-EE1FBDC306B0}"/>
              </a:ext>
            </a:extLst>
          </p:cNvPr>
          <p:cNvSpPr txBox="1">
            <a:spLocks/>
          </p:cNvSpPr>
          <p:nvPr/>
        </p:nvSpPr>
        <p:spPr>
          <a:xfrm>
            <a:off x="1919536" y="-13661"/>
            <a:ext cx="7920880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Резюме</a:t>
            </a:r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CB021AE-9AA7-4E59-B2DF-934B3C25C99E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ED249B-5CE0-48DE-8EC3-09CD6541B460}"/>
              </a:ext>
            </a:extLst>
          </p:cNvPr>
          <p:cNvSpPr txBox="1"/>
          <p:nvPr/>
        </p:nvSpPr>
        <p:spPr>
          <a:xfrm>
            <a:off x="284443" y="976988"/>
            <a:ext cx="11586607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Табличные данные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6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Не такие как другие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6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Недостатки стали плюсами и наоборот (</a:t>
            </a:r>
          </a:p>
          <a:p>
            <a:r>
              <a:rPr lang="ru-RU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 нейронные сети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6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Полносвязный</a:t>
            </a:r>
            <a:r>
              <a:rPr lang="ru-RU" sz="26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слои (</a:t>
            </a:r>
            <a:r>
              <a:rPr lang="ru-RU" sz="26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ок</a:t>
            </a:r>
            <a:r>
              <a:rPr lang="ru-RU" sz="26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и </a:t>
            </a:r>
            <a:r>
              <a:rPr lang="ru-RU" sz="26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Свёрточные</a:t>
            </a:r>
            <a:r>
              <a:rPr lang="ru-RU" sz="26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слои (не </a:t>
            </a:r>
            <a:r>
              <a:rPr lang="ru-RU" sz="26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ок</a:t>
            </a:r>
            <a:r>
              <a:rPr lang="ru-RU" sz="26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6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Слои </a:t>
            </a:r>
            <a:r>
              <a:rPr lang="en-US" sz="26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Embedding (</a:t>
            </a:r>
            <a:r>
              <a:rPr lang="ru-RU" sz="26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топ за свои деньги для категорий)</a:t>
            </a:r>
          </a:p>
          <a:p>
            <a:r>
              <a:rPr lang="ru-RU" sz="2800" b="1" spc="-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 </a:t>
            </a:r>
            <a:r>
              <a:rPr lang="ru-RU" sz="2800" b="1" spc="-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табличные методы в обработке картинок / текста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6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Используем готовые модели для генерации признаков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Gensim </a:t>
            </a:r>
            <a:r>
              <a:rPr lang="en-US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ru-RU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для </a:t>
            </a:r>
            <a:r>
              <a:rPr lang="en-US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Word2Vec </a:t>
            </a:r>
            <a:r>
              <a:rPr lang="ru-RU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подобного)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6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Готовые </a:t>
            </a:r>
            <a:r>
              <a:rPr lang="ru-RU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модели </a:t>
            </a:r>
            <a:r>
              <a:rPr lang="en-US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CNN </a:t>
            </a:r>
            <a:r>
              <a:rPr lang="ru-RU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(как в </a:t>
            </a:r>
            <a:r>
              <a:rPr lang="en-US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TensorFlow</a:t>
            </a:r>
            <a:r>
              <a:rPr lang="en-US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ru-RU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так и в </a:t>
            </a:r>
            <a:r>
              <a:rPr lang="en-US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PyTorch</a:t>
            </a:r>
            <a:r>
              <a:rPr lang="en-US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Hugging Face </a:t>
            </a:r>
            <a:r>
              <a:rPr lang="ru-RU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(на выбор </a:t>
            </a:r>
            <a:r>
              <a:rPr lang="ru-RU" sz="26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много моделей</a:t>
            </a:r>
            <a:r>
              <a:rPr lang="ru-RU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явно среди этого есть что-то хорошее) </a:t>
            </a:r>
          </a:p>
        </p:txBody>
      </p:sp>
    </p:spTree>
    <p:extLst>
      <p:ext uri="{BB962C8B-B14F-4D97-AF65-F5344CB8AC3E}">
        <p14:creationId xmlns:p14="http://schemas.microsoft.com/office/powerpoint/2010/main" val="269369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36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E1A89972-363F-4391-8BC0-154EF6DC0C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E235AC55-2B6F-4178-8775-4065DE601CAD}"/>
              </a:ext>
            </a:extLst>
          </p:cNvPr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EA5AB88-D7D6-4375-9BA5-95ABB2B2FDE7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644AB9B-3C7C-4523-823F-206A4505CA70}"/>
              </a:ext>
            </a:extLst>
          </p:cNvPr>
          <p:cNvSpPr/>
          <p:nvPr/>
        </p:nvSpPr>
        <p:spPr>
          <a:xfrm>
            <a:off x="2279576" y="270810"/>
            <a:ext cx="77048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 </a:t>
            </a:r>
            <a:r>
              <a:rPr lang="ru-RU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нейронки</a:t>
            </a:r>
            <a:r>
              <a:rPr lang="ru-RU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и таблички. Антон Долганов</a:t>
            </a:r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C470DC0-6682-4BB5-9EB1-6759999838C5}"/>
              </a:ext>
            </a:extLst>
          </p:cNvPr>
          <p:cNvSpPr txBox="1">
            <a:spLocks/>
          </p:cNvSpPr>
          <p:nvPr/>
        </p:nvSpPr>
        <p:spPr>
          <a:xfrm>
            <a:off x="2063552" y="2188876"/>
            <a:ext cx="8568952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6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Вопросы, пожелания, предложения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E9C3EA-DF43-4BB2-9655-F0F605E3D789}"/>
              </a:ext>
            </a:extLst>
          </p:cNvPr>
          <p:cNvSpPr txBox="1"/>
          <p:nvPr/>
        </p:nvSpPr>
        <p:spPr>
          <a:xfrm>
            <a:off x="2567608" y="4010997"/>
            <a:ext cx="7299434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7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8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8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9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115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9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8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8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7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endParaRPr lang="ru-RU" sz="6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563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9742</TotalTime>
  <Words>1507</Words>
  <Application>Microsoft Office PowerPoint</Application>
  <PresentationFormat>Широкоэкранный</PresentationFormat>
  <Paragraphs>662</Paragraphs>
  <Slides>36</Slides>
  <Notes>35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49" baseType="lpstr">
      <vt:lpstr>-apple-system</vt:lpstr>
      <vt:lpstr>Arial</vt:lpstr>
      <vt:lpstr>Calibri</vt:lpstr>
      <vt:lpstr>Cambria Math</vt:lpstr>
      <vt:lpstr>Comic Sans MS</vt:lpstr>
      <vt:lpstr>Courier New</vt:lpstr>
      <vt:lpstr>IBM Plex Mono</vt:lpstr>
      <vt:lpstr>Montserrat</vt:lpstr>
      <vt:lpstr>Montserrat Black</vt:lpstr>
      <vt:lpstr>Times New Roman</vt:lpstr>
      <vt:lpstr>Verdana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Word Embeddings (Вложения)</vt:lpstr>
      <vt:lpstr>Презентация PowerPoint</vt:lpstr>
      <vt:lpstr>Какие вектора слов бывают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Recurrent Neural Networks</vt:lpstr>
      <vt:lpstr>Recurrent Neural Networks</vt:lpstr>
      <vt:lpstr>Презентация PowerPoint</vt:lpstr>
      <vt:lpstr>Презентация PowerPoint</vt:lpstr>
      <vt:lpstr>Не One-Hot Encoding единым</vt:lpstr>
      <vt:lpstr>Слой Embedding (Вложения)</vt:lpstr>
      <vt:lpstr>Слой Embedding</vt:lpstr>
      <vt:lpstr>Слой Embedding</vt:lpstr>
      <vt:lpstr>Презентация PowerPoint</vt:lpstr>
      <vt:lpstr>Презентация PowerPoint</vt:lpstr>
      <vt:lpstr>Презентация PowerPoint</vt:lpstr>
      <vt:lpstr>Презентация PowerPoint</vt:lpstr>
      <vt:lpstr>ELMo</vt:lpstr>
      <vt:lpstr>Презентация PowerPoint</vt:lpstr>
      <vt:lpstr>Transformer Encoder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Атоша</dc:creator>
  <cp:lastModifiedBy>Антон Юрьевич Долганов</cp:lastModifiedBy>
  <cp:revision>317</cp:revision>
  <dcterms:created xsi:type="dcterms:W3CDTF">2019-05-20T04:53:11Z</dcterms:created>
  <dcterms:modified xsi:type="dcterms:W3CDTF">2025-09-15T16:01:10Z</dcterms:modified>
</cp:coreProperties>
</file>