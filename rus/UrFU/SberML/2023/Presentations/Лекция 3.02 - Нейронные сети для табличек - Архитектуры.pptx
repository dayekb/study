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642" r:id="rId2"/>
    <p:sldId id="732" r:id="rId3"/>
    <p:sldId id="644" r:id="rId4"/>
    <p:sldId id="749" r:id="rId5"/>
    <p:sldId id="733" r:id="rId6"/>
    <p:sldId id="734" r:id="rId7"/>
    <p:sldId id="735" r:id="rId8"/>
    <p:sldId id="736" r:id="rId9"/>
    <p:sldId id="737" r:id="rId10"/>
    <p:sldId id="738" r:id="rId11"/>
    <p:sldId id="739" r:id="rId12"/>
    <p:sldId id="740" r:id="rId13"/>
    <p:sldId id="741" r:id="rId14"/>
    <p:sldId id="742" r:id="rId15"/>
    <p:sldId id="743" r:id="rId16"/>
    <p:sldId id="744" r:id="rId17"/>
    <p:sldId id="745" r:id="rId18"/>
    <p:sldId id="746" r:id="rId19"/>
    <p:sldId id="747" r:id="rId20"/>
    <p:sldId id="748" r:id="rId21"/>
    <p:sldId id="448" r:id="rId22"/>
    <p:sldId id="26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878"/>
    <a:srgbClr val="FF0000"/>
    <a:srgbClr val="E6D2D2"/>
    <a:srgbClr val="D95151"/>
    <a:srgbClr val="00FFFF"/>
    <a:srgbClr val="0000FF"/>
    <a:srgbClr val="FF00FF"/>
    <a:srgbClr val="00FF00"/>
    <a:srgbClr val="FFFF00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6510" autoAdjust="0"/>
  </p:normalViewPr>
  <p:slideViewPr>
    <p:cSldViewPr>
      <p:cViewPr varScale="1">
        <p:scale>
          <a:sx n="111" d="100"/>
          <a:sy n="111" d="100"/>
        </p:scale>
        <p:origin x="87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257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268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5164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7864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039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4356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653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0976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793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3668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2544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462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1311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0053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5543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903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7065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7390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2882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879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C46B-BE05-4BFD-B423-064840840BFA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48AA-79BF-4139-A06A-CBB83AB35ED8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4D8A0-D245-487E-91D0-4E85F7E4C938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A015B-A8C5-4989-91DF-1952A51BE74A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E829D-FE7F-4E08-8C17-836F1E75160C}" type="datetime1">
              <a:rPr lang="ru-RU" smtClean="0"/>
              <a:t>22.09.2025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B254-7C8B-44F4-81CD-A499FFA04CF2}" type="datetime1">
              <a:rPr lang="ru-RU" smtClean="0"/>
              <a:t>22.09.2025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69827-04C1-4807-AC18-1CB4161CCF17}" type="datetime1">
              <a:rPr lang="ru-RU" smtClean="0"/>
              <a:t>22.09.2025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8002-C01E-4F6E-AEFA-57C696E61DDA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90BDF-3380-4A56-A9A6-4B3946EE38FF}" type="datetime1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8CBF-D277-4BD9-A99E-71FCF837E7D5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D099-AD14-4929-9C93-1ACCC971F1C7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8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2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1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2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9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34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F0B6-3BFF-4BEE-A94F-245D60A7DD22}" type="datetime1">
              <a:rPr lang="ru-RU" smtClean="0"/>
              <a:t>22.09.2025</a:t>
            </a:fld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072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2461-FDC2-4D86-9028-7C154E87B033}" type="datetime1">
              <a:rPr lang="ru-RU" smtClean="0"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6FB6D-7311-4EE3-8937-70ACAE5F4E44}" type="datetime1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A88F4C9D-76F1-44A5-8E0D-429814420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A859E78-5F82-4E88-96C1-6B761C77A910}"/>
              </a:ext>
            </a:extLst>
          </p:cNvPr>
          <p:cNvSpPr txBox="1">
            <a:spLocks/>
          </p:cNvSpPr>
          <p:nvPr/>
        </p:nvSpPr>
        <p:spPr>
          <a:xfrm>
            <a:off x="1" y="2149659"/>
            <a:ext cx="12113637" cy="3086672"/>
          </a:xfrm>
          <a:prstGeom prst="rect">
            <a:avLst/>
          </a:prstGeom>
        </p:spPr>
        <p:txBody>
          <a:bodyPr vert="horz" lIns="90852" tIns="45427" rIns="90852" bIns="45427" rtlCol="0" anchor="ctr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372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sz="437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4372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</a:t>
            </a:r>
            <a:r>
              <a:rPr lang="ru-RU" sz="4372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3.02</a:t>
            </a:r>
          </a:p>
          <a:p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попытаемся обсудим </a:t>
            </a:r>
            <a:r>
              <a:rPr lang="ru-RU" sz="4372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нейронки</a:t>
            </a:r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для табличных данных </a:t>
            </a:r>
          </a:p>
          <a:p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(конкретные архитектуры - статьи будем читать, ура)</a:t>
            </a:r>
            <a:endParaRPr lang="ru-RU" sz="437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B114D4F-8D97-4878-A5F6-1201613995E0}"/>
              </a:ext>
            </a:extLst>
          </p:cNvPr>
          <p:cNvSpPr txBox="1">
            <a:spLocks/>
          </p:cNvSpPr>
          <p:nvPr/>
        </p:nvSpPr>
        <p:spPr>
          <a:xfrm>
            <a:off x="3377284" y="5002994"/>
            <a:ext cx="4988988" cy="873543"/>
          </a:xfrm>
          <a:prstGeom prst="rect">
            <a:avLst/>
          </a:prstGeom>
        </p:spPr>
        <p:txBody>
          <a:bodyPr vert="horz" lIns="90852" tIns="45427" rIns="90852" bIns="45427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38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30CE8CB-C355-8D2A-5A9C-5A5ABAC59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00" y="32730"/>
            <a:ext cx="3340963" cy="2116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360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5780" y="6476951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8FBCF8B-35C7-47E7-95BF-CB2E8F65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C443E87-AF8E-42E4-8055-EE1FBDC306B0}"/>
              </a:ext>
            </a:extLst>
          </p:cNvPr>
          <p:cNvSpPr txBox="1">
            <a:spLocks/>
          </p:cNvSpPr>
          <p:nvPr/>
        </p:nvSpPr>
        <p:spPr>
          <a:xfrm>
            <a:off x="1919536" y="-13661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предыдущей серии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B021AE-9AA7-4E59-B2DF-934B3C25C99E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D249B-5CE0-48DE-8EC3-09CD6541B460}"/>
              </a:ext>
            </a:extLst>
          </p:cNvPr>
          <p:cNvSpPr txBox="1"/>
          <p:nvPr/>
        </p:nvSpPr>
        <p:spPr>
          <a:xfrm>
            <a:off x="284443" y="976988"/>
            <a:ext cx="115866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такие как другие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Недостатки стали плюсами и наоборот (</a:t>
            </a:r>
          </a:p>
          <a:p>
            <a:r>
              <a:rPr lang="ru-RU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Полносвязный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слои (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ок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и 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Свёрточные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слои (не 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ок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Слои </a:t>
            </a:r>
            <a:r>
              <a:rPr lang="en-US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(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топ за свои деньги для категорий)</a:t>
            </a:r>
          </a:p>
          <a:p>
            <a:r>
              <a:rPr lang="ru-RU" sz="2800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8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методы в обработке картинок / текста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Используем готовые модели для генерации признаков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Gensim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Word2Vec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подобного)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Готовые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модели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CNN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(как в </a:t>
            </a:r>
            <a:r>
              <a:rPr lang="en-US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TensorFlow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так и в </a:t>
            </a:r>
            <a:r>
              <a:rPr lang="en-US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Hugging Face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(на выбор 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много моделей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явно среди этого есть что-то хорошее) </a:t>
            </a:r>
          </a:p>
        </p:txBody>
      </p:sp>
    </p:spTree>
    <p:extLst>
      <p:ext uri="{BB962C8B-B14F-4D97-AF65-F5344CB8AC3E}">
        <p14:creationId xmlns:p14="http://schemas.microsoft.com/office/powerpoint/2010/main" val="50977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521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 для табличек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46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789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Спросим у великой компьютеры</a:t>
            </a:r>
            <a:endParaRPr lang="tr-TR" sz="2789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85652" y="5949280"/>
            <a:ext cx="10297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https://firiuza.medium.com/deep-neural-networks-for-tabular-data-b0495c167c8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295800" y="6562545"/>
            <a:ext cx="10900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https://sebastianraschka.com/blog/2022/deep-learning-for-tabular-data.html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85652" y="6285546"/>
            <a:ext cx="11354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https://jeande.medium.com/the-ultimate-guide-on-choosing-the-right-neural-network-architecture-for-the-right-data-e6dac305836e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523923" y="5973065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https://arxiv.org/pdf/2110.01889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1344" y="1160037"/>
            <a:ext cx="121693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provided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popular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processing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**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TabTransformer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Transformer-based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processing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categorical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MLP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prediction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**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sequential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mechanism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relevant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prediction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task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**SAINT**: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neural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sparse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mechanism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subset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relevant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prediction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task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 **FT-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Transformer-based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tokenizer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**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DANETs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deep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abstract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classification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regression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**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Hopular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modern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Hopfield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7. **GATE**: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gated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additive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tree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ensemble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classification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regression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8. **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TabPFN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**: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Transformer-based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solves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classification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designed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handle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unique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challenges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tabular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mixed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categorical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variables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high-cardinality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They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various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techniques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mechanisms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sparse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performance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interpretability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models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198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1379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нейронные сети для табличек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FT-Transformer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36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FT-Transformer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https://arxiv.org/pdf/2106.11959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860649" y="6173587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Gorishniy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Yury</a:t>
            </a:r>
            <a:r>
              <a:rPr lang="en-US" dirty="0">
                <a:solidFill>
                  <a:schemeClr val="bg1"/>
                </a:solidFill>
              </a:rPr>
              <a:t>, et al. "Revisiting deep learning models for tabular data." Advances in Neural Information Processing Systems 34 (2021): 18932-18943.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506285" y="1382709"/>
            <a:ext cx="1088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MLP (Multi-Layer Perceptron) 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506285" y="3235171"/>
            <a:ext cx="1088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ResNet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тот самый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29289" y="3927058"/>
                <a:ext cx="11022248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ResNet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Prediction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ResNetBlock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(. . .(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ResNetBlock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))))) </m:t>
                      </m:r>
                    </m:oMath>
                  </m:oMathPara>
                </a14:m>
                <a:endParaRPr lang="en-US" sz="2400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ResNetBlock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Dropout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Dropout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BatchNorm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)))))) </m:t>
                      </m:r>
                    </m:oMath>
                  </m:oMathPara>
                </a14:m>
                <a:endParaRPr lang="en-US" sz="2400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Prediction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BatchNorm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89" y="3927058"/>
                <a:ext cx="11022248" cy="1846659"/>
              </a:xfrm>
              <a:prstGeom prst="rect">
                <a:avLst/>
              </a:prstGeom>
              <a:blipFill>
                <a:blip r:embed="rId4"/>
                <a:stretch>
                  <a:fillRect b="-6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808360" y="1958508"/>
            <a:ext cx="649055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MLP(x) = Linear (</a:t>
            </a:r>
            <a:r>
              <a:rPr lang="en-US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MLPBlock</a:t>
            </a: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(. . .(</a:t>
            </a:r>
            <a:r>
              <a:rPr lang="en-US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MLPBlock</a:t>
            </a: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</a:t>
            </a:r>
            <a:r>
              <a:rPr lang="en-US" sz="2400" dirty="0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))))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algn="ctr"/>
            <a:r>
              <a:rPr lang="en-US" sz="2400" dirty="0" err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MLPBlock</a:t>
            </a:r>
            <a:r>
              <a:rPr lang="en-US" sz="2400" dirty="0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</a:t>
            </a: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= Dropout(</a:t>
            </a:r>
            <a:r>
              <a:rPr lang="en-US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(Linear(x)))</a:t>
            </a:r>
            <a:endParaRPr lang="ru-RU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02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FT-Transformer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https://arxiv.org/pdf/2106.11959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860649" y="6173587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Gorishniy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Yury</a:t>
            </a:r>
            <a:r>
              <a:rPr lang="en-US" dirty="0">
                <a:solidFill>
                  <a:schemeClr val="bg1"/>
                </a:solidFill>
              </a:rPr>
              <a:t>, et al. "Revisiting deep learning models for tabular data." Advances in Neural Information Processing Systems 34 (2021): 18932-18943.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506285" y="1382709"/>
            <a:ext cx="1088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FT-Transformer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57" y="2004302"/>
            <a:ext cx="5313187" cy="154813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685" y="1947624"/>
            <a:ext cx="6102729" cy="3221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57101" y="4139850"/>
                <a:ext cx="3998980" cy="412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𝑛𝑢𝑚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𝑛𝑢𝑚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𝑛𝑢𝑚</m:t>
                          </m:r>
                        </m:sup>
                      </m:sSubSup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𝑛𝑢𝑚</m:t>
                          </m:r>
                        </m:sup>
                      </m:sSub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01" y="4139850"/>
                <a:ext cx="3998980" cy="412421"/>
              </a:xfrm>
              <a:prstGeom prst="rect">
                <a:avLst/>
              </a:prstGeom>
              <a:blipFill>
                <a:blip r:embed="rId6"/>
                <a:stretch>
                  <a:fillRect l="-1372" b="-23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18413" y="4724521"/>
                <a:ext cx="3190617" cy="432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p>
                      </m:sSub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13" y="4724521"/>
                <a:ext cx="3190617" cy="4323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136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5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FT-Transformer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https://arxiv.org/pdf/2106.11959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860649" y="6173587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Gorishniy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Yury</a:t>
            </a:r>
            <a:r>
              <a:rPr lang="en-US" dirty="0">
                <a:solidFill>
                  <a:schemeClr val="bg1"/>
                </a:solidFill>
              </a:rPr>
              <a:t>, et al. "Revisiting deep learning models for tabular data." Advances in Neural Information Processing Systems 34 (2021): 18932-18943.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1265281"/>
            <a:ext cx="5375607" cy="252375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9349" y="2924944"/>
            <a:ext cx="6607548" cy="288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3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1379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нейронные сети для табличек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SAINT</a:t>
            </a: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5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SAINT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https://arxiv.org/pdf/2106.01342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791744" y="5889692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Somepalli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Gowthami</a:t>
            </a:r>
            <a:r>
              <a:rPr lang="en-US" dirty="0">
                <a:solidFill>
                  <a:schemeClr val="bg1"/>
                </a:solidFill>
              </a:rPr>
              <a:t>, et al. "Saint: Improved neural networks for tabular data via row attention and contrastive pre-training." </a:t>
            </a:r>
            <a:r>
              <a:rPr lang="en-US" i="1" dirty="0" err="1">
                <a:solidFill>
                  <a:schemeClr val="bg1"/>
                </a:solidFill>
              </a:rPr>
              <a:t>arXiv</a:t>
            </a:r>
            <a:r>
              <a:rPr lang="en-US" i="1" dirty="0">
                <a:solidFill>
                  <a:schemeClr val="bg1"/>
                </a:solidFill>
              </a:rPr>
              <a:t> preprint arXiv:2106.01342</a:t>
            </a:r>
            <a:r>
              <a:rPr lang="en-US" dirty="0">
                <a:solidFill>
                  <a:schemeClr val="bg1"/>
                </a:solidFill>
              </a:rPr>
              <a:t> (2021).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652" y="1016266"/>
            <a:ext cx="6264696" cy="485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6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SAINT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https://arxiv.org/pdf/2106.01342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791744" y="5889692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Somepalli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Gowthami</a:t>
            </a:r>
            <a:r>
              <a:rPr lang="en-US" dirty="0">
                <a:solidFill>
                  <a:schemeClr val="bg1"/>
                </a:solidFill>
              </a:rPr>
              <a:t>, et al. "Saint: Improved neural networks for tabular data via row attention and contrastive pre-training." </a:t>
            </a:r>
            <a:r>
              <a:rPr lang="en-US" i="1" dirty="0" err="1">
                <a:solidFill>
                  <a:schemeClr val="bg1"/>
                </a:solidFill>
              </a:rPr>
              <a:t>arXiv</a:t>
            </a:r>
            <a:r>
              <a:rPr lang="en-US" i="1" dirty="0">
                <a:solidFill>
                  <a:schemeClr val="bg1"/>
                </a:solidFill>
              </a:rPr>
              <a:t> preprint arXiv:2106.01342</a:t>
            </a:r>
            <a:r>
              <a:rPr lang="en-US" dirty="0">
                <a:solidFill>
                  <a:schemeClr val="bg1"/>
                </a:solidFill>
              </a:rPr>
              <a:t> (2021).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755812"/>
            <a:ext cx="3888432" cy="32752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663" y="1667370"/>
            <a:ext cx="6973269" cy="32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SAINT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https://arxiv.org/pdf/2106.01342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791744" y="5889692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Somepalli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Gowthami</a:t>
            </a:r>
            <a:r>
              <a:rPr lang="en-US" dirty="0">
                <a:solidFill>
                  <a:schemeClr val="bg1"/>
                </a:solidFill>
              </a:rPr>
              <a:t>, et al. "Saint: Improved neural networks for tabular data via row attention and contrastive pre-training." </a:t>
            </a:r>
            <a:r>
              <a:rPr lang="en-US" i="1" dirty="0" err="1">
                <a:solidFill>
                  <a:schemeClr val="bg1"/>
                </a:solidFill>
              </a:rPr>
              <a:t>arXiv</a:t>
            </a:r>
            <a:r>
              <a:rPr lang="en-US" i="1" dirty="0">
                <a:solidFill>
                  <a:schemeClr val="bg1"/>
                </a:solidFill>
              </a:rPr>
              <a:t> preprint arXiv:2106.01342</a:t>
            </a:r>
            <a:r>
              <a:rPr lang="en-US" dirty="0">
                <a:solidFill>
                  <a:schemeClr val="bg1"/>
                </a:solidFill>
              </a:rPr>
              <a:t> (2021).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1144028"/>
            <a:ext cx="9590806" cy="448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2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95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нейронные сети для табличек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TabTransformer</a:t>
            </a:r>
            <a:endParaRPr lang="en-US" sz="2789" b="1" spc="-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52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TabTransformer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https://arxiv.org/pdf/2012.06678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Huang, Xin, et al. "</a:t>
            </a:r>
            <a:r>
              <a:rPr lang="en-US" dirty="0" err="1">
                <a:solidFill>
                  <a:schemeClr val="bg1"/>
                </a:solidFill>
              </a:rPr>
              <a:t>Tabtransformer</a:t>
            </a:r>
            <a:r>
              <a:rPr lang="en-US" dirty="0">
                <a:solidFill>
                  <a:schemeClr val="bg1"/>
                </a:solidFill>
              </a:rPr>
              <a:t>: Tabular data modeling using contextual </a:t>
            </a:r>
            <a:r>
              <a:rPr lang="en-US" dirty="0" err="1">
                <a:solidFill>
                  <a:schemeClr val="bg1"/>
                </a:solidFill>
              </a:rPr>
              <a:t>embeddings</a:t>
            </a:r>
            <a:r>
              <a:rPr lang="en-US" dirty="0">
                <a:solidFill>
                  <a:schemeClr val="bg1"/>
                </a:solidFill>
              </a:rPr>
              <a:t>." </a:t>
            </a:r>
            <a:r>
              <a:rPr lang="en-US" i="1" dirty="0" err="1">
                <a:solidFill>
                  <a:schemeClr val="bg1"/>
                </a:solidFill>
              </a:rPr>
              <a:t>arXiv</a:t>
            </a:r>
            <a:r>
              <a:rPr lang="en-US" i="1" dirty="0">
                <a:solidFill>
                  <a:schemeClr val="bg1"/>
                </a:solidFill>
              </a:rPr>
              <a:t> preprint arXiv:2012.06678</a:t>
            </a:r>
            <a:r>
              <a:rPr lang="en-US" dirty="0">
                <a:solidFill>
                  <a:schemeClr val="bg1"/>
                </a:solidFill>
              </a:rPr>
              <a:t> (2020).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752" y="1048205"/>
            <a:ext cx="3816424" cy="48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9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TabTransformer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https://arxiv.org/pdf/2012.06678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Huang, Xin, et al. "</a:t>
            </a:r>
            <a:r>
              <a:rPr lang="en-US" dirty="0" err="1">
                <a:solidFill>
                  <a:schemeClr val="bg1"/>
                </a:solidFill>
              </a:rPr>
              <a:t>Tabtransformer</a:t>
            </a:r>
            <a:r>
              <a:rPr lang="en-US" dirty="0">
                <a:solidFill>
                  <a:schemeClr val="bg1"/>
                </a:solidFill>
              </a:rPr>
              <a:t>: Tabular data modeling using contextual </a:t>
            </a:r>
            <a:r>
              <a:rPr lang="en-US" dirty="0" err="1">
                <a:solidFill>
                  <a:schemeClr val="bg1"/>
                </a:solidFill>
              </a:rPr>
              <a:t>embeddings</a:t>
            </a:r>
            <a:r>
              <a:rPr lang="en-US" dirty="0">
                <a:solidFill>
                  <a:schemeClr val="bg1"/>
                </a:solidFill>
              </a:rPr>
              <a:t>." </a:t>
            </a:r>
            <a:r>
              <a:rPr lang="en-US" i="1" dirty="0" err="1">
                <a:solidFill>
                  <a:schemeClr val="bg1"/>
                </a:solidFill>
              </a:rPr>
              <a:t>arXiv</a:t>
            </a:r>
            <a:r>
              <a:rPr lang="en-US" i="1" dirty="0">
                <a:solidFill>
                  <a:schemeClr val="bg1"/>
                </a:solidFill>
              </a:rPr>
              <a:t> preprint arXiv:2012.06678</a:t>
            </a:r>
            <a:r>
              <a:rPr lang="en-US" dirty="0">
                <a:solidFill>
                  <a:schemeClr val="bg1"/>
                </a:solidFill>
              </a:rPr>
              <a:t> (2020).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78" y="1240498"/>
            <a:ext cx="62007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7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95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нейронные сети для табличек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endParaRPr lang="en-US" sz="2789" b="1" spc="-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3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https://arxiv.org/pdf/1908.07442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Arik, </a:t>
            </a:r>
            <a:r>
              <a:rPr lang="en-US" dirty="0" err="1">
                <a:solidFill>
                  <a:schemeClr val="bg1"/>
                </a:solidFill>
              </a:rPr>
              <a:t>Sercan</a:t>
            </a:r>
            <a:r>
              <a:rPr lang="en-US" dirty="0">
                <a:solidFill>
                  <a:schemeClr val="bg1"/>
                </a:solidFill>
              </a:rPr>
              <a:t> Ö., and Tomas </a:t>
            </a:r>
            <a:r>
              <a:rPr lang="en-US" dirty="0" err="1">
                <a:solidFill>
                  <a:schemeClr val="bg1"/>
                </a:solidFill>
              </a:rPr>
              <a:t>Pfister</a:t>
            </a:r>
            <a:r>
              <a:rPr lang="en-US" dirty="0">
                <a:solidFill>
                  <a:schemeClr val="bg1"/>
                </a:solidFill>
              </a:rPr>
              <a:t>. "</a:t>
            </a:r>
            <a:r>
              <a:rPr lang="en-US" dirty="0" err="1">
                <a:solidFill>
                  <a:schemeClr val="bg1"/>
                </a:solidFill>
              </a:rPr>
              <a:t>Tabnet</a:t>
            </a:r>
            <a:r>
              <a:rPr lang="en-US" dirty="0">
                <a:solidFill>
                  <a:schemeClr val="bg1"/>
                </a:solidFill>
              </a:rPr>
              <a:t>: Attentive interpretable tabular learning." Proceedings of the AAAI conference on artificial intelligence. Vol. 35. No. 8. 2021.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383" y="1008959"/>
            <a:ext cx="8335096" cy="492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0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https://arxiv.org/pdf/1908.07442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Arik, </a:t>
            </a:r>
            <a:r>
              <a:rPr lang="en-US" dirty="0" err="1">
                <a:solidFill>
                  <a:schemeClr val="bg1"/>
                </a:solidFill>
              </a:rPr>
              <a:t>Sercan</a:t>
            </a:r>
            <a:r>
              <a:rPr lang="en-US" dirty="0">
                <a:solidFill>
                  <a:schemeClr val="bg1"/>
                </a:solidFill>
              </a:rPr>
              <a:t> Ö., and Tomas </a:t>
            </a:r>
            <a:r>
              <a:rPr lang="en-US" dirty="0" err="1">
                <a:solidFill>
                  <a:schemeClr val="bg1"/>
                </a:solidFill>
              </a:rPr>
              <a:t>Pfister</a:t>
            </a:r>
            <a:r>
              <a:rPr lang="en-US" dirty="0">
                <a:solidFill>
                  <a:schemeClr val="bg1"/>
                </a:solidFill>
              </a:rPr>
              <a:t>. "</a:t>
            </a:r>
            <a:r>
              <a:rPr lang="en-US" dirty="0" err="1">
                <a:solidFill>
                  <a:schemeClr val="bg1"/>
                </a:solidFill>
              </a:rPr>
              <a:t>Tabnet</a:t>
            </a:r>
            <a:r>
              <a:rPr lang="en-US" dirty="0">
                <a:solidFill>
                  <a:schemeClr val="bg1"/>
                </a:solidFill>
              </a:rPr>
              <a:t>: Attentive interpretable tabular learning." Proceedings of the AAAI conference on artificial intelligence. Vol. 35. No. 8. 2021.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852" y="1126159"/>
            <a:ext cx="6384627" cy="49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6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https://arxiv.org/pdf/1908.07442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Arik, </a:t>
            </a:r>
            <a:r>
              <a:rPr lang="en-US" dirty="0" err="1">
                <a:solidFill>
                  <a:schemeClr val="bg1"/>
                </a:solidFill>
              </a:rPr>
              <a:t>Sercan</a:t>
            </a:r>
            <a:r>
              <a:rPr lang="en-US" dirty="0">
                <a:solidFill>
                  <a:schemeClr val="bg1"/>
                </a:solidFill>
              </a:rPr>
              <a:t> Ö., and Tomas </a:t>
            </a:r>
            <a:r>
              <a:rPr lang="en-US" dirty="0" err="1">
                <a:solidFill>
                  <a:schemeClr val="bg1"/>
                </a:solidFill>
              </a:rPr>
              <a:t>Pfister</a:t>
            </a:r>
            <a:r>
              <a:rPr lang="en-US" dirty="0">
                <a:solidFill>
                  <a:schemeClr val="bg1"/>
                </a:solidFill>
              </a:rPr>
              <a:t>. "</a:t>
            </a:r>
            <a:r>
              <a:rPr lang="en-US" dirty="0" err="1">
                <a:solidFill>
                  <a:schemeClr val="bg1"/>
                </a:solidFill>
              </a:rPr>
              <a:t>Tabnet</a:t>
            </a:r>
            <a:r>
              <a:rPr lang="en-US" dirty="0">
                <a:solidFill>
                  <a:schemeClr val="bg1"/>
                </a:solidFill>
              </a:rPr>
              <a:t>: Attentive interpretable tabular learning." Proceedings of the AAAI conference on artificial intelligence. Vol. 35. No. 8. 2021.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904" y="3521084"/>
            <a:ext cx="4584969" cy="162329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5" y="2987363"/>
            <a:ext cx="3675778" cy="158858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717" y="1214562"/>
            <a:ext cx="3695036" cy="13849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9776" y="1188590"/>
            <a:ext cx="3673910" cy="212131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0202" y="1114868"/>
            <a:ext cx="4164971" cy="222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7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199598" y="6450710"/>
            <a:ext cx="950262" cy="380414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385" spc="-1"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385" spc="-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647F6F-B3A1-42E7-B1EE-B6DBD25F160A}"/>
              </a:ext>
            </a:extLst>
          </p:cNvPr>
          <p:cNvSpPr/>
          <p:nvPr/>
        </p:nvSpPr>
        <p:spPr>
          <a:xfrm>
            <a:off x="1329730" y="255571"/>
            <a:ext cx="9300872" cy="519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89" b="1" spc="-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TabNet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6450586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https://arxiv.org/pdf/1908.07442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38758" y="5991550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Arik, </a:t>
            </a:r>
            <a:r>
              <a:rPr lang="en-US" dirty="0" err="1">
                <a:solidFill>
                  <a:schemeClr val="bg1"/>
                </a:solidFill>
              </a:rPr>
              <a:t>Sercan</a:t>
            </a:r>
            <a:r>
              <a:rPr lang="en-US" dirty="0">
                <a:solidFill>
                  <a:schemeClr val="bg1"/>
                </a:solidFill>
              </a:rPr>
              <a:t> Ö., and Tomas </a:t>
            </a:r>
            <a:r>
              <a:rPr lang="en-US" dirty="0" err="1">
                <a:solidFill>
                  <a:schemeClr val="bg1"/>
                </a:solidFill>
              </a:rPr>
              <a:t>Pfister</a:t>
            </a:r>
            <a:r>
              <a:rPr lang="en-US" dirty="0">
                <a:solidFill>
                  <a:schemeClr val="bg1"/>
                </a:solidFill>
              </a:rPr>
              <a:t>. "</a:t>
            </a:r>
            <a:r>
              <a:rPr lang="en-US" dirty="0" err="1">
                <a:solidFill>
                  <a:schemeClr val="bg1"/>
                </a:solidFill>
              </a:rPr>
              <a:t>Tabnet</a:t>
            </a:r>
            <a:r>
              <a:rPr lang="en-US" dirty="0">
                <a:solidFill>
                  <a:schemeClr val="bg1"/>
                </a:solidFill>
              </a:rPr>
              <a:t>: Attentive interpretable tabular learning." Proceedings of the AAAI conference on artificial intelligence. Vol. 35. No. 8. 2021.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8" y="1605740"/>
            <a:ext cx="7632810" cy="38673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00" y="1791399"/>
            <a:ext cx="4111838" cy="333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7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5780" y="6476951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8FBCF8B-35C7-47E7-95BF-CB2E8F65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C443E87-AF8E-42E4-8055-EE1FBDC306B0}"/>
              </a:ext>
            </a:extLst>
          </p:cNvPr>
          <p:cNvSpPr txBox="1">
            <a:spLocks/>
          </p:cNvSpPr>
          <p:nvPr/>
        </p:nvSpPr>
        <p:spPr>
          <a:xfrm>
            <a:off x="1919536" y="-13661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B021AE-9AA7-4E59-B2DF-934B3C25C99E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D249B-5CE0-48DE-8EC3-09CD6541B460}"/>
              </a:ext>
            </a:extLst>
          </p:cNvPr>
          <p:cNvSpPr txBox="1"/>
          <p:nvPr/>
        </p:nvSpPr>
        <p:spPr>
          <a:xfrm>
            <a:off x="284443" y="976988"/>
            <a:ext cx="115866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 для табличек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Есть много вариантов на основе </a:t>
            </a:r>
            <a:r>
              <a:rPr lang="ru-RU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трансформеров</a:t>
            </a:r>
            <a:endParaRPr lang="ru-RU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 смысл без полезных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6936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1A89972-363F-4391-8BC0-154EF6DC0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35AC55-2B6F-4178-8775-4065DE601CA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EA5AB88-D7D6-4375-9BA5-95ABB2B2FDE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644AB9B-3C7C-4523-823F-206A4505CA70}"/>
              </a:ext>
            </a:extLst>
          </p:cNvPr>
          <p:cNvSpPr/>
          <p:nvPr/>
        </p:nvSpPr>
        <p:spPr>
          <a:xfrm>
            <a:off x="2279576" y="27081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нейронки</a:t>
            </a:r>
            <a:r>
              <a:rPr lang="ru-RU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таблички - Архитектуры. Антон Долганов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C470DC0-6682-4BB5-9EB1-6759999838C5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9C3EA-DF43-4BB2-9655-F0F605E3D789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9870</TotalTime>
  <Words>922</Words>
  <Application>Microsoft Office PowerPoint</Application>
  <PresentationFormat>Широкоэкранный</PresentationFormat>
  <Paragraphs>168</Paragraphs>
  <Slides>22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Антон Юрьевич Долганов</cp:lastModifiedBy>
  <cp:revision>321</cp:revision>
  <dcterms:created xsi:type="dcterms:W3CDTF">2019-05-20T04:53:11Z</dcterms:created>
  <dcterms:modified xsi:type="dcterms:W3CDTF">2025-09-22T15:32:43Z</dcterms:modified>
</cp:coreProperties>
</file>